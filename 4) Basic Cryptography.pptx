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801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3" r:id="rId17"/>
    <p:sldId id="802" r:id="rId18"/>
    <p:sldId id="797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594" y="-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B8F71-027B-4743-A2A9-AFE3AE415D54}" type="datetimeFigureOut">
              <a:rPr lang="en-CA" smtClean="0"/>
              <a:t>2025-01-28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62091-F7C8-49F3-924C-9EE0B29E852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27396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7947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1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1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1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1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1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000" y="826262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57B6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2000" y="72052"/>
            <a:ext cx="12024360" cy="6696075"/>
          </a:xfrm>
          <a:custGeom>
            <a:avLst/>
            <a:gdLst/>
            <a:ahLst/>
            <a:cxnLst/>
            <a:rect l="l" t="t" r="r" b="b"/>
            <a:pathLst>
              <a:path w="12024360" h="6696075">
                <a:moveTo>
                  <a:pt x="0" y="6695948"/>
                </a:moveTo>
                <a:lnTo>
                  <a:pt x="12023979" y="6695948"/>
                </a:lnTo>
                <a:lnTo>
                  <a:pt x="12023979" y="0"/>
                </a:lnTo>
                <a:lnTo>
                  <a:pt x="0" y="0"/>
                </a:lnTo>
                <a:lnTo>
                  <a:pt x="0" y="6695948"/>
                </a:lnTo>
                <a:close/>
              </a:path>
            </a:pathLst>
          </a:custGeom>
          <a:ln w="508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3236" y="608838"/>
            <a:ext cx="10485526" cy="126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8172" y="1266223"/>
            <a:ext cx="10438130" cy="3596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5209" y="6463913"/>
            <a:ext cx="180340" cy="16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0D0D0D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ts val="112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rp.org/Journal/PaperInformation.aspx?PaperID=6859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3.0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ROT13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hyperlink" Target="https://creativecommons.org/licenses/by-sa/3.0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putersciencewiki.org/index.php/Hashing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pload.wikimedia.org/wikipedia/commons/c/c8/DiffieHellman.png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4.0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3.0/deed.en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://superuser.com/questions/741506/some-computer-has-tpm-is-it-in-the-motherboard" TargetMode="External"/><Relationship Id="rId4" Type="http://schemas.openxmlformats.org/officeDocument/2006/relationships/image" Target="../media/image15.jp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000" y="72052"/>
            <a:ext cx="12024360" cy="6696075"/>
          </a:xfrm>
          <a:custGeom>
            <a:avLst/>
            <a:gdLst/>
            <a:ahLst/>
            <a:cxnLst/>
            <a:rect l="l" t="t" r="r" b="b"/>
            <a:pathLst>
              <a:path w="12024360" h="6696075">
                <a:moveTo>
                  <a:pt x="0" y="6695948"/>
                </a:moveTo>
                <a:lnTo>
                  <a:pt x="12023979" y="6695948"/>
                </a:lnTo>
                <a:lnTo>
                  <a:pt x="12023979" y="0"/>
                </a:lnTo>
                <a:lnTo>
                  <a:pt x="0" y="0"/>
                </a:lnTo>
                <a:lnTo>
                  <a:pt x="0" y="6695948"/>
                </a:lnTo>
                <a:close/>
              </a:path>
            </a:pathLst>
          </a:custGeom>
          <a:ln w="50800">
            <a:solidFill>
              <a:srgbClr val="5858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576311" y="4207471"/>
            <a:ext cx="4255770" cy="296876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9685" rIns="0" bIns="0" rtlCol="0">
            <a:spAutoFit/>
          </a:bodyPr>
          <a:lstStyle/>
          <a:p>
            <a:pPr marL="2195830" algn="l">
              <a:lnSpc>
                <a:spcPct val="100000"/>
              </a:lnSpc>
            </a:pPr>
            <a:endParaRPr lang="en-CA"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9994" y="4207471"/>
            <a:ext cx="4384675" cy="2038350"/>
          </a:xfrm>
          <a:prstGeom prst="rect">
            <a:avLst/>
          </a:prstGeom>
          <a:solidFill>
            <a:srgbClr val="276E8A">
              <a:alpha val="90194"/>
            </a:srgbClr>
          </a:solidFill>
        </p:spPr>
        <p:txBody>
          <a:bodyPr vert="horz" wrap="square" lIns="0" tIns="254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90805" marR="753110">
              <a:lnSpc>
                <a:spcPct val="120000"/>
              </a:lnSpc>
            </a:pPr>
            <a:r>
              <a:rPr sz="2800" b="1" spc="-10" dirty="0">
                <a:solidFill>
                  <a:srgbClr val="FFFFFF"/>
                </a:solidFill>
                <a:latin typeface="Cambria"/>
                <a:cs typeface="Cambria"/>
              </a:rPr>
              <a:t>Network</a:t>
            </a:r>
            <a:r>
              <a:rPr sz="2800" b="1" spc="-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2800" b="1" spc="-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mbria"/>
                <a:cs typeface="Cambria"/>
              </a:rPr>
              <a:t>Security (INFO8965)</a:t>
            </a:r>
            <a:endParaRPr sz="2800" dirty="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166359" y="4233671"/>
            <a:ext cx="1985010" cy="1983739"/>
            <a:chOff x="5166359" y="4233671"/>
            <a:chExt cx="1985010" cy="1983739"/>
          </a:xfrm>
        </p:grpSpPr>
        <p:sp>
          <p:nvSpPr>
            <p:cNvPr id="6" name="object 6"/>
            <p:cNvSpPr/>
            <p:nvPr/>
          </p:nvSpPr>
          <p:spPr>
            <a:xfrm>
              <a:off x="5387403" y="4453762"/>
              <a:ext cx="1553210" cy="1553845"/>
            </a:xfrm>
            <a:custGeom>
              <a:avLst/>
              <a:gdLst/>
              <a:ahLst/>
              <a:cxnLst/>
              <a:rect l="l" t="t" r="r" b="b"/>
              <a:pathLst>
                <a:path w="1553209" h="1553845">
                  <a:moveTo>
                    <a:pt x="143002" y="1144663"/>
                  </a:moveTo>
                  <a:lnTo>
                    <a:pt x="0" y="1144663"/>
                  </a:lnTo>
                  <a:lnTo>
                    <a:pt x="0" y="1226413"/>
                  </a:lnTo>
                  <a:lnTo>
                    <a:pt x="143002" y="1226413"/>
                  </a:lnTo>
                  <a:lnTo>
                    <a:pt x="143002" y="1144663"/>
                  </a:lnTo>
                  <a:close/>
                </a:path>
                <a:path w="1553209" h="1553845">
                  <a:moveTo>
                    <a:pt x="143002" y="981138"/>
                  </a:moveTo>
                  <a:lnTo>
                    <a:pt x="0" y="981138"/>
                  </a:lnTo>
                  <a:lnTo>
                    <a:pt x="0" y="1062901"/>
                  </a:lnTo>
                  <a:lnTo>
                    <a:pt x="143002" y="1062901"/>
                  </a:lnTo>
                  <a:lnTo>
                    <a:pt x="143002" y="981138"/>
                  </a:lnTo>
                  <a:close/>
                </a:path>
                <a:path w="1553209" h="1553845">
                  <a:moveTo>
                    <a:pt x="143002" y="817613"/>
                  </a:moveTo>
                  <a:lnTo>
                    <a:pt x="0" y="817613"/>
                  </a:lnTo>
                  <a:lnTo>
                    <a:pt x="0" y="899375"/>
                  </a:lnTo>
                  <a:lnTo>
                    <a:pt x="143002" y="899375"/>
                  </a:lnTo>
                  <a:lnTo>
                    <a:pt x="143002" y="817613"/>
                  </a:lnTo>
                  <a:close/>
                </a:path>
                <a:path w="1553209" h="1553845">
                  <a:moveTo>
                    <a:pt x="143002" y="654088"/>
                  </a:moveTo>
                  <a:lnTo>
                    <a:pt x="0" y="654088"/>
                  </a:lnTo>
                  <a:lnTo>
                    <a:pt x="0" y="735850"/>
                  </a:lnTo>
                  <a:lnTo>
                    <a:pt x="143002" y="735850"/>
                  </a:lnTo>
                  <a:lnTo>
                    <a:pt x="143002" y="654088"/>
                  </a:lnTo>
                  <a:close/>
                </a:path>
                <a:path w="1553209" h="1553845">
                  <a:moveTo>
                    <a:pt x="143002" y="490562"/>
                  </a:moveTo>
                  <a:lnTo>
                    <a:pt x="0" y="490562"/>
                  </a:lnTo>
                  <a:lnTo>
                    <a:pt x="0" y="572325"/>
                  </a:lnTo>
                  <a:lnTo>
                    <a:pt x="143002" y="572325"/>
                  </a:lnTo>
                  <a:lnTo>
                    <a:pt x="143002" y="490562"/>
                  </a:lnTo>
                  <a:close/>
                </a:path>
                <a:path w="1553209" h="1553845">
                  <a:moveTo>
                    <a:pt x="143002" y="327037"/>
                  </a:moveTo>
                  <a:lnTo>
                    <a:pt x="0" y="327037"/>
                  </a:lnTo>
                  <a:lnTo>
                    <a:pt x="0" y="408800"/>
                  </a:lnTo>
                  <a:lnTo>
                    <a:pt x="143002" y="408800"/>
                  </a:lnTo>
                  <a:lnTo>
                    <a:pt x="143002" y="327037"/>
                  </a:lnTo>
                  <a:close/>
                </a:path>
                <a:path w="1553209" h="1553845">
                  <a:moveTo>
                    <a:pt x="408584" y="1410385"/>
                  </a:moveTo>
                  <a:lnTo>
                    <a:pt x="326859" y="1410385"/>
                  </a:lnTo>
                  <a:lnTo>
                    <a:pt x="326859" y="1553464"/>
                  </a:lnTo>
                  <a:lnTo>
                    <a:pt x="408584" y="1553464"/>
                  </a:lnTo>
                  <a:lnTo>
                    <a:pt x="408584" y="1410385"/>
                  </a:lnTo>
                  <a:close/>
                </a:path>
                <a:path w="1553209" h="1553845">
                  <a:moveTo>
                    <a:pt x="408584" y="0"/>
                  </a:moveTo>
                  <a:lnTo>
                    <a:pt x="326859" y="0"/>
                  </a:lnTo>
                  <a:lnTo>
                    <a:pt x="326859" y="143078"/>
                  </a:lnTo>
                  <a:lnTo>
                    <a:pt x="408584" y="143078"/>
                  </a:lnTo>
                  <a:lnTo>
                    <a:pt x="408584" y="0"/>
                  </a:lnTo>
                  <a:close/>
                </a:path>
                <a:path w="1553209" h="1553845">
                  <a:moveTo>
                    <a:pt x="572020" y="1410385"/>
                  </a:moveTo>
                  <a:lnTo>
                    <a:pt x="490296" y="1410385"/>
                  </a:lnTo>
                  <a:lnTo>
                    <a:pt x="490296" y="1553464"/>
                  </a:lnTo>
                  <a:lnTo>
                    <a:pt x="572020" y="1553464"/>
                  </a:lnTo>
                  <a:lnTo>
                    <a:pt x="572020" y="1410385"/>
                  </a:lnTo>
                  <a:close/>
                </a:path>
                <a:path w="1553209" h="1553845">
                  <a:moveTo>
                    <a:pt x="572020" y="0"/>
                  </a:moveTo>
                  <a:lnTo>
                    <a:pt x="490296" y="0"/>
                  </a:lnTo>
                  <a:lnTo>
                    <a:pt x="490296" y="143078"/>
                  </a:lnTo>
                  <a:lnTo>
                    <a:pt x="572020" y="143078"/>
                  </a:lnTo>
                  <a:lnTo>
                    <a:pt x="572020" y="0"/>
                  </a:lnTo>
                  <a:close/>
                </a:path>
                <a:path w="1553209" h="1553845">
                  <a:moveTo>
                    <a:pt x="735444" y="1410385"/>
                  </a:moveTo>
                  <a:lnTo>
                    <a:pt x="653732" y="1410385"/>
                  </a:lnTo>
                  <a:lnTo>
                    <a:pt x="653732" y="1553464"/>
                  </a:lnTo>
                  <a:lnTo>
                    <a:pt x="735444" y="1553464"/>
                  </a:lnTo>
                  <a:lnTo>
                    <a:pt x="735444" y="1410385"/>
                  </a:lnTo>
                  <a:close/>
                </a:path>
                <a:path w="1553209" h="1553845">
                  <a:moveTo>
                    <a:pt x="735444" y="0"/>
                  </a:moveTo>
                  <a:lnTo>
                    <a:pt x="653732" y="0"/>
                  </a:lnTo>
                  <a:lnTo>
                    <a:pt x="653732" y="143078"/>
                  </a:lnTo>
                  <a:lnTo>
                    <a:pt x="735444" y="143078"/>
                  </a:lnTo>
                  <a:lnTo>
                    <a:pt x="735444" y="0"/>
                  </a:lnTo>
                  <a:close/>
                </a:path>
                <a:path w="1553209" h="1553845">
                  <a:moveTo>
                    <a:pt x="898880" y="1410385"/>
                  </a:moveTo>
                  <a:lnTo>
                    <a:pt x="817168" y="1410385"/>
                  </a:lnTo>
                  <a:lnTo>
                    <a:pt x="817168" y="1553464"/>
                  </a:lnTo>
                  <a:lnTo>
                    <a:pt x="898880" y="1553464"/>
                  </a:lnTo>
                  <a:lnTo>
                    <a:pt x="898880" y="1410385"/>
                  </a:lnTo>
                  <a:close/>
                </a:path>
                <a:path w="1553209" h="1553845">
                  <a:moveTo>
                    <a:pt x="898880" y="0"/>
                  </a:moveTo>
                  <a:lnTo>
                    <a:pt x="817168" y="0"/>
                  </a:lnTo>
                  <a:lnTo>
                    <a:pt x="817168" y="143078"/>
                  </a:lnTo>
                  <a:lnTo>
                    <a:pt x="898880" y="143078"/>
                  </a:lnTo>
                  <a:lnTo>
                    <a:pt x="898880" y="0"/>
                  </a:lnTo>
                  <a:close/>
                </a:path>
                <a:path w="1553209" h="1553845">
                  <a:moveTo>
                    <a:pt x="1041882" y="511009"/>
                  </a:moveTo>
                  <a:lnTo>
                    <a:pt x="510730" y="511009"/>
                  </a:lnTo>
                  <a:lnTo>
                    <a:pt x="510730" y="1042454"/>
                  </a:lnTo>
                  <a:lnTo>
                    <a:pt x="1041882" y="1042454"/>
                  </a:lnTo>
                  <a:lnTo>
                    <a:pt x="1041882" y="511009"/>
                  </a:lnTo>
                  <a:close/>
                </a:path>
                <a:path w="1553209" h="1553845">
                  <a:moveTo>
                    <a:pt x="1062316" y="1410385"/>
                  </a:moveTo>
                  <a:lnTo>
                    <a:pt x="980605" y="1410385"/>
                  </a:lnTo>
                  <a:lnTo>
                    <a:pt x="980605" y="1553464"/>
                  </a:lnTo>
                  <a:lnTo>
                    <a:pt x="1062316" y="1553464"/>
                  </a:lnTo>
                  <a:lnTo>
                    <a:pt x="1062316" y="1410385"/>
                  </a:lnTo>
                  <a:close/>
                </a:path>
                <a:path w="1553209" h="1553845">
                  <a:moveTo>
                    <a:pt x="1062316" y="0"/>
                  </a:moveTo>
                  <a:lnTo>
                    <a:pt x="980605" y="0"/>
                  </a:lnTo>
                  <a:lnTo>
                    <a:pt x="980605" y="143078"/>
                  </a:lnTo>
                  <a:lnTo>
                    <a:pt x="1062316" y="143078"/>
                  </a:lnTo>
                  <a:lnTo>
                    <a:pt x="1062316" y="0"/>
                  </a:lnTo>
                  <a:close/>
                </a:path>
                <a:path w="1553209" h="1553845">
                  <a:moveTo>
                    <a:pt x="1225753" y="1410385"/>
                  </a:moveTo>
                  <a:lnTo>
                    <a:pt x="1144028" y="1410385"/>
                  </a:lnTo>
                  <a:lnTo>
                    <a:pt x="1144028" y="1553464"/>
                  </a:lnTo>
                  <a:lnTo>
                    <a:pt x="1225753" y="1553464"/>
                  </a:lnTo>
                  <a:lnTo>
                    <a:pt x="1225753" y="1410385"/>
                  </a:lnTo>
                  <a:close/>
                </a:path>
                <a:path w="1553209" h="1553845">
                  <a:moveTo>
                    <a:pt x="1225753" y="0"/>
                  </a:moveTo>
                  <a:lnTo>
                    <a:pt x="1144028" y="0"/>
                  </a:lnTo>
                  <a:lnTo>
                    <a:pt x="1144028" y="143078"/>
                  </a:lnTo>
                  <a:lnTo>
                    <a:pt x="1225753" y="143078"/>
                  </a:lnTo>
                  <a:lnTo>
                    <a:pt x="1225753" y="0"/>
                  </a:lnTo>
                  <a:close/>
                </a:path>
                <a:path w="1553209" h="1553845">
                  <a:moveTo>
                    <a:pt x="1327899" y="306603"/>
                  </a:moveTo>
                  <a:lnTo>
                    <a:pt x="1321473" y="274777"/>
                  </a:lnTo>
                  <a:lnTo>
                    <a:pt x="1303959" y="248780"/>
                  </a:lnTo>
                  <a:lnTo>
                    <a:pt x="1277988" y="231267"/>
                  </a:lnTo>
                  <a:lnTo>
                    <a:pt x="1246174" y="224840"/>
                  </a:lnTo>
                  <a:lnTo>
                    <a:pt x="1123607" y="224840"/>
                  </a:lnTo>
                  <a:lnTo>
                    <a:pt x="1123607" y="429247"/>
                  </a:lnTo>
                  <a:lnTo>
                    <a:pt x="1123607" y="1124216"/>
                  </a:lnTo>
                  <a:lnTo>
                    <a:pt x="429006" y="1124216"/>
                  </a:lnTo>
                  <a:lnTo>
                    <a:pt x="429006" y="429247"/>
                  </a:lnTo>
                  <a:lnTo>
                    <a:pt x="1123607" y="429247"/>
                  </a:lnTo>
                  <a:lnTo>
                    <a:pt x="1123607" y="224840"/>
                  </a:lnTo>
                  <a:lnTo>
                    <a:pt x="306438" y="224840"/>
                  </a:lnTo>
                  <a:lnTo>
                    <a:pt x="274624" y="231267"/>
                  </a:lnTo>
                  <a:lnTo>
                    <a:pt x="248653" y="248780"/>
                  </a:lnTo>
                  <a:lnTo>
                    <a:pt x="231140" y="274777"/>
                  </a:lnTo>
                  <a:lnTo>
                    <a:pt x="224713" y="306603"/>
                  </a:lnTo>
                  <a:lnTo>
                    <a:pt x="224713" y="1246860"/>
                  </a:lnTo>
                  <a:lnTo>
                    <a:pt x="231140" y="1278686"/>
                  </a:lnTo>
                  <a:lnTo>
                    <a:pt x="248653" y="1304671"/>
                  </a:lnTo>
                  <a:lnTo>
                    <a:pt x="274624" y="1322197"/>
                  </a:lnTo>
                  <a:lnTo>
                    <a:pt x="306438" y="1328623"/>
                  </a:lnTo>
                  <a:lnTo>
                    <a:pt x="1246174" y="1328623"/>
                  </a:lnTo>
                  <a:lnTo>
                    <a:pt x="1277988" y="1322197"/>
                  </a:lnTo>
                  <a:lnTo>
                    <a:pt x="1303959" y="1304671"/>
                  </a:lnTo>
                  <a:lnTo>
                    <a:pt x="1321473" y="1278686"/>
                  </a:lnTo>
                  <a:lnTo>
                    <a:pt x="1327899" y="1246860"/>
                  </a:lnTo>
                  <a:lnTo>
                    <a:pt x="1327899" y="1124216"/>
                  </a:lnTo>
                  <a:lnTo>
                    <a:pt x="1327899" y="429247"/>
                  </a:lnTo>
                  <a:lnTo>
                    <a:pt x="1327899" y="306603"/>
                  </a:lnTo>
                  <a:close/>
                </a:path>
                <a:path w="1553209" h="1553845">
                  <a:moveTo>
                    <a:pt x="1552613" y="1144663"/>
                  </a:moveTo>
                  <a:lnTo>
                    <a:pt x="1409611" y="1144663"/>
                  </a:lnTo>
                  <a:lnTo>
                    <a:pt x="1409611" y="1226413"/>
                  </a:lnTo>
                  <a:lnTo>
                    <a:pt x="1552613" y="1226413"/>
                  </a:lnTo>
                  <a:lnTo>
                    <a:pt x="1552613" y="1144663"/>
                  </a:lnTo>
                  <a:close/>
                </a:path>
                <a:path w="1553209" h="1553845">
                  <a:moveTo>
                    <a:pt x="1552613" y="981138"/>
                  </a:moveTo>
                  <a:lnTo>
                    <a:pt x="1409611" y="981138"/>
                  </a:lnTo>
                  <a:lnTo>
                    <a:pt x="1409611" y="1062901"/>
                  </a:lnTo>
                  <a:lnTo>
                    <a:pt x="1552613" y="1062901"/>
                  </a:lnTo>
                  <a:lnTo>
                    <a:pt x="1552613" y="981138"/>
                  </a:lnTo>
                  <a:close/>
                </a:path>
                <a:path w="1553209" h="1553845">
                  <a:moveTo>
                    <a:pt x="1552613" y="817613"/>
                  </a:moveTo>
                  <a:lnTo>
                    <a:pt x="1409611" y="817613"/>
                  </a:lnTo>
                  <a:lnTo>
                    <a:pt x="1409611" y="899375"/>
                  </a:lnTo>
                  <a:lnTo>
                    <a:pt x="1552613" y="899375"/>
                  </a:lnTo>
                  <a:lnTo>
                    <a:pt x="1552613" y="817613"/>
                  </a:lnTo>
                  <a:close/>
                </a:path>
                <a:path w="1553209" h="1553845">
                  <a:moveTo>
                    <a:pt x="1552613" y="654088"/>
                  </a:moveTo>
                  <a:lnTo>
                    <a:pt x="1409611" y="654088"/>
                  </a:lnTo>
                  <a:lnTo>
                    <a:pt x="1409611" y="735850"/>
                  </a:lnTo>
                  <a:lnTo>
                    <a:pt x="1552613" y="735850"/>
                  </a:lnTo>
                  <a:lnTo>
                    <a:pt x="1552613" y="654088"/>
                  </a:lnTo>
                  <a:close/>
                </a:path>
                <a:path w="1553209" h="1553845">
                  <a:moveTo>
                    <a:pt x="1552613" y="490562"/>
                  </a:moveTo>
                  <a:lnTo>
                    <a:pt x="1409611" y="490562"/>
                  </a:lnTo>
                  <a:lnTo>
                    <a:pt x="1409611" y="572325"/>
                  </a:lnTo>
                  <a:lnTo>
                    <a:pt x="1552613" y="572325"/>
                  </a:lnTo>
                  <a:lnTo>
                    <a:pt x="1552613" y="490562"/>
                  </a:lnTo>
                  <a:close/>
                </a:path>
                <a:path w="1553209" h="1553845">
                  <a:moveTo>
                    <a:pt x="1552613" y="327037"/>
                  </a:moveTo>
                  <a:lnTo>
                    <a:pt x="1409611" y="327037"/>
                  </a:lnTo>
                  <a:lnTo>
                    <a:pt x="1409611" y="408800"/>
                  </a:lnTo>
                  <a:lnTo>
                    <a:pt x="1552613" y="408800"/>
                  </a:lnTo>
                  <a:lnTo>
                    <a:pt x="1552613" y="327037"/>
                  </a:lnTo>
                  <a:close/>
                </a:path>
              </a:pathLst>
            </a:custGeom>
            <a:solidFill>
              <a:srgbClr val="395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6359" y="4233671"/>
              <a:ext cx="1985010" cy="198348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16001" y="216027"/>
            <a:ext cx="11736070" cy="3234219"/>
          </a:xfrm>
          <a:prstGeom prst="rect">
            <a:avLst/>
          </a:prstGeom>
          <a:solidFill>
            <a:srgbClr val="404040"/>
          </a:solidFill>
        </p:spPr>
        <p:txBody>
          <a:bodyPr vert="horz" wrap="square" lIns="0" tIns="459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620"/>
              </a:spcBef>
            </a:pPr>
            <a:br>
              <a:rPr lang="en-CA" sz="6000" dirty="0">
                <a:solidFill>
                  <a:schemeClr val="bg1"/>
                </a:solidFill>
                <a:latin typeface="+mj-lt"/>
                <a:cs typeface="Times New Roman"/>
              </a:rPr>
            </a:br>
            <a:r>
              <a:rPr lang="en-CA" sz="6000" dirty="0">
                <a:solidFill>
                  <a:schemeClr val="bg1"/>
                </a:solidFill>
                <a:latin typeface="+mj-lt"/>
                <a:cs typeface="Times New Roman"/>
              </a:rPr>
              <a:t>Basic Cryptography</a:t>
            </a:r>
            <a:br>
              <a:rPr lang="en-CA" sz="6000" dirty="0">
                <a:solidFill>
                  <a:schemeClr val="bg1"/>
                </a:solidFill>
                <a:latin typeface="+mj-lt"/>
                <a:cs typeface="Times New Roman"/>
              </a:rPr>
            </a:br>
            <a:endParaRPr sz="6000" dirty="0">
              <a:solidFill>
                <a:schemeClr val="bg1"/>
              </a:solidFill>
              <a:latin typeface="+mj-lt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92028" y="6523635"/>
            <a:ext cx="159385" cy="17399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z="1000" spc="-50" dirty="0">
                <a:solidFill>
                  <a:srgbClr val="0D0D0D"/>
                </a:solidFill>
                <a:latin typeface="Cambria"/>
                <a:cs typeface="Cambria"/>
              </a:rPr>
              <a:t>1</a:t>
            </a:fld>
            <a:endParaRPr sz="1000">
              <a:latin typeface="Cambria"/>
              <a:cs typeface="Cambri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6B8C5-7AF4-224B-2329-C3CC50F5592F}"/>
              </a:ext>
            </a:extLst>
          </p:cNvPr>
          <p:cNvSpPr txBox="1"/>
          <p:nvPr/>
        </p:nvSpPr>
        <p:spPr>
          <a:xfrm>
            <a:off x="5867400" y="4672219"/>
            <a:ext cx="79248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5830" algn="l">
              <a:lnSpc>
                <a:spcPct val="100000"/>
              </a:lnSpc>
            </a:pPr>
            <a:r>
              <a:rPr lang="en-CA" sz="2000" b="1" dirty="0">
                <a:latin typeface="Cambria"/>
                <a:cs typeface="Cambria"/>
              </a:rPr>
              <a:t>Pawan Soobhri</a:t>
            </a:r>
          </a:p>
          <a:p>
            <a:pPr marL="2195830" algn="just">
              <a:lnSpc>
                <a:spcPct val="100000"/>
              </a:lnSpc>
            </a:pPr>
            <a:r>
              <a:rPr lang="en-CA" sz="1800" spc="-35" dirty="0">
                <a:latin typeface="Cambria"/>
                <a:cs typeface="Cambria"/>
              </a:rPr>
              <a:t>MISSM, PGDBM, BTech</a:t>
            </a:r>
          </a:p>
          <a:p>
            <a:pPr marL="2195830" algn="just">
              <a:lnSpc>
                <a:spcPct val="100000"/>
              </a:lnSpc>
            </a:pPr>
            <a:r>
              <a:rPr lang="en-CA" sz="1800" spc="-35" dirty="0">
                <a:latin typeface="Cambria"/>
                <a:cs typeface="Cambria"/>
              </a:rPr>
              <a:t>Professor</a:t>
            </a:r>
          </a:p>
          <a:p>
            <a:pPr marL="2195830" algn="just"/>
            <a:r>
              <a:rPr lang="fr-FR" sz="1800" b="1" dirty="0">
                <a:latin typeface="Cambria"/>
                <a:cs typeface="Cambria"/>
              </a:rPr>
              <a:t>Email:</a:t>
            </a:r>
            <a:r>
              <a:rPr lang="fr-FR" sz="1800" b="1" spc="-30" dirty="0">
                <a:latin typeface="Cambria"/>
                <a:cs typeface="Cambria"/>
              </a:rPr>
              <a:t> </a:t>
            </a:r>
            <a:r>
              <a:rPr lang="fr-FR" b="1" spc="-10" dirty="0" err="1">
                <a:latin typeface="Cambria"/>
                <a:cs typeface="Cambria"/>
              </a:rPr>
              <a:t>psoobhri</a:t>
            </a:r>
            <a:r>
              <a:rPr lang="fr-FR" b="1" spc="-10" dirty="0">
                <a:latin typeface="Cambria"/>
                <a:cs typeface="Cambria"/>
              </a:rPr>
              <a:t> @conestogac.on.ca</a:t>
            </a:r>
            <a:endParaRPr lang="fr-FR"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10485526" cy="1006045"/>
          </a:xfrm>
          <a:prstGeom prst="rect">
            <a:avLst/>
          </a:prstGeom>
        </p:spPr>
        <p:txBody>
          <a:bodyPr vert="horz" wrap="square" lIns="0" tIns="234315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105"/>
              </a:spcBef>
            </a:pPr>
            <a:r>
              <a:rPr spc="-150" dirty="0">
                <a:latin typeface="+mj-lt"/>
              </a:rPr>
              <a:t>REFERENCES AND ACKNOWLEDGEMENT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98989" y="6533103"/>
            <a:ext cx="466725" cy="160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25"/>
              </a:lnSpc>
            </a:pPr>
            <a:r>
              <a:rPr sz="1000" spc="-150" dirty="0">
                <a:solidFill>
                  <a:srgbClr val="0D0D0D"/>
                </a:solidFill>
                <a:latin typeface="Trebuchet MS"/>
                <a:cs typeface="Trebuchet MS"/>
              </a:rPr>
              <a:t>ALI</a:t>
            </a:r>
            <a:r>
              <a:rPr sz="1000" spc="-95" dirty="0">
                <a:solidFill>
                  <a:srgbClr val="0D0D0D"/>
                </a:solidFill>
                <a:latin typeface="Trebuchet MS"/>
                <a:cs typeface="Trebuchet MS"/>
              </a:rPr>
              <a:t> </a:t>
            </a:r>
            <a:r>
              <a:rPr sz="1000" spc="-180" dirty="0">
                <a:solidFill>
                  <a:srgbClr val="0D0D0D"/>
                </a:solidFill>
                <a:latin typeface="Trebuchet MS"/>
                <a:cs typeface="Trebuchet MS"/>
              </a:rPr>
              <a:t>HASSAN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92028" y="6533103"/>
            <a:ext cx="135255" cy="160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00" spc="-50" dirty="0">
                <a:solidFill>
                  <a:srgbClr val="0D0D0D"/>
                </a:solidFill>
                <a:latin typeface="Trebuchet MS"/>
                <a:cs typeface="Trebuchet MS"/>
              </a:rPr>
              <a:t>2</a:t>
            </a:fld>
            <a:endParaRPr sz="1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5016" y="1924329"/>
            <a:ext cx="9140190" cy="4480714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40"/>
              </a:spcBef>
            </a:pPr>
            <a:r>
              <a:rPr sz="2200" b="1" dirty="0">
                <a:latin typeface="+mj-lt"/>
                <a:cs typeface="Arial"/>
              </a:rPr>
              <a:t>References</a:t>
            </a:r>
            <a:endParaRPr sz="2200" dirty="0">
              <a:latin typeface="+mj-lt"/>
              <a:cs typeface="Arial"/>
            </a:endParaRPr>
          </a:p>
          <a:p>
            <a:pPr marL="38100">
              <a:lnSpc>
                <a:spcPts val="2510"/>
              </a:lnSpc>
              <a:spcBef>
                <a:spcPts val="1140"/>
              </a:spcBef>
            </a:pPr>
            <a:r>
              <a:rPr sz="2200" dirty="0">
                <a:latin typeface="+mj-lt"/>
                <a:cs typeface="Arial MT"/>
              </a:rPr>
              <a:t>[CIAM] “CompTIA® Security+ Guide to Network Security Fundamentals” by Mark</a:t>
            </a:r>
          </a:p>
          <a:p>
            <a:pPr marL="38100">
              <a:lnSpc>
                <a:spcPts val="2510"/>
              </a:lnSpc>
            </a:pPr>
            <a:r>
              <a:rPr sz="2200" dirty="0">
                <a:latin typeface="+mj-lt"/>
                <a:cs typeface="Arial MT"/>
              </a:rPr>
              <a:t>Ciampa, 7</a:t>
            </a:r>
            <a:r>
              <a:rPr sz="2175" baseline="24904" dirty="0">
                <a:latin typeface="+mj-lt"/>
                <a:cs typeface="Arial MT"/>
              </a:rPr>
              <a:t>th </a:t>
            </a:r>
            <a:r>
              <a:rPr sz="2200" dirty="0">
                <a:latin typeface="+mj-lt"/>
                <a:cs typeface="Arial MT"/>
              </a:rPr>
              <a:t>edition, Publisher: Cengage Learning</a:t>
            </a:r>
          </a:p>
          <a:p>
            <a:pPr marL="38100">
              <a:lnSpc>
                <a:spcPts val="2510"/>
              </a:lnSpc>
              <a:spcBef>
                <a:spcPts val="1125"/>
              </a:spcBef>
            </a:pPr>
            <a:r>
              <a:rPr sz="2200" dirty="0">
                <a:latin typeface="+mj-lt"/>
                <a:cs typeface="Arial MT"/>
              </a:rPr>
              <a:t>[STAL] “Network Security Essentials,” by William Stallings, 5</a:t>
            </a:r>
            <a:r>
              <a:rPr sz="2175" baseline="24904" dirty="0">
                <a:latin typeface="+mj-lt"/>
                <a:cs typeface="Arial MT"/>
              </a:rPr>
              <a:t>th </a:t>
            </a:r>
            <a:r>
              <a:rPr sz="2200" dirty="0">
                <a:latin typeface="+mj-lt"/>
                <a:cs typeface="Arial MT"/>
              </a:rPr>
              <a:t>edition, Publisher:</a:t>
            </a:r>
          </a:p>
          <a:p>
            <a:pPr marL="38100">
              <a:lnSpc>
                <a:spcPts val="2510"/>
              </a:lnSpc>
            </a:pPr>
            <a:r>
              <a:rPr sz="2200" dirty="0">
                <a:latin typeface="+mj-lt"/>
                <a:cs typeface="Arial MT"/>
              </a:rPr>
              <a:t>Pearson</a:t>
            </a:r>
            <a:endParaRPr lang="en-CA" sz="2200" dirty="0">
              <a:latin typeface="+mj-lt"/>
              <a:cs typeface="Arial MT"/>
            </a:endParaRPr>
          </a:p>
          <a:p>
            <a:pPr marL="38100">
              <a:lnSpc>
                <a:spcPts val="2510"/>
              </a:lnSpc>
            </a:pPr>
            <a:endParaRPr sz="2200" dirty="0">
              <a:latin typeface="+mj-l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200" b="1" dirty="0">
                <a:latin typeface="+mj-lt"/>
                <a:cs typeface="Arial"/>
              </a:rPr>
              <a:t>Acknowledgement</a:t>
            </a:r>
            <a:endParaRPr sz="2200" dirty="0">
              <a:latin typeface="+mj-lt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125"/>
              </a:spcBef>
            </a:pPr>
            <a:r>
              <a:rPr sz="2200" dirty="0">
                <a:latin typeface="+mj-lt"/>
                <a:cs typeface="Arial MT"/>
              </a:rPr>
              <a:t>Some of the material presented here is taken from:</a:t>
            </a:r>
            <a:endParaRPr lang="en-CA" sz="2200" dirty="0">
              <a:latin typeface="+mj-lt"/>
              <a:cs typeface="Arial MT"/>
            </a:endParaRPr>
          </a:p>
          <a:p>
            <a:pPr marL="381000" indent="-342900">
              <a:lnSpc>
                <a:spcPct val="100000"/>
              </a:lnSpc>
              <a:spcBef>
                <a:spcPts val="1125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+mj-lt"/>
                <a:cs typeface="Arial MT"/>
              </a:rPr>
              <a:t>The referenced textbook [CIAM] by Cengage Learning.</a:t>
            </a:r>
            <a:endParaRPr lang="en-CA" sz="2200" dirty="0">
              <a:latin typeface="+mj-lt"/>
              <a:cs typeface="Arial MT"/>
            </a:endParaRPr>
          </a:p>
          <a:p>
            <a:pPr marL="381000" indent="-342900">
              <a:lnSpc>
                <a:spcPct val="100000"/>
              </a:lnSpc>
              <a:spcBef>
                <a:spcPts val="1125"/>
              </a:spcBef>
              <a:buFont typeface="Arial" panose="020B0604020202020204" pitchFamily="34" charset="0"/>
              <a:buChar char="•"/>
            </a:pPr>
            <a:r>
              <a:rPr sz="2200" dirty="0">
                <a:latin typeface="+mj-lt"/>
                <a:cs typeface="Arial MT"/>
              </a:rPr>
              <a:t>Other references are cited individually.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10485526" cy="981422"/>
          </a:xfrm>
          <a:prstGeom prst="rect">
            <a:avLst/>
          </a:prstGeom>
        </p:spPr>
        <p:txBody>
          <a:bodyPr vert="horz" wrap="square" lIns="0" tIns="20993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LECTURE 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665209" y="6463913"/>
            <a:ext cx="1803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dirty="0">
                <a:latin typeface="+mj-lt"/>
              </a:rPr>
              <a:t>3</a:t>
            </a:fld>
            <a:endParaRPr dirty="0">
              <a:latin typeface="+mj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172" y="2255266"/>
            <a:ext cx="7106920" cy="158940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400" dirty="0">
                <a:latin typeface="+mj-lt"/>
                <a:cs typeface="Arial MT"/>
              </a:rPr>
              <a:t>Cryptography</a:t>
            </a:r>
            <a:endParaRPr sz="2400">
              <a:latin typeface="+mj-lt"/>
              <a:cs typeface="Arial MT"/>
            </a:endParaRPr>
          </a:p>
          <a:p>
            <a:pPr marL="12700" marR="5080">
              <a:lnSpc>
                <a:spcPts val="3080"/>
              </a:lnSpc>
              <a:spcBef>
                <a:spcPts val="130"/>
              </a:spcBef>
            </a:pPr>
            <a:r>
              <a:rPr sz="2400" dirty="0">
                <a:latin typeface="+mj-lt"/>
                <a:cs typeface="Arial MT"/>
              </a:rPr>
              <a:t>Hash, symmetric, and asymmetric cryptographic algorithms Different cryptographic attacks</a:t>
            </a:r>
            <a:endParaRPr sz="2400">
              <a:latin typeface="+mj-l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2400" dirty="0">
                <a:latin typeface="+mj-lt"/>
                <a:cs typeface="Arial MT"/>
              </a:rPr>
              <a:t>Uses of Cryptography</a:t>
            </a:r>
            <a:endParaRPr sz="2400">
              <a:latin typeface="+mj-l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10485526" cy="995272"/>
          </a:xfrm>
          <a:prstGeom prst="rect">
            <a:avLst/>
          </a:prstGeom>
        </p:spPr>
        <p:txBody>
          <a:bodyPr vert="horz" wrap="square" lIns="0" tIns="223647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WHAT IS CRYPTOGRAPHY?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8172" y="2092464"/>
            <a:ext cx="6599555" cy="1797928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600" b="1" dirty="0">
                <a:latin typeface="+mj-lt"/>
                <a:cs typeface="Arial"/>
              </a:rPr>
              <a:t>Cryptography</a:t>
            </a:r>
            <a:endParaRPr sz="2600" dirty="0">
              <a:latin typeface="+mj-lt"/>
              <a:cs typeface="Arial"/>
            </a:endParaRPr>
          </a:p>
          <a:p>
            <a:pPr marL="391795" marR="513715" indent="-342900">
              <a:lnSpc>
                <a:spcPts val="2380"/>
              </a:lnSpc>
              <a:spcBef>
                <a:spcPts val="459"/>
              </a:spcBef>
              <a:buFont typeface="Arial" panose="020B0604020202020204" pitchFamily="34" charset="0"/>
              <a:buChar char="•"/>
              <a:tabLst>
                <a:tab pos="263525" algn="l"/>
              </a:tabLst>
            </a:pPr>
            <a:r>
              <a:rPr sz="2200" dirty="0">
                <a:latin typeface="+mj-lt"/>
                <a:cs typeface="Arial MT"/>
              </a:rPr>
              <a:t>the study of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secure </a:t>
            </a:r>
            <a:r>
              <a:rPr sz="2200" dirty="0">
                <a:latin typeface="+mj-lt"/>
                <a:cs typeface="Arial MT"/>
              </a:rPr>
              <a:t>communications techniques, in the presence of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adversarial </a:t>
            </a:r>
            <a:r>
              <a:rPr sz="2200" dirty="0">
                <a:latin typeface="+mj-lt"/>
                <a:cs typeface="Arial MT"/>
              </a:rPr>
              <a:t>behavior</a:t>
            </a:r>
            <a:endParaRPr lang="en-CA" sz="2200" dirty="0">
              <a:latin typeface="+mj-lt"/>
              <a:cs typeface="Arial MT"/>
            </a:endParaRPr>
          </a:p>
          <a:p>
            <a:pPr marL="391795" marR="513715" indent="-342900">
              <a:lnSpc>
                <a:spcPts val="2380"/>
              </a:lnSpc>
              <a:spcBef>
                <a:spcPts val="459"/>
              </a:spcBef>
              <a:buFont typeface="Arial" panose="020B0604020202020204" pitchFamily="34" charset="0"/>
              <a:buChar char="•"/>
              <a:tabLst>
                <a:tab pos="263525" algn="l"/>
              </a:tabLst>
            </a:pP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Transform </a:t>
            </a:r>
            <a:r>
              <a:rPr sz="2200" dirty="0">
                <a:latin typeface="+mj-lt"/>
                <a:cs typeface="Arial MT"/>
              </a:rPr>
              <a:t>information into form that unintended recipients cannot understand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8172" y="4012438"/>
            <a:ext cx="21101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dirty="0">
                <a:latin typeface="+mj-lt"/>
                <a:cs typeface="Arial"/>
              </a:rPr>
              <a:t>Steganography</a:t>
            </a:r>
            <a:endParaRPr sz="2600" dirty="0">
              <a:latin typeface="+mj-lt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0973" y="4575175"/>
            <a:ext cx="9826625" cy="2012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2225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</a:tabLst>
            </a:pPr>
            <a:r>
              <a:rPr lang="en-US" sz="2200" dirty="0">
                <a:latin typeface="+mj-lt"/>
                <a:cs typeface="Arial MT"/>
              </a:rPr>
              <a:t>Practice of 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Arial MT"/>
              </a:rPr>
              <a:t>hiding a secret message </a:t>
            </a:r>
            <a:r>
              <a:rPr lang="en-US" sz="2200" dirty="0">
                <a:latin typeface="+mj-lt"/>
                <a:cs typeface="Arial MT"/>
              </a:rPr>
              <a:t>inside something (e.g., an image file) that is not secret</a:t>
            </a: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lang="en-US" sz="2200" dirty="0">
                <a:latin typeface="+mj-lt"/>
                <a:cs typeface="Arial MT"/>
              </a:rPr>
              <a:t>Achieved by 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Arial MT"/>
              </a:rPr>
              <a:t>dividing data and hiding </a:t>
            </a:r>
            <a:r>
              <a:rPr lang="en-US" sz="2200" dirty="0">
                <a:latin typeface="+mj-lt"/>
                <a:cs typeface="Arial MT"/>
              </a:rPr>
              <a:t>in unused portions of the file</a:t>
            </a: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lang="en-US" sz="2200" dirty="0">
                <a:latin typeface="+mj-lt"/>
                <a:cs typeface="Arial MT"/>
              </a:rPr>
              <a:t>May hide data in the 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Arial MT"/>
              </a:rPr>
              <a:t>file header </a:t>
            </a:r>
            <a:r>
              <a:rPr lang="en-US" sz="2200" dirty="0">
                <a:latin typeface="+mj-lt"/>
                <a:cs typeface="Arial MT"/>
              </a:rPr>
              <a:t>fields that describe the file, between sections of the 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Arial MT"/>
              </a:rPr>
              <a:t>metadata </a:t>
            </a:r>
            <a:r>
              <a:rPr lang="en-US" sz="2200" dirty="0">
                <a:latin typeface="+mj-lt"/>
                <a:cs typeface="Arial MT"/>
              </a:rPr>
              <a:t>(data used to describe the content or structure of the actual data)</a:t>
            </a:r>
          </a:p>
          <a:p>
            <a:pPr lvl="1" algn="l" fontAlgn="base">
              <a:spcAft>
                <a:spcPts val="600"/>
              </a:spcAft>
            </a:pPr>
            <a:r>
              <a:rPr lang="en-CA" sz="2000" dirty="0">
                <a:latin typeface="+mj-lt"/>
              </a:rPr>
              <a:t>Text steganography, Image steganography, Video steganography, Audio steganography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9088" y="1397761"/>
            <a:ext cx="4273454" cy="264350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99093" y="4123182"/>
            <a:ext cx="249682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  <a:hlinkClick r:id="rId3"/>
              </a:rPr>
              <a:t>This Photo</a:t>
            </a:r>
            <a:r>
              <a:rPr sz="900" dirty="0">
                <a:solidFill>
                  <a:srgbClr val="6B9F24"/>
                </a:solidFill>
                <a:latin typeface="+mj-lt"/>
                <a:cs typeface="Arial MT"/>
              </a:rPr>
              <a:t> </a:t>
            </a:r>
            <a:r>
              <a:rPr sz="900" dirty="0">
                <a:latin typeface="+mj-lt"/>
                <a:cs typeface="Arial MT"/>
              </a:rPr>
              <a:t>by Unknown Author is licensed under </a:t>
            </a:r>
            <a:r>
              <a:rPr sz="9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  <a:hlinkClick r:id="rId4"/>
              </a:rPr>
              <a:t>CC BY</a:t>
            </a:r>
            <a:endParaRPr sz="900">
              <a:latin typeface="+mj-l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665209" y="6463913"/>
            <a:ext cx="1803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dirty="0">
                <a:latin typeface="+mj-lt"/>
              </a:rPr>
              <a:t>4</a:t>
            </a:fld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10485526" cy="1040797"/>
          </a:xfrm>
          <a:prstGeom prst="rect">
            <a:avLst/>
          </a:prstGeom>
        </p:spPr>
        <p:txBody>
          <a:bodyPr vert="horz" wrap="square" lIns="0" tIns="268731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WHAT IS CRYPTOGRAPHY?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18444" y="4576736"/>
            <a:ext cx="3555365" cy="1787525"/>
            <a:chOff x="4318444" y="4576736"/>
            <a:chExt cx="3555365" cy="17875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8033" y="4586261"/>
              <a:ext cx="3535934" cy="17679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23207" y="4581499"/>
              <a:ext cx="3545840" cy="1778000"/>
            </a:xfrm>
            <a:custGeom>
              <a:avLst/>
              <a:gdLst/>
              <a:ahLst/>
              <a:cxnLst/>
              <a:rect l="l" t="t" r="r" b="b"/>
              <a:pathLst>
                <a:path w="3545840" h="1778000">
                  <a:moveTo>
                    <a:pt x="0" y="1777492"/>
                  </a:moveTo>
                  <a:lnTo>
                    <a:pt x="3545459" y="1777492"/>
                  </a:lnTo>
                  <a:lnTo>
                    <a:pt x="3545459" y="0"/>
                  </a:lnTo>
                  <a:lnTo>
                    <a:pt x="0" y="0"/>
                  </a:lnTo>
                  <a:lnTo>
                    <a:pt x="0" y="177749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16939" y="2165095"/>
            <a:ext cx="10183495" cy="20281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ts val="2510"/>
              </a:lnSpc>
              <a:spcBef>
                <a:spcPts val="95"/>
              </a:spcBef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Encryption</a:t>
            </a:r>
            <a:r>
              <a:rPr sz="2200" dirty="0">
                <a:latin typeface="+mj-lt"/>
                <a:cs typeface="Arial MT"/>
              </a:rPr>
              <a:t>: process that converts plaintext into an unreadable secret message (ciphertext)</a:t>
            </a:r>
            <a:r>
              <a:rPr lang="en-CA" sz="2200" dirty="0">
                <a:latin typeface="+mj-lt"/>
                <a:cs typeface="Arial MT"/>
              </a:rPr>
              <a:t> </a:t>
            </a:r>
            <a:r>
              <a:rPr sz="2200" dirty="0">
                <a:latin typeface="+mj-lt"/>
                <a:cs typeface="Arial MT"/>
              </a:rPr>
              <a:t>using cryptography.</a:t>
            </a: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Char char="•"/>
              <a:tabLst>
                <a:tab pos="241300" algn="l"/>
              </a:tabLst>
            </a:pP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Decryption</a:t>
            </a:r>
            <a:r>
              <a:rPr sz="2200" dirty="0">
                <a:latin typeface="+mj-lt"/>
                <a:cs typeface="Arial MT"/>
              </a:rPr>
              <a:t>: Reverses the process, turning ciphertext back into plaintext.</a:t>
            </a:r>
          </a:p>
          <a:p>
            <a:pPr marL="698500" lvl="1" indent="-228600">
              <a:lnSpc>
                <a:spcPct val="100000"/>
              </a:lnSpc>
              <a:spcBef>
                <a:spcPts val="315"/>
              </a:spcBef>
              <a:buChar char="•"/>
              <a:tabLst>
                <a:tab pos="698500" algn="l"/>
              </a:tabLst>
            </a:pP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Plaintext</a:t>
            </a:r>
            <a:r>
              <a:rPr sz="1800" dirty="0">
                <a:latin typeface="+mj-lt"/>
                <a:cs typeface="Arial MT"/>
              </a:rPr>
              <a:t>: Original data to be encrypted.</a:t>
            </a:r>
            <a:endParaRPr lang="en-CA" sz="1800" dirty="0">
              <a:latin typeface="+mj-lt"/>
              <a:cs typeface="Arial MT"/>
            </a:endParaRPr>
          </a:p>
          <a:p>
            <a:pPr marL="698500" lvl="1" indent="-228600">
              <a:spcBef>
                <a:spcPts val="315"/>
              </a:spcBef>
              <a:buFontTx/>
              <a:buChar char="•"/>
              <a:tabLst>
                <a:tab pos="698500" algn="l"/>
              </a:tabLst>
            </a:pPr>
            <a:r>
              <a:rPr lang="en-US" sz="1800" dirty="0">
                <a:solidFill>
                  <a:srgbClr val="0000FF"/>
                </a:solidFill>
                <a:latin typeface="+mj-lt"/>
                <a:cs typeface="Arial MT"/>
              </a:rPr>
              <a:t>Cipher</a:t>
            </a:r>
            <a:r>
              <a:rPr lang="en-US" sz="1800" dirty="0">
                <a:latin typeface="+mj-lt"/>
                <a:cs typeface="Arial MT"/>
              </a:rPr>
              <a:t>: Cryptographic algorithm used for encryption and decryption.</a:t>
            </a:r>
            <a:endParaRPr sz="1800" dirty="0">
              <a:latin typeface="+mj-lt"/>
              <a:cs typeface="Arial MT"/>
            </a:endParaRPr>
          </a:p>
          <a:p>
            <a:pPr marL="698500" lvl="1" indent="-228600">
              <a:lnSpc>
                <a:spcPct val="100000"/>
              </a:lnSpc>
              <a:spcBef>
                <a:spcPts val="275"/>
              </a:spcBef>
              <a:buChar char="•"/>
              <a:tabLst>
                <a:tab pos="698500" algn="l"/>
              </a:tabLst>
            </a:pP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Ciphertext</a:t>
            </a:r>
            <a:r>
              <a:rPr sz="1800" dirty="0">
                <a:latin typeface="+mj-lt"/>
                <a:cs typeface="Arial MT"/>
              </a:rPr>
              <a:t>: Encrypted, unreadable output.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363592" y="6400719"/>
            <a:ext cx="3524885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65"/>
              </a:lnSpc>
            </a:pPr>
            <a:r>
              <a:rPr sz="11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</a:rPr>
              <a:t>This Photo</a:t>
            </a:r>
            <a:r>
              <a:rPr sz="1100" dirty="0">
                <a:solidFill>
                  <a:srgbClr val="6B9F24"/>
                </a:solidFill>
                <a:latin typeface="+mj-lt"/>
                <a:cs typeface="Arial MT"/>
              </a:rPr>
              <a:t> </a:t>
            </a:r>
            <a:r>
              <a:rPr sz="1100" dirty="0">
                <a:latin typeface="+mj-lt"/>
                <a:cs typeface="Arial MT"/>
              </a:rPr>
              <a:t>by Munkhzaya Ganbold is licensed under </a:t>
            </a:r>
            <a:r>
              <a:rPr sz="11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  <a:hlinkClick r:id="rId3"/>
              </a:rPr>
              <a:t>CC BY-SA</a:t>
            </a:r>
            <a:endParaRPr sz="1100">
              <a:latin typeface="+mj-l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665209" y="6463913"/>
            <a:ext cx="1803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dirty="0">
                <a:latin typeface="+mj-lt"/>
              </a:rPr>
              <a:t>5</a:t>
            </a:fld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660" y="2117598"/>
            <a:ext cx="7101205" cy="3412473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1650">
              <a:lnSpc>
                <a:spcPts val="2380"/>
              </a:lnSpc>
              <a:spcBef>
                <a:spcPts val="390"/>
              </a:spcBef>
            </a:pPr>
            <a:r>
              <a:rPr sz="2200" dirty="0">
                <a:latin typeface="+mj-lt"/>
                <a:cs typeface="Arial MT"/>
              </a:rPr>
              <a:t>A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key </a:t>
            </a:r>
            <a:r>
              <a:rPr sz="2200" dirty="0">
                <a:latin typeface="+mj-lt"/>
                <a:cs typeface="Arial MT"/>
              </a:rPr>
              <a:t>is a mathematical value entered into the algorithm to produce ciphertext</a:t>
            </a:r>
          </a:p>
          <a:p>
            <a:pPr marL="334645" indent="-285750">
              <a:lnSpc>
                <a:spcPct val="100000"/>
              </a:lnSpc>
              <a:spcBef>
                <a:spcPts val="170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The reverse process uses the key to decrypt the message</a:t>
            </a: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200" dirty="0">
                <a:latin typeface="+mj-lt"/>
                <a:cs typeface="Arial MT"/>
              </a:rPr>
              <a:t>A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substitution </a:t>
            </a:r>
            <a:r>
              <a:rPr sz="2200" dirty="0">
                <a:latin typeface="+mj-lt"/>
                <a:cs typeface="Arial MT"/>
              </a:rPr>
              <a:t>cipher substitutes one character for another</a:t>
            </a:r>
          </a:p>
          <a:p>
            <a:pPr marL="334645" marR="200660" indent="-285750">
              <a:lnSpc>
                <a:spcPts val="1939"/>
              </a:lnSpc>
              <a:spcBef>
                <a:spcPts val="455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Simplest type is a ROT13</a:t>
            </a:r>
            <a:r>
              <a:rPr lang="en-CA" sz="1800" dirty="0">
                <a:latin typeface="+mj-lt"/>
                <a:cs typeface="Arial MT"/>
              </a:rPr>
              <a:t> (rotate by 13)</a:t>
            </a:r>
            <a:r>
              <a:rPr sz="1800" dirty="0">
                <a:latin typeface="+mj-lt"/>
                <a:cs typeface="Arial MT"/>
              </a:rPr>
              <a:t>, in which the entire alphabet is rotated 13 steps (A=N)</a:t>
            </a:r>
            <a:r>
              <a:rPr lang="en-CA" sz="1800" dirty="0">
                <a:latin typeface="+mj-lt"/>
                <a:cs typeface="Arial MT"/>
              </a:rPr>
              <a:t> and second time gives back the original text.</a:t>
            </a:r>
            <a:endParaRPr sz="1800" dirty="0">
              <a:latin typeface="+mj-lt"/>
              <a:cs typeface="Arial MT"/>
            </a:endParaRPr>
          </a:p>
          <a:p>
            <a:pPr marL="12700">
              <a:lnSpc>
                <a:spcPts val="2510"/>
              </a:lnSpc>
              <a:spcBef>
                <a:spcPts val="1280"/>
              </a:spcBef>
            </a:pPr>
            <a:r>
              <a:rPr sz="2200" dirty="0">
                <a:latin typeface="+mj-lt"/>
                <a:cs typeface="Arial MT"/>
              </a:rPr>
              <a:t>An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XOR </a:t>
            </a:r>
            <a:r>
              <a:rPr sz="2200" dirty="0">
                <a:latin typeface="+mj-lt"/>
                <a:cs typeface="Arial MT"/>
              </a:rPr>
              <a:t>cipher is based on the binary operation eXclusive OR</a:t>
            </a:r>
          </a:p>
          <a:p>
            <a:pPr marL="12700">
              <a:lnSpc>
                <a:spcPts val="2510"/>
              </a:lnSpc>
            </a:pPr>
            <a:r>
              <a:rPr sz="2200" dirty="0">
                <a:latin typeface="+mj-lt"/>
                <a:cs typeface="Arial MT"/>
              </a:rPr>
              <a:t>that compares two bits</a:t>
            </a:r>
          </a:p>
          <a:p>
            <a:pPr marL="334645" indent="-285750">
              <a:lnSpc>
                <a:spcPct val="10000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If the bits are different, a 1 is returned, if they are identical, a 0 is returned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15184" y="296608"/>
            <a:ext cx="3178810" cy="1845945"/>
            <a:chOff x="8715184" y="296608"/>
            <a:chExt cx="3178810" cy="18459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24645" y="306069"/>
              <a:ext cx="3159759" cy="182676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719946" y="301370"/>
              <a:ext cx="3169285" cy="1836420"/>
            </a:xfrm>
            <a:custGeom>
              <a:avLst/>
              <a:gdLst/>
              <a:ahLst/>
              <a:cxnLst/>
              <a:rect l="l" t="t" r="r" b="b"/>
              <a:pathLst>
                <a:path w="3169284" h="1836420">
                  <a:moveTo>
                    <a:pt x="0" y="1836292"/>
                  </a:moveTo>
                  <a:lnTo>
                    <a:pt x="3169285" y="1836292"/>
                  </a:lnTo>
                  <a:lnTo>
                    <a:pt x="3169285" y="0"/>
                  </a:lnTo>
                  <a:lnTo>
                    <a:pt x="0" y="0"/>
                  </a:lnTo>
                  <a:lnTo>
                    <a:pt x="0" y="183629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533892" y="2187321"/>
            <a:ext cx="3208020" cy="3366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  <a:hlinkClick r:id="rId3"/>
              </a:rPr>
              <a:t>This Photo</a:t>
            </a:r>
            <a:r>
              <a:rPr sz="1050" dirty="0">
                <a:solidFill>
                  <a:srgbClr val="6B9F24"/>
                </a:solidFill>
                <a:latin typeface="+mj-lt"/>
                <a:cs typeface="Arial MT"/>
              </a:rPr>
              <a:t> </a:t>
            </a:r>
            <a:r>
              <a:rPr sz="1050" dirty="0">
                <a:latin typeface="+mj-lt"/>
                <a:cs typeface="Arial MT"/>
              </a:rPr>
              <a:t>by Benjamin D. Esham is licensed under </a:t>
            </a:r>
            <a:r>
              <a:rPr sz="105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  <a:hlinkClick r:id="rId4"/>
              </a:rPr>
              <a:t>CC BY-SA</a:t>
            </a:r>
            <a:endParaRPr sz="1050">
              <a:latin typeface="+mj-l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47722" y="2519679"/>
            <a:ext cx="3576954" cy="3295650"/>
            <a:chOff x="8447722" y="2519679"/>
            <a:chExt cx="3576954" cy="329565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57310" y="2529204"/>
              <a:ext cx="3557651" cy="327621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452484" y="2524442"/>
              <a:ext cx="3567429" cy="3286125"/>
            </a:xfrm>
            <a:custGeom>
              <a:avLst/>
              <a:gdLst/>
              <a:ahLst/>
              <a:cxnLst/>
              <a:rect l="l" t="t" r="r" b="b"/>
              <a:pathLst>
                <a:path w="3567429" h="3286125">
                  <a:moveTo>
                    <a:pt x="0" y="3285744"/>
                  </a:moveTo>
                  <a:lnTo>
                    <a:pt x="3567176" y="3285744"/>
                  </a:lnTo>
                  <a:lnTo>
                    <a:pt x="3567176" y="0"/>
                  </a:lnTo>
                  <a:lnTo>
                    <a:pt x="0" y="0"/>
                  </a:lnTo>
                  <a:lnTo>
                    <a:pt x="0" y="328574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513826" y="5848603"/>
            <a:ext cx="3387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05" algn="ctr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+mj-lt"/>
                <a:cs typeface="Arial MT"/>
              </a:rPr>
              <a:t>Mark Ciampa, CompTIA Security+ Guide to Network Security Fundamentals, 7th Edition. © 2022 Cengage. All Rights Reserved. May not be scanned, copied or duplicated, or posted to a publicly accessible website, in whole or in part.</a:t>
            </a:r>
            <a:endParaRPr sz="1000">
              <a:latin typeface="+mj-l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665209" y="6463913"/>
            <a:ext cx="1422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00" dirty="0">
                <a:solidFill>
                  <a:srgbClr val="0D0D0D"/>
                </a:solidFill>
                <a:latin typeface="+mj-lt"/>
                <a:cs typeface="Trebuchet MS"/>
              </a:rPr>
              <a:t>6</a:t>
            </a:fld>
            <a:endParaRPr sz="1000">
              <a:latin typeface="+mj-lt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10485526" cy="1040797"/>
          </a:xfrm>
          <a:prstGeom prst="rect">
            <a:avLst/>
          </a:prstGeom>
        </p:spPr>
        <p:txBody>
          <a:bodyPr vert="horz" wrap="square" lIns="0" tIns="268731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WHAT IS CRYPTOGRAPHY?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10485526" cy="1016765"/>
          </a:xfrm>
          <a:prstGeom prst="rect">
            <a:avLst/>
          </a:prstGeom>
        </p:spPr>
        <p:txBody>
          <a:bodyPr vert="horz" wrap="square" lIns="0" tIns="244932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WHY USE CRYPTOGRAPHY?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65209" y="6463913"/>
            <a:ext cx="1422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00" dirty="0">
                <a:solidFill>
                  <a:srgbClr val="0D0D0D"/>
                </a:solidFill>
                <a:latin typeface="+mj-lt"/>
                <a:cs typeface="Trebuchet MS"/>
              </a:rPr>
              <a:t>7</a:t>
            </a:fld>
            <a:endParaRPr sz="1000">
              <a:latin typeface="+mj-lt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2660" y="2016632"/>
            <a:ext cx="9019540" cy="30540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+mj-lt"/>
                <a:cs typeface="Arial MT"/>
              </a:rPr>
              <a:t>Cryptography can provide several basic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protections</a:t>
            </a:r>
            <a:endParaRPr sz="2200" dirty="0">
              <a:latin typeface="+mj-lt"/>
              <a:cs typeface="Arial MT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2200" dirty="0">
              <a:latin typeface="+mj-lt"/>
              <a:cs typeface="Arial MT"/>
            </a:endParaRPr>
          </a:p>
          <a:p>
            <a:pPr marL="39179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0000FF"/>
                </a:solidFill>
                <a:latin typeface="+mj-lt"/>
                <a:cs typeface="Arial MT"/>
              </a:rPr>
              <a:t>Confidentiality </a:t>
            </a:r>
            <a:r>
              <a:rPr sz="2200" dirty="0">
                <a:latin typeface="+mj-lt"/>
                <a:cs typeface="Arial MT"/>
              </a:rPr>
              <a:t>ensures only authorized parties can view it</a:t>
            </a:r>
          </a:p>
          <a:p>
            <a:pPr marL="391795" indent="-342900">
              <a:lnSpc>
                <a:spcPct val="1000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0000FF"/>
                </a:solidFill>
                <a:latin typeface="+mj-lt"/>
                <a:cs typeface="Arial MT"/>
              </a:rPr>
              <a:t>Integrity </a:t>
            </a:r>
            <a:r>
              <a:rPr sz="2200" dirty="0">
                <a:latin typeface="+mj-lt"/>
                <a:cs typeface="Arial MT"/>
              </a:rPr>
              <a:t>ensures information is correct and unaltered</a:t>
            </a:r>
          </a:p>
          <a:p>
            <a:pPr marL="391795" indent="-342900">
              <a:lnSpc>
                <a:spcPct val="1000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0000FF"/>
                </a:solidFill>
                <a:latin typeface="+mj-lt"/>
                <a:cs typeface="Arial MT"/>
              </a:rPr>
              <a:t>Authentication </a:t>
            </a:r>
            <a:r>
              <a:rPr sz="2200" dirty="0">
                <a:latin typeface="+mj-lt"/>
                <a:cs typeface="Arial MT"/>
              </a:rPr>
              <a:t>ensures sender can be verified through cryptography</a:t>
            </a:r>
          </a:p>
          <a:p>
            <a:pPr marL="391795" indent="-342900">
              <a:lnSpc>
                <a:spcPct val="100000"/>
              </a:lnSpc>
              <a:spcBef>
                <a:spcPts val="340"/>
              </a:spcBef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0000FF"/>
                </a:solidFill>
                <a:latin typeface="+mj-lt"/>
                <a:cs typeface="Arial MT"/>
              </a:rPr>
              <a:t>Nonrepudiation </a:t>
            </a:r>
            <a:r>
              <a:rPr sz="2200" dirty="0">
                <a:latin typeface="+mj-lt"/>
                <a:cs typeface="Arial MT"/>
              </a:rPr>
              <a:t>proves that a user performed an action</a:t>
            </a:r>
            <a:r>
              <a:rPr lang="en-CA" sz="2200" dirty="0">
                <a:latin typeface="+mj-lt"/>
                <a:cs typeface="Arial MT"/>
              </a:rPr>
              <a:t> For Example: Digital Signature</a:t>
            </a:r>
            <a:endParaRPr sz="2200" dirty="0">
              <a:latin typeface="+mj-lt"/>
              <a:cs typeface="Arial MT"/>
            </a:endParaRPr>
          </a:p>
          <a:p>
            <a:pPr marL="391795" indent="-342900">
              <a:lnSpc>
                <a:spcPct val="100000"/>
              </a:lnSpc>
              <a:spcBef>
                <a:spcPts val="335"/>
              </a:spcBef>
              <a:buFont typeface="Arial" panose="020B0604020202020204" pitchFamily="34" charset="0"/>
              <a:buChar char="•"/>
            </a:pPr>
            <a:r>
              <a:rPr sz="2200" dirty="0">
                <a:solidFill>
                  <a:srgbClr val="0000FF"/>
                </a:solidFill>
                <a:latin typeface="+mj-lt"/>
                <a:cs typeface="Arial MT"/>
              </a:rPr>
              <a:t>Obfuscation </a:t>
            </a:r>
            <a:r>
              <a:rPr sz="2200" dirty="0">
                <a:latin typeface="+mj-lt"/>
                <a:cs typeface="Arial MT"/>
              </a:rPr>
              <a:t>is making something obscure or unclear</a:t>
            </a:r>
            <a:endParaRPr lang="en-CA" sz="2200" dirty="0">
              <a:latin typeface="+mj-l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37" y="914400"/>
            <a:ext cx="10485526" cy="769441"/>
          </a:xfrm>
        </p:spPr>
        <p:txBody>
          <a:bodyPr/>
          <a:lstStyle/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Cryptography -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75192"/>
            <a:ext cx="11430000" cy="4625609"/>
          </a:xfrm>
        </p:spPr>
        <p:txBody>
          <a:bodyPr>
            <a:normAutofit/>
          </a:bodyPr>
          <a:lstStyle/>
          <a:p>
            <a:r>
              <a:rPr lang="en-US" dirty="0"/>
              <a:t>Let’s now, perform the reverse using the same key: 00100011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7811B6D-6F6B-8C93-0BB3-7163D362C056}"/>
              </a:ext>
            </a:extLst>
          </p:cNvPr>
          <p:cNvGraphicFramePr>
            <a:graphicFrameLocks noGrp="1"/>
          </p:cNvGraphicFramePr>
          <p:nvPr/>
        </p:nvGraphicFramePr>
        <p:xfrm>
          <a:off x="495300" y="2514600"/>
          <a:ext cx="11201400" cy="388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403882571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874843799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42248028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64191867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100497198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4239156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Plain Text ASCII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327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Plain Text 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01000101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01001100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01001100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01001111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360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00100011</a:t>
                      </a:r>
                    </a:p>
                    <a:p>
                      <a:pPr algn="ctr"/>
                      <a:endParaRPr lang="en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00100011</a:t>
                      </a:r>
                    </a:p>
                    <a:p>
                      <a:pPr algn="ctr"/>
                      <a:endParaRPr lang="en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00100011</a:t>
                      </a:r>
                    </a:p>
                    <a:p>
                      <a:pPr algn="ctr"/>
                      <a:endParaRPr lang="en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00100011</a:t>
                      </a:r>
                    </a:p>
                    <a:p>
                      <a:pPr algn="ctr"/>
                      <a:endParaRPr lang="en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00100011</a:t>
                      </a:r>
                      <a:endParaRPr lang="en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470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 err="1">
                          <a:solidFill>
                            <a:schemeClr val="tx1"/>
                          </a:solidFill>
                        </a:rPr>
                        <a:t>XOR’d</a:t>
                      </a:r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01101011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01100110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01101111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01101111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01101100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0857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Encrypted </a:t>
                      </a:r>
                      <a:r>
                        <a:rPr lang="en-CA" b="1" dirty="0" err="1">
                          <a:solidFill>
                            <a:schemeClr val="tx1"/>
                          </a:solidFill>
                        </a:rPr>
                        <a:t>CipherText</a:t>
                      </a:r>
                      <a:endParaRPr lang="en-C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002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 err="1">
                          <a:solidFill>
                            <a:schemeClr val="tx1"/>
                          </a:solidFill>
                        </a:rPr>
                        <a:t>CipherText</a:t>
                      </a:r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 Binary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01101011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01100110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01101111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01101111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01101100 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385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Key (from above)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00100011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00100011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00100011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00100011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00100011</a:t>
                      </a:r>
                      <a:endParaRPr lang="en-CA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125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Plain Text Binary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01001000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01000101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01001100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01001100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>
                          <a:solidFill>
                            <a:schemeClr val="tx1"/>
                          </a:solidFill>
                        </a:rPr>
                        <a:t>01001111</a:t>
                      </a:r>
                      <a:endParaRPr lang="en-CA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539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Plain Text ASCII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 dirty="0">
                          <a:solidFill>
                            <a:schemeClr val="tx1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098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2666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219" y="2135932"/>
            <a:ext cx="9912350" cy="2761012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200" dirty="0">
                <a:latin typeface="+mj-lt"/>
                <a:cs typeface="Arial MT"/>
              </a:rPr>
              <a:t>Cryptographic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constraints</a:t>
            </a:r>
            <a:endParaRPr lang="en-CA" sz="2200" dirty="0">
              <a:solidFill>
                <a:srgbClr val="C00000"/>
              </a:solidFill>
              <a:latin typeface="+mj-lt"/>
              <a:cs typeface="Arial MT"/>
            </a:endParaRPr>
          </a:p>
          <a:p>
            <a:pPr marL="355600" lvl="1" indent="-342900">
              <a:spcBef>
                <a:spcPts val="29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+mj-lt"/>
                <a:cs typeface="Arial MT"/>
              </a:rPr>
              <a:t>Processing </a:t>
            </a: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speed </a:t>
            </a:r>
            <a:r>
              <a:rPr sz="2000" dirty="0">
                <a:latin typeface="+mj-lt"/>
                <a:cs typeface="Arial MT"/>
              </a:rPr>
              <a:t>- slower speed unacceptable for some applications</a:t>
            </a:r>
            <a:endParaRPr lang="en-CA" sz="2000" dirty="0">
              <a:latin typeface="+mj-lt"/>
              <a:cs typeface="Arial MT"/>
            </a:endParaRPr>
          </a:p>
          <a:p>
            <a:pPr marL="355600" lvl="1" indent="-342900">
              <a:spcBef>
                <a:spcPts val="29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+mj-lt"/>
                <a:cs typeface="Arial MT"/>
              </a:rPr>
              <a:t>Resulting </a:t>
            </a: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size </a:t>
            </a:r>
            <a:r>
              <a:rPr sz="2000" dirty="0">
                <a:latin typeface="+mj-lt"/>
                <a:cs typeface="Arial MT"/>
              </a:rPr>
              <a:t>of encrypted file</a:t>
            </a:r>
            <a:endParaRPr lang="en-CA" sz="2000" dirty="0">
              <a:latin typeface="+mj-lt"/>
              <a:cs typeface="Arial MT"/>
            </a:endParaRPr>
          </a:p>
          <a:p>
            <a:pPr marL="355600" lvl="1" indent="-342900">
              <a:spcBef>
                <a:spcPts val="29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+mj-lt"/>
                <a:cs typeface="Arial MT"/>
              </a:rPr>
              <a:t>Weak </a:t>
            </a: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cryptographic keys</a:t>
            </a:r>
            <a:endParaRPr lang="en-CA" sz="2000" dirty="0">
              <a:latin typeface="+mj-lt"/>
              <a:cs typeface="Arial MT"/>
            </a:endParaRPr>
          </a:p>
          <a:p>
            <a:pPr marL="355600" lvl="1" indent="-342900">
              <a:spcBef>
                <a:spcPts val="290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Key length </a:t>
            </a:r>
            <a:r>
              <a:rPr sz="2000" dirty="0">
                <a:latin typeface="+mj-lt"/>
                <a:cs typeface="Arial MT"/>
              </a:rPr>
              <a:t>– short key length results in weaker security</a:t>
            </a:r>
            <a:endParaRPr lang="en-CA" sz="2000" dirty="0">
              <a:latin typeface="+mj-lt"/>
              <a:cs typeface="Arial MT"/>
            </a:endParaRPr>
          </a:p>
          <a:p>
            <a:pPr marL="355600" lvl="1" indent="-342900">
              <a:spcBef>
                <a:spcPts val="290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Reusing </a:t>
            </a:r>
            <a:r>
              <a:rPr sz="2000" dirty="0">
                <a:latin typeface="+mj-lt"/>
                <a:cs typeface="Arial MT"/>
              </a:rPr>
              <a:t>encryption key</a:t>
            </a:r>
            <a:endParaRPr lang="en-CA" sz="2000" dirty="0">
              <a:latin typeface="+mj-lt"/>
              <a:cs typeface="Arial MT"/>
            </a:endParaRPr>
          </a:p>
          <a:p>
            <a:pPr marL="355600" lvl="1" indent="-342900">
              <a:spcBef>
                <a:spcPts val="290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Entropy </a:t>
            </a:r>
            <a:r>
              <a:rPr sz="2000" dirty="0">
                <a:latin typeface="+mj-lt"/>
                <a:cs typeface="Arial MT"/>
              </a:rPr>
              <a:t>is a measure of the randomness or diversity of a data-generating function. Low entropy increase predictability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65209" y="6463913"/>
            <a:ext cx="1422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00" dirty="0">
                <a:solidFill>
                  <a:srgbClr val="0D0D0D"/>
                </a:solidFill>
                <a:latin typeface="+mj-lt"/>
                <a:cs typeface="Trebuchet MS"/>
              </a:rPr>
              <a:t>9</a:t>
            </a:fld>
            <a:endParaRPr sz="1000">
              <a:latin typeface="+mj-lt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10485526" cy="999248"/>
          </a:xfrm>
          <a:prstGeom prst="rect">
            <a:avLst/>
          </a:prstGeom>
        </p:spPr>
        <p:txBody>
          <a:bodyPr vert="horz" wrap="square" lIns="0" tIns="227584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LIMITATIONS OF CRYPTOGRAPHY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1219" y="2160219"/>
            <a:ext cx="10387330" cy="21358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200" dirty="0">
                <a:latin typeface="+mj-lt"/>
                <a:cs typeface="Arial MT"/>
              </a:rPr>
              <a:t>Which of the following is a term that proves that a user performed an action with a computer</a:t>
            </a:r>
            <a:r>
              <a:rPr lang="en-CA" sz="2200" dirty="0">
                <a:latin typeface="+mj-lt"/>
                <a:cs typeface="Arial MT"/>
              </a:rPr>
              <a:t> </a:t>
            </a:r>
            <a:r>
              <a:rPr sz="2200" dirty="0">
                <a:latin typeface="+mj-lt"/>
                <a:cs typeface="Arial MT"/>
              </a:rPr>
              <a:t>or on data?</a:t>
            </a:r>
          </a:p>
          <a:p>
            <a:pPr marL="648335" indent="-292735">
              <a:lnSpc>
                <a:spcPct val="100000"/>
              </a:lnSpc>
              <a:spcBef>
                <a:spcPts val="135"/>
              </a:spcBef>
              <a:buAutoNum type="alphaLcPeriod"/>
              <a:tabLst>
                <a:tab pos="648335" algn="l"/>
              </a:tabLst>
            </a:pPr>
            <a:r>
              <a:rPr sz="2200" dirty="0">
                <a:latin typeface="+mj-lt"/>
                <a:cs typeface="Arial MT"/>
              </a:rPr>
              <a:t>Confidentiality</a:t>
            </a:r>
          </a:p>
          <a:p>
            <a:pPr marL="642620" indent="-287020">
              <a:lnSpc>
                <a:spcPct val="100000"/>
              </a:lnSpc>
              <a:spcBef>
                <a:spcPts val="335"/>
              </a:spcBef>
              <a:buAutoNum type="alphaLcPeriod"/>
              <a:tabLst>
                <a:tab pos="642620" algn="l"/>
              </a:tabLst>
            </a:pPr>
            <a:r>
              <a:rPr sz="2200" b="1" dirty="0">
                <a:latin typeface="+mj-lt"/>
                <a:cs typeface="Arial MT"/>
              </a:rPr>
              <a:t>Nonrepudiation</a:t>
            </a:r>
          </a:p>
          <a:p>
            <a:pPr marL="601345" indent="-245745">
              <a:lnSpc>
                <a:spcPct val="100000"/>
              </a:lnSpc>
              <a:spcBef>
                <a:spcPts val="335"/>
              </a:spcBef>
              <a:buAutoNum type="alphaLcPeriod"/>
              <a:tabLst>
                <a:tab pos="601345" algn="l"/>
              </a:tabLst>
            </a:pPr>
            <a:r>
              <a:rPr sz="2200" dirty="0">
                <a:latin typeface="+mj-lt"/>
                <a:cs typeface="Arial MT"/>
              </a:rPr>
              <a:t>Obfuscation</a:t>
            </a:r>
          </a:p>
          <a:p>
            <a:pPr marL="648335" indent="-292735">
              <a:lnSpc>
                <a:spcPct val="100000"/>
              </a:lnSpc>
              <a:spcBef>
                <a:spcPts val="340"/>
              </a:spcBef>
              <a:buAutoNum type="alphaLcPeriod"/>
              <a:tabLst>
                <a:tab pos="648335" algn="l"/>
              </a:tabLst>
            </a:pPr>
            <a:r>
              <a:rPr sz="2200" dirty="0">
                <a:latin typeface="+mj-lt"/>
                <a:cs typeface="Arial MT"/>
              </a:rPr>
              <a:t>Authentication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65209" y="6463913"/>
            <a:ext cx="14224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00" dirty="0">
                <a:solidFill>
                  <a:srgbClr val="0D0D0D"/>
                </a:solidFill>
                <a:latin typeface="+mj-lt"/>
                <a:cs typeface="Trebuchet MS"/>
              </a:rPr>
              <a:t>10</a:t>
            </a:fld>
            <a:endParaRPr sz="1000">
              <a:latin typeface="+mj-lt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10485526" cy="999248"/>
          </a:xfrm>
          <a:prstGeom prst="rect">
            <a:avLst/>
          </a:prstGeom>
        </p:spPr>
        <p:txBody>
          <a:bodyPr vert="horz" wrap="square" lIns="0" tIns="227584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KNOWLEDGE CHECK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10485526" cy="981627"/>
          </a:xfrm>
          <a:prstGeom prst="rect">
            <a:avLst/>
          </a:prstGeom>
        </p:spPr>
        <p:txBody>
          <a:bodyPr vert="horz" wrap="square" lIns="0" tIns="210134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CRYPTOGRAPHIC ALGORITHMS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665209" y="6463913"/>
            <a:ext cx="14224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00" dirty="0">
                <a:solidFill>
                  <a:srgbClr val="0D0D0D"/>
                </a:solidFill>
                <a:latin typeface="+mj-lt"/>
                <a:cs typeface="Trebuchet MS"/>
              </a:rPr>
              <a:t>11</a:t>
            </a:fld>
            <a:endParaRPr sz="1000">
              <a:latin typeface="+mj-lt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172" y="1899361"/>
            <a:ext cx="10184765" cy="37542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200" dirty="0">
                <a:latin typeface="+mj-lt"/>
                <a:cs typeface="Arial MT"/>
              </a:rPr>
              <a:t>A fundamental difference in cryptographic algorithms is the amount of data processed at a</a:t>
            </a:r>
            <a:r>
              <a:rPr lang="en-CA" sz="2200" dirty="0">
                <a:latin typeface="+mj-lt"/>
                <a:cs typeface="Arial MT"/>
              </a:rPr>
              <a:t> </a:t>
            </a:r>
            <a:r>
              <a:rPr sz="2200" dirty="0">
                <a:latin typeface="+mj-lt"/>
                <a:cs typeface="Arial MT"/>
              </a:rPr>
              <a:t>time</a:t>
            </a:r>
          </a:p>
          <a:p>
            <a:pPr marL="334645" indent="-285750">
              <a:lnSpc>
                <a:spcPct val="10000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Stream cipher </a:t>
            </a:r>
            <a:r>
              <a:rPr sz="1800" dirty="0">
                <a:latin typeface="+mj-lt"/>
                <a:cs typeface="Arial MT"/>
              </a:rPr>
              <a:t>- takes one character and replaces it with another</a:t>
            </a:r>
            <a:r>
              <a:rPr lang="en-CA" sz="1800" dirty="0">
                <a:latin typeface="+mj-lt"/>
                <a:cs typeface="Arial MT"/>
              </a:rPr>
              <a:t>, RC4</a:t>
            </a:r>
          </a:p>
          <a:p>
            <a:pPr marL="334645" indent="-285750">
              <a:lnSpc>
                <a:spcPct val="10000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Block cipher </a:t>
            </a:r>
            <a:r>
              <a:rPr sz="1800" dirty="0">
                <a:latin typeface="+mj-lt"/>
                <a:cs typeface="Arial MT"/>
              </a:rPr>
              <a:t>- manipulates an entire block of plaintext at one time</a:t>
            </a:r>
            <a:r>
              <a:rPr lang="en-CA" sz="1800" dirty="0">
                <a:latin typeface="+mj-lt"/>
                <a:cs typeface="Arial MT"/>
              </a:rPr>
              <a:t>, AES</a:t>
            </a:r>
          </a:p>
          <a:p>
            <a:pPr marL="334645" indent="-285750">
              <a:lnSpc>
                <a:spcPct val="10000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Sponge function </a:t>
            </a:r>
            <a:r>
              <a:rPr sz="1800" dirty="0">
                <a:latin typeface="+mj-lt"/>
                <a:cs typeface="Arial MT"/>
              </a:rPr>
              <a:t>- takes as input a string of any length and returns a string of any requested variable length</a:t>
            </a:r>
            <a:r>
              <a:rPr lang="en-CA" sz="1800" dirty="0">
                <a:latin typeface="+mj-lt"/>
                <a:cs typeface="Arial MT"/>
              </a:rPr>
              <a:t>, SHA-256 (SHA3)</a:t>
            </a:r>
            <a:endParaRPr sz="1800" dirty="0">
              <a:latin typeface="+mj-lt"/>
              <a:cs typeface="Arial MT"/>
            </a:endParaRPr>
          </a:p>
          <a:p>
            <a:pPr>
              <a:lnSpc>
                <a:spcPct val="100000"/>
              </a:lnSpc>
            </a:pPr>
            <a:endParaRPr sz="1800" dirty="0">
              <a:latin typeface="+mj-lt"/>
              <a:cs typeface="Arial MT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800" dirty="0">
              <a:latin typeface="+mj-l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+mj-lt"/>
                <a:cs typeface="Arial MT"/>
              </a:rPr>
              <a:t>Three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categories </a:t>
            </a:r>
            <a:r>
              <a:rPr sz="2200" dirty="0">
                <a:latin typeface="+mj-lt"/>
                <a:cs typeface="Arial MT"/>
              </a:rPr>
              <a:t>of cryptographic algorithms</a:t>
            </a:r>
          </a:p>
          <a:p>
            <a:pPr marL="334645" indent="-285750">
              <a:lnSpc>
                <a:spcPct val="10000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Hash </a:t>
            </a:r>
            <a:r>
              <a:rPr sz="1800" dirty="0">
                <a:latin typeface="+mj-lt"/>
                <a:cs typeface="Arial MT"/>
              </a:rPr>
              <a:t>algorithms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ct val="10000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Symmetric </a:t>
            </a:r>
            <a:r>
              <a:rPr sz="1800" dirty="0">
                <a:latin typeface="+mj-lt"/>
                <a:cs typeface="Arial MT"/>
              </a:rPr>
              <a:t>cryptographic algorithms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ct val="10000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Asymmetric </a:t>
            </a:r>
            <a:r>
              <a:rPr sz="1800" dirty="0">
                <a:latin typeface="+mj-lt"/>
                <a:cs typeface="Arial MT"/>
              </a:rPr>
              <a:t>cryptographic algorithms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10485526" cy="1015868"/>
          </a:xfrm>
          <a:prstGeom prst="rect">
            <a:avLst/>
          </a:prstGeom>
        </p:spPr>
        <p:txBody>
          <a:bodyPr vert="horz" wrap="square" lIns="0" tIns="244043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+mj-lt"/>
              </a:rPr>
              <a:t>HASH ALGORITHMS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020875" y="3563429"/>
            <a:ext cx="3928110" cy="2175510"/>
            <a:chOff x="8020875" y="3563429"/>
            <a:chExt cx="3928110" cy="21755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0464" y="3572954"/>
              <a:ext cx="3908805" cy="21563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025638" y="3568191"/>
              <a:ext cx="3918585" cy="2165985"/>
            </a:xfrm>
            <a:custGeom>
              <a:avLst/>
              <a:gdLst/>
              <a:ahLst/>
              <a:cxnLst/>
              <a:rect l="l" t="t" r="r" b="b"/>
              <a:pathLst>
                <a:path w="3918584" h="2165985">
                  <a:moveTo>
                    <a:pt x="0" y="2165857"/>
                  </a:moveTo>
                  <a:lnTo>
                    <a:pt x="3918330" y="2165857"/>
                  </a:lnTo>
                  <a:lnTo>
                    <a:pt x="3918330" y="0"/>
                  </a:lnTo>
                  <a:lnTo>
                    <a:pt x="0" y="0"/>
                  </a:lnTo>
                  <a:lnTo>
                    <a:pt x="0" y="216585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826754" y="5829706"/>
            <a:ext cx="28448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  <a:hlinkClick r:id="rId3"/>
              </a:rPr>
              <a:t>This Photo</a:t>
            </a:r>
            <a:r>
              <a:rPr sz="900" dirty="0">
                <a:solidFill>
                  <a:srgbClr val="6B9F24"/>
                </a:solidFill>
                <a:latin typeface="+mj-lt"/>
                <a:cs typeface="Arial MT"/>
              </a:rPr>
              <a:t> </a:t>
            </a:r>
            <a:r>
              <a:rPr sz="900" dirty="0">
                <a:latin typeface="+mj-lt"/>
                <a:cs typeface="Arial MT"/>
              </a:rPr>
              <a:t>by Unknown Author is licensed under </a:t>
            </a:r>
            <a:r>
              <a:rPr sz="9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  <a:hlinkClick r:id="rId4"/>
              </a:rPr>
              <a:t>CC BY-SA-NC</a:t>
            </a:r>
            <a:endParaRPr sz="900">
              <a:latin typeface="+mj-l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65209" y="6463913"/>
            <a:ext cx="14224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00" dirty="0">
                <a:solidFill>
                  <a:srgbClr val="0D0D0D"/>
                </a:solidFill>
                <a:latin typeface="+mj-lt"/>
                <a:cs typeface="Trebuchet MS"/>
              </a:rPr>
              <a:t>12</a:t>
            </a:fld>
            <a:endParaRPr sz="1000">
              <a:latin typeface="+mj-lt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8444" y="2165730"/>
            <a:ext cx="10222230" cy="3984424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0"/>
              </a:spcBef>
              <a:tabLst>
                <a:tab pos="241300" algn="l"/>
              </a:tabLst>
            </a:pPr>
            <a:r>
              <a:rPr sz="2200" dirty="0">
                <a:latin typeface="+mj-lt"/>
                <a:cs typeface="Arial MT"/>
              </a:rPr>
              <a:t>Hash algorithm creates a unique “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digital fingerprint</a:t>
            </a:r>
            <a:r>
              <a:rPr sz="2200" dirty="0">
                <a:latin typeface="+mj-lt"/>
                <a:cs typeface="Arial MT"/>
              </a:rPr>
              <a:t>” (called </a:t>
            </a:r>
            <a:r>
              <a:rPr sz="2200" dirty="0">
                <a:solidFill>
                  <a:srgbClr val="0000FF"/>
                </a:solidFill>
                <a:latin typeface="+mj-lt"/>
                <a:cs typeface="Arial MT"/>
              </a:rPr>
              <a:t>message digest </a:t>
            </a:r>
            <a:r>
              <a:rPr sz="2200" dirty="0">
                <a:latin typeface="+mj-lt"/>
                <a:cs typeface="Arial MT"/>
              </a:rPr>
              <a:t>or </a:t>
            </a:r>
            <a:r>
              <a:rPr sz="2200" dirty="0">
                <a:solidFill>
                  <a:srgbClr val="0000FF"/>
                </a:solidFill>
                <a:latin typeface="+mj-lt"/>
                <a:cs typeface="Arial MT"/>
              </a:rPr>
              <a:t>hash</a:t>
            </a:r>
            <a:r>
              <a:rPr sz="2200" dirty="0">
                <a:latin typeface="+mj-lt"/>
                <a:cs typeface="Arial MT"/>
              </a:rPr>
              <a:t>) of a set of data – often used to </a:t>
            </a:r>
            <a:r>
              <a:rPr sz="2200" dirty="0">
                <a:solidFill>
                  <a:srgbClr val="0000FF"/>
                </a:solidFill>
                <a:latin typeface="+mj-lt"/>
                <a:cs typeface="Arial MT"/>
              </a:rPr>
              <a:t>verify </a:t>
            </a:r>
            <a:r>
              <a:rPr sz="2200" dirty="0">
                <a:latin typeface="+mj-lt"/>
                <a:cs typeface="Arial MT"/>
              </a:rPr>
              <a:t>that original contents are not changed.</a:t>
            </a:r>
          </a:p>
          <a:p>
            <a:pPr marL="216535">
              <a:lnSpc>
                <a:spcPct val="100000"/>
              </a:lnSpc>
              <a:spcBef>
                <a:spcPts val="1705"/>
              </a:spcBef>
            </a:pPr>
            <a:r>
              <a:rPr sz="2200" dirty="0">
                <a:latin typeface="+mj-lt"/>
                <a:cs typeface="Arial MT"/>
              </a:rPr>
              <a:t>Secure hashing algorithm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characteristics</a:t>
            </a:r>
            <a:r>
              <a:rPr sz="2200" dirty="0">
                <a:latin typeface="+mj-lt"/>
                <a:cs typeface="Arial MT"/>
              </a:rPr>
              <a:t>:</a:t>
            </a:r>
            <a:endParaRPr lang="en-CA" sz="2200" dirty="0">
              <a:latin typeface="+mj-lt"/>
              <a:cs typeface="Arial MT"/>
            </a:endParaRPr>
          </a:p>
          <a:p>
            <a:pPr marL="559435" indent="-342900">
              <a:lnSpc>
                <a:spcPct val="100000"/>
              </a:lnSpc>
              <a:spcBef>
                <a:spcPts val="1705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Fixed size </a:t>
            </a:r>
            <a:r>
              <a:rPr sz="2000" dirty="0">
                <a:latin typeface="+mj-lt"/>
                <a:cs typeface="Arial MT"/>
              </a:rPr>
              <a:t>- short and long data sets have the same size hash</a:t>
            </a:r>
            <a:endParaRPr lang="en-CA" sz="2000" dirty="0">
              <a:latin typeface="+mj-lt"/>
              <a:cs typeface="Arial MT"/>
            </a:endParaRPr>
          </a:p>
          <a:p>
            <a:pPr marL="559435" indent="-342900">
              <a:lnSpc>
                <a:spcPct val="100000"/>
              </a:lnSpc>
              <a:spcBef>
                <a:spcPts val="1705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Unique </a:t>
            </a:r>
            <a:r>
              <a:rPr sz="2000" dirty="0">
                <a:latin typeface="+mj-lt"/>
                <a:cs typeface="Arial MT"/>
              </a:rPr>
              <a:t>- two different data sets cannot produce the same hash</a:t>
            </a:r>
            <a:endParaRPr lang="en-CA" sz="2000" dirty="0">
              <a:latin typeface="+mj-lt"/>
              <a:cs typeface="Arial MT"/>
            </a:endParaRPr>
          </a:p>
          <a:p>
            <a:pPr marL="559435" indent="-342900">
              <a:lnSpc>
                <a:spcPct val="100000"/>
              </a:lnSpc>
              <a:spcBef>
                <a:spcPts val="1705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One-way </a:t>
            </a:r>
            <a:r>
              <a:rPr sz="2000" dirty="0">
                <a:latin typeface="+mj-lt"/>
                <a:cs typeface="Arial MT"/>
              </a:rPr>
              <a:t>– digest/hash cannot be reversed to reveal original data set</a:t>
            </a:r>
          </a:p>
          <a:p>
            <a:pPr>
              <a:lnSpc>
                <a:spcPct val="100000"/>
              </a:lnSpc>
              <a:spcBef>
                <a:spcPts val="1755"/>
              </a:spcBef>
            </a:pPr>
            <a:endParaRPr sz="2000" dirty="0">
              <a:latin typeface="+mj-lt"/>
              <a:cs typeface="Arial MT"/>
            </a:endParaRPr>
          </a:p>
          <a:p>
            <a:pPr marL="216535">
              <a:lnSpc>
                <a:spcPct val="100000"/>
              </a:lnSpc>
            </a:pPr>
            <a:r>
              <a:rPr sz="2200" dirty="0">
                <a:latin typeface="+mj-lt"/>
                <a:cs typeface="Arial MT"/>
              </a:rPr>
              <a:t>Common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Hashing Algorithms</a:t>
            </a:r>
            <a:r>
              <a:rPr sz="2200" dirty="0">
                <a:latin typeface="+mj-lt"/>
                <a:cs typeface="Arial MT"/>
              </a:rPr>
              <a:t>:</a:t>
            </a:r>
            <a:endParaRPr lang="en-CA" sz="2200" dirty="0">
              <a:latin typeface="+mj-lt"/>
              <a:cs typeface="Arial MT"/>
            </a:endParaRPr>
          </a:p>
          <a:p>
            <a:pPr marL="55943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z="2000" dirty="0">
                <a:latin typeface="+mj-lt"/>
                <a:cs typeface="Arial MT"/>
              </a:rPr>
              <a:t>MD5 (Message Digest 5), SHA-1, SHA-256, SHA3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10485526" cy="906915"/>
          </a:xfrm>
          <a:prstGeom prst="rect">
            <a:avLst/>
          </a:prstGeom>
        </p:spPr>
        <p:txBody>
          <a:bodyPr vert="horz" wrap="square" lIns="0" tIns="227584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+mj-lt"/>
              </a:rPr>
              <a:t>SYMMETRIC CRYPTOGRAPHIC 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8172" y="2084019"/>
            <a:ext cx="6577965" cy="3726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</a:pP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Symmetric </a:t>
            </a:r>
            <a:r>
              <a:rPr sz="2200" dirty="0">
                <a:latin typeface="+mj-lt"/>
                <a:cs typeface="Arial MT"/>
              </a:rPr>
              <a:t>cryptographic algorithms use the same </a:t>
            </a:r>
            <a:r>
              <a:rPr sz="2200" dirty="0">
                <a:solidFill>
                  <a:srgbClr val="0000FF"/>
                </a:solidFill>
                <a:latin typeface="+mj-lt"/>
                <a:cs typeface="Arial MT"/>
              </a:rPr>
              <a:t>single</a:t>
            </a:r>
            <a:endParaRPr sz="2200" dirty="0">
              <a:latin typeface="+mj-lt"/>
              <a:cs typeface="Arial MT"/>
            </a:endParaRPr>
          </a:p>
          <a:p>
            <a:pPr marL="12700">
              <a:lnSpc>
                <a:spcPts val="2510"/>
              </a:lnSpc>
            </a:pPr>
            <a:r>
              <a:rPr sz="2200" dirty="0">
                <a:solidFill>
                  <a:srgbClr val="0000FF"/>
                </a:solidFill>
                <a:latin typeface="+mj-lt"/>
                <a:cs typeface="Arial MT"/>
              </a:rPr>
              <a:t>key </a:t>
            </a:r>
            <a:r>
              <a:rPr sz="2200" dirty="0">
                <a:latin typeface="+mj-lt"/>
                <a:cs typeface="Arial MT"/>
              </a:rPr>
              <a:t>to encrypt and decrypt a document</a:t>
            </a:r>
          </a:p>
          <a:p>
            <a:pPr marL="334645" marR="5080" indent="-285750">
              <a:lnSpc>
                <a:spcPts val="1939"/>
              </a:lnSpc>
              <a:spcBef>
                <a:spcPts val="459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Also called </a:t>
            </a: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private key </a:t>
            </a:r>
            <a:r>
              <a:rPr sz="1800" dirty="0">
                <a:latin typeface="+mj-lt"/>
                <a:cs typeface="Arial MT"/>
              </a:rPr>
              <a:t>cryptography (the key is kept private between sender and receiver)</a:t>
            </a:r>
          </a:p>
          <a:p>
            <a:pPr>
              <a:lnSpc>
                <a:spcPct val="100000"/>
              </a:lnSpc>
            </a:pPr>
            <a:endParaRPr sz="1800" dirty="0">
              <a:latin typeface="+mj-lt"/>
              <a:cs typeface="Arial MT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800" dirty="0">
              <a:latin typeface="+mj-l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latin typeface="+mj-lt"/>
                <a:cs typeface="Arial MT"/>
              </a:rPr>
              <a:t>Common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algorithms </a:t>
            </a:r>
            <a:r>
              <a:rPr sz="2200" dirty="0">
                <a:latin typeface="+mj-lt"/>
                <a:cs typeface="Arial MT"/>
              </a:rPr>
              <a:t>include:</a:t>
            </a:r>
          </a:p>
          <a:p>
            <a:pPr marL="334645" indent="-285750">
              <a:lnSpc>
                <a:spcPct val="10000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Data Encryption Standard (</a:t>
            </a: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DES</a:t>
            </a:r>
            <a:r>
              <a:rPr sz="1800" dirty="0">
                <a:latin typeface="+mj-lt"/>
                <a:cs typeface="Arial MT"/>
              </a:rPr>
              <a:t>)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ct val="10000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Triple Data Encryption Standard (</a:t>
            </a: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3DES</a:t>
            </a:r>
            <a:r>
              <a:rPr sz="1800" dirty="0">
                <a:latin typeface="+mj-lt"/>
                <a:cs typeface="Arial MT"/>
              </a:rPr>
              <a:t>)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ct val="10000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Advanced Encryption Standard (</a:t>
            </a: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AES</a:t>
            </a:r>
            <a:r>
              <a:rPr sz="1800" dirty="0">
                <a:latin typeface="+mj-lt"/>
                <a:cs typeface="Arial MT"/>
              </a:rPr>
              <a:t>)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ct val="10000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Rivest Cipher (</a:t>
            </a:r>
            <a:r>
              <a:rPr sz="1800" dirty="0">
                <a:solidFill>
                  <a:srgbClr val="0000FF"/>
                </a:solidFill>
                <a:latin typeface="+mj-lt"/>
                <a:cs typeface="Arial MT"/>
              </a:rPr>
              <a:t>RC</a:t>
            </a:r>
            <a:r>
              <a:rPr sz="1800" dirty="0">
                <a:latin typeface="+mj-lt"/>
                <a:cs typeface="Arial MT"/>
              </a:rPr>
              <a:t>)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ct val="100000"/>
              </a:lnSpc>
              <a:spcBef>
                <a:spcPts val="210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Blowfish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768780" y="2006079"/>
            <a:ext cx="4041775" cy="3735070"/>
            <a:chOff x="7768780" y="2006079"/>
            <a:chExt cx="4041775" cy="37350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8369" y="2015604"/>
              <a:ext cx="4022598" cy="37158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773543" y="2010841"/>
              <a:ext cx="4032250" cy="3725545"/>
            </a:xfrm>
            <a:custGeom>
              <a:avLst/>
              <a:gdLst/>
              <a:ahLst/>
              <a:cxnLst/>
              <a:rect l="l" t="t" r="r" b="b"/>
              <a:pathLst>
                <a:path w="4032250" h="3725545">
                  <a:moveTo>
                    <a:pt x="0" y="3725417"/>
                  </a:moveTo>
                  <a:lnTo>
                    <a:pt x="4032123" y="3725417"/>
                  </a:lnTo>
                  <a:lnTo>
                    <a:pt x="4032123" y="0"/>
                  </a:lnTo>
                  <a:lnTo>
                    <a:pt x="0" y="0"/>
                  </a:lnTo>
                  <a:lnTo>
                    <a:pt x="0" y="372541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970901" y="5843422"/>
            <a:ext cx="369887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+mj-lt"/>
                <a:cs typeface="Arial MT"/>
              </a:rPr>
              <a:t>Mark Ciampa, CompTIA Security+ Guide to Network Security Fundamentals, 7th Edition. © 2022 Cengage. All Rights Reserved. May not be scanned, copied or duplicated, or posted to a publicly accessible website, in whole or in part.</a:t>
            </a:r>
            <a:endParaRPr sz="900">
              <a:latin typeface="+mj-l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65209" y="6463913"/>
            <a:ext cx="142240" cy="2821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sz="1000" dirty="0">
                <a:solidFill>
                  <a:srgbClr val="0D0D0D"/>
                </a:solidFill>
                <a:latin typeface="+mj-lt"/>
                <a:cs typeface="Trebuchet MS"/>
              </a:rPr>
              <a:t>13</a:t>
            </a:fld>
            <a:endParaRPr sz="1000">
              <a:latin typeface="+mj-lt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10485526" cy="883831"/>
          </a:xfrm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+mj-lt"/>
              </a:rPr>
              <a:t>ASYMMETRIC CRYPTOGRAPHIC ALGORITHMS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303452" y="2044166"/>
            <a:ext cx="4746625" cy="3813810"/>
            <a:chOff x="7303452" y="2044166"/>
            <a:chExt cx="4746625" cy="3813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13041" y="2053691"/>
              <a:ext cx="4727448" cy="37947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308215" y="2048929"/>
              <a:ext cx="4737100" cy="3804285"/>
            </a:xfrm>
            <a:custGeom>
              <a:avLst/>
              <a:gdLst/>
              <a:ahLst/>
              <a:cxnLst/>
              <a:rect l="l" t="t" r="r" b="b"/>
              <a:pathLst>
                <a:path w="4737100" h="3804285">
                  <a:moveTo>
                    <a:pt x="0" y="3804285"/>
                  </a:moveTo>
                  <a:lnTo>
                    <a:pt x="4736973" y="3804285"/>
                  </a:lnTo>
                  <a:lnTo>
                    <a:pt x="4736973" y="0"/>
                  </a:lnTo>
                  <a:lnTo>
                    <a:pt x="0" y="0"/>
                  </a:lnTo>
                  <a:lnTo>
                    <a:pt x="0" y="380428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412863" y="5843422"/>
            <a:ext cx="44723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+mj-lt"/>
                <a:cs typeface="Arial MT"/>
              </a:rPr>
              <a:t>Mark Ciampa, CompTIA Security+ Guide to Network Security Fundamentals, 7th Edition. © 2022 Cengage. All Rights Reserved. May not be scanned, copied or duplicated, or posted to a publicly accessible website, in whole or in part.</a:t>
            </a:r>
            <a:endParaRPr sz="900">
              <a:latin typeface="+mj-l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8665209" y="6463913"/>
            <a:ext cx="1803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dirty="0">
                <a:latin typeface="+mj-lt"/>
              </a:rPr>
              <a:t>14</a:t>
            </a:fld>
            <a:endParaRPr dirty="0">
              <a:latin typeface="+mj-l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526" y="2023251"/>
            <a:ext cx="6396102" cy="35772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</a:tabLst>
            </a:pP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Primary weakness </a:t>
            </a:r>
            <a:r>
              <a:rPr sz="2200" dirty="0">
                <a:latin typeface="+mj-lt"/>
                <a:cs typeface="Arial MT"/>
              </a:rPr>
              <a:t>of symmetric algorithms: distributing and maintaining a secure single key among multiple users distributed geographically</a:t>
            </a:r>
          </a:p>
          <a:p>
            <a:pPr marL="299085" marR="342265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Asymmetric </a:t>
            </a:r>
            <a:r>
              <a:rPr sz="2200" dirty="0">
                <a:latin typeface="+mj-lt"/>
                <a:cs typeface="Arial MT"/>
              </a:rPr>
              <a:t>cryptographic algorithms use two mathematically related keys</a:t>
            </a:r>
          </a:p>
          <a:p>
            <a:pPr marL="756285" lvl="1" indent="-286385">
              <a:lnSpc>
                <a:spcPct val="100000"/>
              </a:lnSpc>
              <a:spcBef>
                <a:spcPts val="10"/>
              </a:spcBef>
              <a:buChar char="•"/>
              <a:tabLst>
                <a:tab pos="756285" algn="l"/>
              </a:tabLst>
            </a:pPr>
            <a:r>
              <a:rPr sz="2000" dirty="0">
                <a:latin typeface="+mj-lt"/>
                <a:cs typeface="Arial MT"/>
              </a:rPr>
              <a:t>Also known as </a:t>
            </a: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public key cryptography</a:t>
            </a:r>
            <a:endParaRPr sz="2000" dirty="0">
              <a:latin typeface="+mj-lt"/>
              <a:cs typeface="Arial MT"/>
            </a:endParaRPr>
          </a:p>
          <a:p>
            <a:pPr marL="756285" marR="461009" lvl="1" indent="-287020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Public key </a:t>
            </a:r>
            <a:r>
              <a:rPr sz="2000" dirty="0">
                <a:latin typeface="+mj-lt"/>
                <a:cs typeface="Arial MT"/>
              </a:rPr>
              <a:t>available to everyone and freely distributed</a:t>
            </a:r>
          </a:p>
          <a:p>
            <a:pPr marL="756285" marR="172085" lvl="1" indent="-287020">
              <a:lnSpc>
                <a:spcPct val="100000"/>
              </a:lnSpc>
              <a:buChar char="•"/>
              <a:tabLst>
                <a:tab pos="756285" algn="l"/>
              </a:tabLst>
            </a:pP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Private key </a:t>
            </a:r>
            <a:r>
              <a:rPr sz="2000" dirty="0">
                <a:latin typeface="+mj-lt"/>
                <a:cs typeface="Arial MT"/>
              </a:rPr>
              <a:t>known only to individual to whom it belongs</a:t>
            </a:r>
          </a:p>
          <a:p>
            <a:pPr marL="299085" indent="-286385">
              <a:lnSpc>
                <a:spcPts val="2635"/>
              </a:lnSpc>
              <a:buChar char="•"/>
              <a:tabLst>
                <a:tab pos="299085" algn="l"/>
              </a:tabLst>
            </a:pPr>
            <a:r>
              <a:rPr sz="2200" dirty="0">
                <a:latin typeface="+mj-lt"/>
                <a:cs typeface="Arial MT"/>
              </a:rPr>
              <a:t>Important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principles</a:t>
            </a:r>
            <a:endParaRPr sz="2200" dirty="0">
              <a:latin typeface="+mj-l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4394" y="5640425"/>
            <a:ext cx="5187950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Key pairs </a:t>
            </a:r>
            <a:r>
              <a:rPr sz="2000" dirty="0">
                <a:latin typeface="+mj-lt"/>
                <a:cs typeface="Arial MT"/>
              </a:rPr>
              <a:t>- Public key and Private key</a:t>
            </a:r>
            <a:endParaRPr sz="2000">
              <a:latin typeface="+mj-l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2000" dirty="0">
                <a:latin typeface="+mj-lt"/>
                <a:cs typeface="Arial MT"/>
              </a:rPr>
              <a:t>Both </a:t>
            </a: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directions </a:t>
            </a:r>
            <a:r>
              <a:rPr sz="2000" dirty="0">
                <a:latin typeface="+mj-lt"/>
                <a:cs typeface="Arial MT"/>
              </a:rPr>
              <a:t>- keys can work in both directions</a:t>
            </a:r>
            <a:endParaRPr sz="2000">
              <a:latin typeface="+mj-l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7376364" cy="1263551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1140"/>
              </a:spcBef>
            </a:pPr>
            <a:r>
              <a:rPr sz="4500" dirty="0">
                <a:latin typeface="+mj-lt"/>
              </a:rPr>
              <a:t>ASYMMETRIC CRYPTOGRAPHIC ALGORITHMS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800" y="2514600"/>
            <a:ext cx="5934330" cy="2721258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280"/>
              </a:spcBef>
            </a:pP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Digital Signature Algorithm </a:t>
            </a:r>
            <a:r>
              <a:rPr sz="2200" dirty="0">
                <a:latin typeface="+mj-lt"/>
                <a:cs typeface="Arial MT"/>
              </a:rPr>
              <a:t>(DSA)</a:t>
            </a:r>
            <a:endParaRPr lang="en-CA" sz="2200" dirty="0">
              <a:latin typeface="+mj-lt"/>
              <a:cs typeface="Arial MT"/>
            </a:endParaRPr>
          </a:p>
          <a:p>
            <a:pPr marL="355600" indent="-342900" algn="l">
              <a:lnSpc>
                <a:spcPct val="100000"/>
              </a:lnSpc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+mj-lt"/>
                <a:cs typeface="Arial MT"/>
              </a:rPr>
              <a:t>Creates a digital signature - an electronic</a:t>
            </a:r>
            <a:r>
              <a:rPr lang="en-CA" sz="2000" dirty="0">
                <a:latin typeface="+mj-lt"/>
                <a:cs typeface="Arial MT"/>
              </a:rPr>
              <a:t> </a:t>
            </a:r>
            <a:r>
              <a:rPr sz="2000" dirty="0">
                <a:latin typeface="+mj-lt"/>
                <a:cs typeface="Arial MT"/>
              </a:rPr>
              <a:t>verification of the sender</a:t>
            </a:r>
            <a:endParaRPr lang="en-CA" sz="2000" dirty="0">
              <a:latin typeface="+mj-lt"/>
              <a:cs typeface="Arial MT"/>
            </a:endParaRPr>
          </a:p>
          <a:p>
            <a:pPr marL="355600" indent="-342900" algn="l">
              <a:lnSpc>
                <a:spcPct val="100000"/>
              </a:lnSpc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lang="en-CA" sz="2000" dirty="0">
                <a:latin typeface="+mj-lt"/>
                <a:cs typeface="Arial MT"/>
              </a:rPr>
              <a:t>A digital signature can:</a:t>
            </a:r>
          </a:p>
          <a:p>
            <a:pPr marL="355600" lvl="6" indent="-342900" algn="l">
              <a:spcBef>
                <a:spcPts val="280"/>
              </a:spcBef>
              <a:buFont typeface="Wingdings" panose="05000000000000000000" pitchFamily="2" charset="2"/>
              <a:buChar char="Ø"/>
            </a:pP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Verify </a:t>
            </a:r>
            <a:r>
              <a:rPr sz="2000" dirty="0">
                <a:latin typeface="+mj-lt"/>
                <a:cs typeface="Arial MT"/>
              </a:rPr>
              <a:t>the sender</a:t>
            </a:r>
            <a:endParaRPr lang="en-CA" sz="2000" dirty="0">
              <a:latin typeface="+mj-lt"/>
              <a:cs typeface="Arial MT"/>
            </a:endParaRPr>
          </a:p>
          <a:p>
            <a:pPr marL="355600" lvl="6" indent="-342900" algn="l">
              <a:spcBef>
                <a:spcPts val="280"/>
              </a:spcBef>
              <a:buFont typeface="Wingdings" panose="05000000000000000000" pitchFamily="2" charset="2"/>
              <a:buChar char="Ø"/>
            </a:pPr>
            <a:r>
              <a:rPr lang="en-CA" sz="2000" dirty="0">
                <a:latin typeface="+mj-lt"/>
                <a:cs typeface="Arial MT"/>
              </a:rPr>
              <a:t>P</a:t>
            </a:r>
            <a:r>
              <a:rPr sz="2000" dirty="0" err="1">
                <a:latin typeface="+mj-lt"/>
                <a:cs typeface="Arial MT"/>
              </a:rPr>
              <a:t>revent</a:t>
            </a:r>
            <a:r>
              <a:rPr sz="2000" dirty="0">
                <a:latin typeface="+mj-lt"/>
                <a:cs typeface="Arial MT"/>
              </a:rPr>
              <a:t> sender from disowning the message –</a:t>
            </a: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nonrepudiation</a:t>
            </a:r>
            <a:endParaRPr lang="en-CA" sz="2000" dirty="0">
              <a:solidFill>
                <a:srgbClr val="0000FF"/>
              </a:solidFill>
              <a:latin typeface="+mj-lt"/>
              <a:cs typeface="Arial MT"/>
            </a:endParaRPr>
          </a:p>
          <a:p>
            <a:pPr marL="355600" lvl="6" indent="-342900" algn="l">
              <a:spcBef>
                <a:spcPts val="280"/>
              </a:spcBef>
              <a:buFont typeface="Wingdings" panose="05000000000000000000" pitchFamily="2" charset="2"/>
              <a:buChar char="Ø"/>
            </a:pPr>
            <a:r>
              <a:rPr sz="2000" dirty="0">
                <a:latin typeface="+mj-lt"/>
                <a:cs typeface="Arial MT"/>
              </a:rPr>
              <a:t>Prove message </a:t>
            </a: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integrity</a:t>
            </a:r>
            <a:endParaRPr sz="2000" dirty="0">
              <a:latin typeface="+mj-l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620192" y="1329258"/>
            <a:ext cx="5383530" cy="4463415"/>
            <a:chOff x="6620192" y="1329258"/>
            <a:chExt cx="5383530" cy="44634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9654" y="1338783"/>
              <a:ext cx="5364480" cy="444398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624955" y="1334020"/>
              <a:ext cx="5374005" cy="4453890"/>
            </a:xfrm>
            <a:custGeom>
              <a:avLst/>
              <a:gdLst/>
              <a:ahLst/>
              <a:cxnLst/>
              <a:rect l="l" t="t" r="r" b="b"/>
              <a:pathLst>
                <a:path w="5374005" h="4453890">
                  <a:moveTo>
                    <a:pt x="0" y="4453509"/>
                  </a:moveTo>
                  <a:lnTo>
                    <a:pt x="5374005" y="4453509"/>
                  </a:lnTo>
                  <a:lnTo>
                    <a:pt x="5374005" y="0"/>
                  </a:lnTo>
                  <a:lnTo>
                    <a:pt x="0" y="0"/>
                  </a:lnTo>
                  <a:lnTo>
                    <a:pt x="0" y="445350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586848" y="5031346"/>
            <a:ext cx="1243330" cy="22249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746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latin typeface="+mj-lt"/>
                <a:cs typeface="Arial MT"/>
              </a:rPr>
              <a:t>Bob’s public key</a:t>
            </a:r>
            <a:endParaRPr sz="1200">
              <a:latin typeface="+mj-l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8665209" y="6463913"/>
            <a:ext cx="1803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dirty="0">
                <a:latin typeface="+mj-lt"/>
              </a:rPr>
              <a:t>15</a:t>
            </a:fld>
            <a:endParaRPr dirty="0">
              <a:latin typeface="+mj-l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12991" y="5841898"/>
            <a:ext cx="4942840" cy="506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+mj-lt"/>
                <a:cs typeface="Arial MT"/>
              </a:rPr>
              <a:t>Mark Ciampa, CompTIA Security+ Guide to Network Security Fundamentals, 7th Edition. © 2022 Cengage. All Rights Reserved. May not be scanned, copied or duplicated, or posted to a publicly accessible website, in whole or in part.</a:t>
            </a:r>
            <a:endParaRPr sz="1050">
              <a:latin typeface="+mj-l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819" y="1947494"/>
            <a:ext cx="5243830" cy="393274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126364">
              <a:lnSpc>
                <a:spcPts val="2380"/>
              </a:lnSpc>
              <a:spcBef>
                <a:spcPts val="395"/>
              </a:spcBef>
            </a:pP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Key Exchange </a:t>
            </a:r>
            <a:r>
              <a:rPr sz="2200" dirty="0">
                <a:latin typeface="+mj-lt"/>
                <a:cs typeface="Arial MT"/>
              </a:rPr>
              <a:t>- Method in cryptography by which parties exchange cryptographic keys to be used for communication.</a:t>
            </a:r>
          </a:p>
          <a:p>
            <a:pPr marL="391795" marR="447675" indent="-342900">
              <a:lnSpc>
                <a:spcPts val="2160"/>
              </a:lnSpc>
              <a:spcBef>
                <a:spcPts val="405"/>
              </a:spcBef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Out-of-band </a:t>
            </a:r>
            <a:r>
              <a:rPr sz="2000" dirty="0">
                <a:latin typeface="+mj-lt"/>
                <a:cs typeface="Arial MT"/>
              </a:rPr>
              <a:t>– Using another means of communication than the one used to exchange ciphertexts.</a:t>
            </a:r>
            <a:endParaRPr lang="en-CA" sz="2000" dirty="0">
              <a:latin typeface="+mj-lt"/>
              <a:cs typeface="Arial MT"/>
            </a:endParaRPr>
          </a:p>
          <a:p>
            <a:pPr marL="391795" marR="447675" indent="-342900">
              <a:lnSpc>
                <a:spcPts val="2160"/>
              </a:lnSpc>
              <a:spcBef>
                <a:spcPts val="405"/>
              </a:spcBef>
              <a:buFont typeface="Arial" panose="020B0604020202020204" pitchFamily="34" charset="0"/>
              <a:buChar char="•"/>
            </a:pPr>
            <a:r>
              <a:rPr sz="2000" dirty="0">
                <a:latin typeface="+mj-lt"/>
                <a:cs typeface="Arial MT"/>
              </a:rPr>
              <a:t>There are different solutions for a key exchange that occurs within the normal communications channel (</a:t>
            </a:r>
            <a:r>
              <a:rPr sz="2000" dirty="0">
                <a:solidFill>
                  <a:srgbClr val="0000FF"/>
                </a:solidFill>
                <a:latin typeface="+mj-lt"/>
                <a:cs typeface="Arial MT"/>
              </a:rPr>
              <a:t>in-band</a:t>
            </a:r>
            <a:r>
              <a:rPr sz="2000" dirty="0">
                <a:latin typeface="+mj-lt"/>
                <a:cs typeface="Arial MT"/>
              </a:rPr>
              <a:t>) of cryptography</a:t>
            </a:r>
            <a:endParaRPr lang="en-CA" sz="2000" dirty="0">
              <a:latin typeface="+mj-lt"/>
              <a:cs typeface="Arial MT"/>
            </a:endParaRPr>
          </a:p>
          <a:p>
            <a:pPr marL="48895" marR="447675">
              <a:lnSpc>
                <a:spcPts val="2160"/>
              </a:lnSpc>
              <a:spcBef>
                <a:spcPts val="405"/>
              </a:spcBef>
            </a:pPr>
            <a:r>
              <a:rPr sz="1600" dirty="0">
                <a:latin typeface="+mj-lt"/>
                <a:cs typeface="Arial MT"/>
              </a:rPr>
              <a:t>Diffie-Hellman (DH), Diffie-Hellman Ephemeral (DHE), Elliptic Curve Diffie-Hellman (ECDH), Perfect forward secrecy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3177" y="1083780"/>
            <a:ext cx="5313726" cy="462817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53236" y="608838"/>
            <a:ext cx="7811973" cy="1263551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1140"/>
              </a:spcBef>
            </a:pPr>
            <a:r>
              <a:rPr sz="4500" dirty="0">
                <a:latin typeface="+mj-lt"/>
              </a:rPr>
              <a:t>ASYMMETRIC CRYPTOGRAPHIC ALGORITHMS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665209" y="6463913"/>
            <a:ext cx="1803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dirty="0">
                <a:latin typeface="+mj-lt"/>
              </a:rPr>
              <a:t>16</a:t>
            </a:fld>
            <a:endParaRPr dirty="0">
              <a:latin typeface="+mj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28431" y="5862624"/>
            <a:ext cx="2577465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  <a:hlinkClick r:id="rId3"/>
              </a:rPr>
              <a:t>This Photo</a:t>
            </a:r>
            <a:r>
              <a:rPr sz="9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</a:rPr>
              <a:t> </a:t>
            </a:r>
            <a:r>
              <a:rPr sz="900" dirty="0">
                <a:latin typeface="+mj-lt"/>
                <a:cs typeface="Arial MT"/>
              </a:rPr>
              <a:t>by Epachamo is licensed under </a:t>
            </a:r>
            <a:r>
              <a:rPr sz="90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  <a:hlinkClick r:id="rId4"/>
              </a:rPr>
              <a:t>CC BY-SA 4.0</a:t>
            </a:r>
            <a:endParaRPr sz="900">
              <a:latin typeface="+mj-l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3000" y="1023451"/>
            <a:ext cx="4408932" cy="5425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70636" y="1932855"/>
            <a:ext cx="9754235" cy="33591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2740" marR="590550" indent="-320040">
              <a:lnSpc>
                <a:spcPct val="100000"/>
              </a:lnSpc>
              <a:buClr>
                <a:srgbClr val="C19E67"/>
              </a:buClr>
              <a:buSzPct val="79687"/>
              <a:buFont typeface="Wingdings 2"/>
              <a:buChar char=""/>
              <a:tabLst>
                <a:tab pos="332740" algn="l"/>
              </a:tabLst>
            </a:pPr>
            <a:r>
              <a:rPr sz="3200" spc="-5" dirty="0">
                <a:latin typeface="Corbel"/>
                <a:cs typeface="Corbel"/>
              </a:rPr>
              <a:t>En</a:t>
            </a:r>
            <a:r>
              <a:rPr sz="3200" dirty="0">
                <a:latin typeface="Corbel"/>
                <a:cs typeface="Corbel"/>
              </a:rPr>
              <a:t>crypt</a:t>
            </a:r>
            <a:r>
              <a:rPr sz="3200" spc="-1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mess</a:t>
            </a:r>
            <a:r>
              <a:rPr sz="3200" spc="5" dirty="0">
                <a:latin typeface="Corbel"/>
                <a:cs typeface="Corbel"/>
              </a:rPr>
              <a:t>a</a:t>
            </a:r>
            <a:r>
              <a:rPr sz="3200" dirty="0">
                <a:latin typeface="Corbel"/>
                <a:cs typeface="Corbel"/>
              </a:rPr>
              <a:t>ge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using</a:t>
            </a:r>
            <a:r>
              <a:rPr sz="3200" spc="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conve</a:t>
            </a:r>
            <a:r>
              <a:rPr sz="3200" spc="10" dirty="0">
                <a:latin typeface="Corbel"/>
                <a:cs typeface="Corbel"/>
              </a:rPr>
              <a:t>n</a:t>
            </a:r>
            <a:r>
              <a:rPr sz="3200" spc="-5" dirty="0">
                <a:latin typeface="Corbel"/>
                <a:cs typeface="Corbel"/>
              </a:rPr>
              <a:t>tion</a:t>
            </a:r>
            <a:r>
              <a:rPr sz="3200" spc="10" dirty="0">
                <a:latin typeface="Corbel"/>
                <a:cs typeface="Corbel"/>
              </a:rPr>
              <a:t>a</a:t>
            </a:r>
            <a:r>
              <a:rPr sz="3200" dirty="0">
                <a:latin typeface="Corbel"/>
                <a:cs typeface="Corbel"/>
              </a:rPr>
              <a:t>l</a:t>
            </a:r>
            <a:r>
              <a:rPr sz="3200" spc="-4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en</a:t>
            </a:r>
            <a:r>
              <a:rPr sz="3200" spc="5" dirty="0">
                <a:latin typeface="Corbel"/>
                <a:cs typeface="Corbel"/>
              </a:rPr>
              <a:t>c</a:t>
            </a:r>
            <a:r>
              <a:rPr sz="3200" dirty="0">
                <a:latin typeface="Corbel"/>
                <a:cs typeface="Corbel"/>
              </a:rPr>
              <a:t>ryption</a:t>
            </a:r>
            <a:r>
              <a:rPr sz="3200" spc="-1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with </a:t>
            </a:r>
            <a:r>
              <a:rPr sz="3200" spc="-5" dirty="0">
                <a:latin typeface="Corbel"/>
                <a:cs typeface="Corbel"/>
              </a:rPr>
              <a:t>symmetri</a:t>
            </a:r>
            <a:r>
              <a:rPr sz="3200" dirty="0">
                <a:latin typeface="Corbel"/>
                <a:cs typeface="Corbel"/>
              </a:rPr>
              <a:t>c</a:t>
            </a:r>
            <a:r>
              <a:rPr sz="3200" spc="-15" dirty="0">
                <a:latin typeface="Corbel"/>
                <a:cs typeface="Corbel"/>
              </a:rPr>
              <a:t>-</a:t>
            </a:r>
            <a:r>
              <a:rPr sz="3200" spc="-65" dirty="0">
                <a:latin typeface="Corbel"/>
                <a:cs typeface="Corbel"/>
              </a:rPr>
              <a:t>k</a:t>
            </a:r>
            <a:r>
              <a:rPr sz="3200" spc="-15" dirty="0">
                <a:latin typeface="Corbel"/>
                <a:cs typeface="Corbel"/>
              </a:rPr>
              <a:t>e</a:t>
            </a:r>
            <a:r>
              <a:rPr sz="3200" dirty="0">
                <a:latin typeface="Corbel"/>
                <a:cs typeface="Corbel"/>
              </a:rPr>
              <a:t>y</a:t>
            </a:r>
            <a:endParaRPr sz="32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48"/>
              </a:spcBef>
              <a:buClr>
                <a:srgbClr val="C19E67"/>
              </a:buClr>
              <a:buFont typeface="Wingdings 2"/>
              <a:buChar char=""/>
            </a:pPr>
            <a:endParaRPr sz="33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C19E67"/>
              </a:buClr>
              <a:buSzPct val="79687"/>
              <a:buFont typeface="Wingdings 2"/>
              <a:buChar char=""/>
              <a:tabLst>
                <a:tab pos="332740" algn="l"/>
              </a:tabLst>
            </a:pPr>
            <a:r>
              <a:rPr sz="3200" spc="-5" dirty="0">
                <a:latin typeface="Corbel"/>
                <a:cs typeface="Corbel"/>
              </a:rPr>
              <a:t>En</a:t>
            </a:r>
            <a:r>
              <a:rPr sz="3200" dirty="0">
                <a:latin typeface="Corbel"/>
                <a:cs typeface="Corbel"/>
              </a:rPr>
              <a:t>crypt</a:t>
            </a:r>
            <a:r>
              <a:rPr sz="3200" spc="-1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th</a:t>
            </a:r>
            <a:r>
              <a:rPr sz="3200" dirty="0">
                <a:latin typeface="Corbel"/>
                <a:cs typeface="Corbel"/>
              </a:rPr>
              <a:t>e </a:t>
            </a:r>
            <a:r>
              <a:rPr sz="3200" spc="-5" dirty="0">
                <a:latin typeface="Corbel"/>
                <a:cs typeface="Corbel"/>
              </a:rPr>
              <a:t>symmetri</a:t>
            </a:r>
            <a:r>
              <a:rPr sz="3200" dirty="0">
                <a:latin typeface="Corbel"/>
                <a:cs typeface="Corbel"/>
              </a:rPr>
              <a:t>c</a:t>
            </a:r>
            <a:r>
              <a:rPr sz="3200" spc="-5" dirty="0">
                <a:latin typeface="Corbel"/>
                <a:cs typeface="Corbel"/>
              </a:rPr>
              <a:t> </a:t>
            </a:r>
            <a:r>
              <a:rPr sz="3200" spc="-60" dirty="0">
                <a:latin typeface="Corbel"/>
                <a:cs typeface="Corbel"/>
              </a:rPr>
              <a:t>k</a:t>
            </a:r>
            <a:r>
              <a:rPr sz="3200" dirty="0">
                <a:latin typeface="Corbel"/>
                <a:cs typeface="Corbel"/>
              </a:rPr>
              <a:t>ey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using</a:t>
            </a:r>
            <a:r>
              <a:rPr sz="3200" spc="5" dirty="0">
                <a:latin typeface="Corbel"/>
                <a:cs typeface="Corbel"/>
              </a:rPr>
              <a:t> </a:t>
            </a:r>
            <a:r>
              <a:rPr sz="3200" spc="-10" dirty="0">
                <a:latin typeface="Corbel"/>
                <a:cs typeface="Corbel"/>
              </a:rPr>
              <a:t>r</a:t>
            </a:r>
            <a:r>
              <a:rPr sz="3200" dirty="0">
                <a:latin typeface="Corbel"/>
                <a:cs typeface="Corbel"/>
              </a:rPr>
              <a:t>eci</a:t>
            </a:r>
            <a:r>
              <a:rPr sz="3200" spc="5" dirty="0">
                <a:latin typeface="Corbel"/>
                <a:cs typeface="Corbel"/>
              </a:rPr>
              <a:t>p</a:t>
            </a:r>
            <a:r>
              <a:rPr sz="3200" dirty="0">
                <a:latin typeface="Corbel"/>
                <a:cs typeface="Corbel"/>
              </a:rPr>
              <a:t>ien</a:t>
            </a:r>
            <a:r>
              <a:rPr sz="3200" spc="5" dirty="0">
                <a:latin typeface="Corbel"/>
                <a:cs typeface="Corbel"/>
              </a:rPr>
              <a:t>t</a:t>
            </a:r>
            <a:r>
              <a:rPr sz="3200" dirty="0">
                <a:latin typeface="Corbel"/>
                <a:cs typeface="Corbel"/>
              </a:rPr>
              <a:t>'s</a:t>
            </a:r>
            <a:r>
              <a:rPr sz="3200" spc="-4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public</a:t>
            </a:r>
            <a:r>
              <a:rPr sz="3200" spc="-5" dirty="0">
                <a:latin typeface="Corbel"/>
                <a:cs typeface="Corbel"/>
              </a:rPr>
              <a:t> </a:t>
            </a:r>
            <a:r>
              <a:rPr sz="3200" spc="-65" dirty="0">
                <a:latin typeface="Corbel"/>
                <a:cs typeface="Corbel"/>
              </a:rPr>
              <a:t>k</a:t>
            </a:r>
            <a:r>
              <a:rPr sz="3200" dirty="0">
                <a:latin typeface="Corbel"/>
                <a:cs typeface="Corbel"/>
              </a:rPr>
              <a:t>ey</a:t>
            </a:r>
            <a:endParaRPr sz="32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C19E67"/>
              </a:buClr>
              <a:buFont typeface="Wingdings 2"/>
              <a:buChar char=""/>
            </a:pPr>
            <a:endParaRPr sz="33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C19E67"/>
              </a:buClr>
              <a:buSzPct val="79687"/>
              <a:buFont typeface="Wingdings 2"/>
              <a:buChar char=""/>
              <a:tabLst>
                <a:tab pos="332740" algn="l"/>
              </a:tabLst>
            </a:pPr>
            <a:r>
              <a:rPr sz="3200" spc="-5" dirty="0">
                <a:latin typeface="Corbel"/>
                <a:cs typeface="Corbel"/>
              </a:rPr>
              <a:t>A</a:t>
            </a:r>
            <a:r>
              <a:rPr sz="3200" spc="5" dirty="0">
                <a:latin typeface="Corbel"/>
                <a:cs typeface="Corbel"/>
              </a:rPr>
              <a:t>t</a:t>
            </a:r>
            <a:r>
              <a:rPr sz="3200" spc="-5" dirty="0">
                <a:latin typeface="Corbel"/>
                <a:cs typeface="Corbel"/>
              </a:rPr>
              <a:t>ta</a:t>
            </a:r>
            <a:r>
              <a:rPr sz="3200" spc="5" dirty="0">
                <a:latin typeface="Corbel"/>
                <a:cs typeface="Corbel"/>
              </a:rPr>
              <a:t>c</a:t>
            </a:r>
            <a:r>
              <a:rPr sz="3200" dirty="0">
                <a:latin typeface="Corbel"/>
                <a:cs typeface="Corbel"/>
              </a:rPr>
              <a:t>h</a:t>
            </a:r>
            <a:r>
              <a:rPr sz="3200" spc="-3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en</a:t>
            </a:r>
            <a:r>
              <a:rPr sz="3200" spc="5" dirty="0">
                <a:latin typeface="Corbel"/>
                <a:cs typeface="Corbel"/>
              </a:rPr>
              <a:t>c</a:t>
            </a:r>
            <a:r>
              <a:rPr sz="3200" dirty="0">
                <a:latin typeface="Corbel"/>
                <a:cs typeface="Corbel"/>
              </a:rPr>
              <a:t>rypted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spc="-60" dirty="0">
                <a:latin typeface="Corbel"/>
                <a:cs typeface="Corbel"/>
              </a:rPr>
              <a:t>k</a:t>
            </a:r>
            <a:r>
              <a:rPr sz="3200" dirty="0">
                <a:latin typeface="Corbel"/>
                <a:cs typeface="Corbel"/>
              </a:rPr>
              <a:t>ey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t</a:t>
            </a:r>
            <a:r>
              <a:rPr sz="3200" dirty="0">
                <a:latin typeface="Corbel"/>
                <a:cs typeface="Corbel"/>
              </a:rPr>
              <a:t>o encrypted</a:t>
            </a:r>
            <a:r>
              <a:rPr sz="3200" spc="-20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mess</a:t>
            </a:r>
            <a:r>
              <a:rPr sz="3200" spc="5" dirty="0">
                <a:latin typeface="Corbel"/>
                <a:cs typeface="Corbel"/>
              </a:rPr>
              <a:t>a</a:t>
            </a:r>
            <a:r>
              <a:rPr sz="3200" dirty="0">
                <a:latin typeface="Corbel"/>
                <a:cs typeface="Corbel"/>
              </a:rPr>
              <a:t>ge</a:t>
            </a:r>
            <a:r>
              <a:rPr sz="3200" spc="-25" dirty="0">
                <a:latin typeface="Corbel"/>
                <a:cs typeface="Corbel"/>
              </a:rPr>
              <a:t> </a:t>
            </a:r>
            <a:r>
              <a:rPr sz="3200" dirty="0">
                <a:latin typeface="Corbel"/>
                <a:cs typeface="Corbel"/>
              </a:rPr>
              <a:t>a</a:t>
            </a:r>
            <a:r>
              <a:rPr sz="3200" spc="5" dirty="0">
                <a:latin typeface="Corbel"/>
                <a:cs typeface="Corbel"/>
              </a:rPr>
              <a:t>n</a:t>
            </a:r>
            <a:r>
              <a:rPr sz="3200" dirty="0">
                <a:latin typeface="Corbel"/>
                <a:cs typeface="Corbel"/>
              </a:rPr>
              <a:t>d</a:t>
            </a:r>
            <a:r>
              <a:rPr sz="3200" spc="-1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se</a:t>
            </a:r>
            <a:r>
              <a:rPr sz="3200" spc="10" dirty="0">
                <a:latin typeface="Corbel"/>
                <a:cs typeface="Corbel"/>
              </a:rPr>
              <a:t>n</a:t>
            </a:r>
            <a:r>
              <a:rPr sz="3200" dirty="0">
                <a:latin typeface="Corbel"/>
                <a:cs typeface="Corbel"/>
              </a:rPr>
              <a:t>d</a:t>
            </a:r>
            <a:r>
              <a:rPr sz="3200" spc="-15" dirty="0">
                <a:latin typeface="Corbel"/>
                <a:cs typeface="Corbel"/>
              </a:rPr>
              <a:t> </a:t>
            </a:r>
            <a:r>
              <a:rPr sz="3200" spc="-5" dirty="0">
                <a:latin typeface="Corbel"/>
                <a:cs typeface="Corbel"/>
              </a:rPr>
              <a:t>to</a:t>
            </a:r>
            <a:endParaRPr sz="3200">
              <a:latin typeface="Corbel"/>
              <a:cs typeface="Corbel"/>
            </a:endParaRPr>
          </a:p>
          <a:p>
            <a:pPr marL="332105">
              <a:lnSpc>
                <a:spcPct val="100000"/>
              </a:lnSpc>
            </a:pPr>
            <a:r>
              <a:rPr sz="3200" dirty="0">
                <a:latin typeface="Corbel"/>
                <a:cs typeface="Corbel"/>
              </a:rPr>
              <a:t>recipient</a:t>
            </a:r>
            <a:endParaRPr sz="3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0DC43-1565-4002-9D6F-CF55ACD0A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57199"/>
            <a:ext cx="10972800" cy="1252728"/>
          </a:xfrm>
        </p:spPr>
        <p:txBody>
          <a:bodyPr>
            <a:normAutofit fontScale="90000"/>
          </a:bodyPr>
          <a:lstStyle/>
          <a:p>
            <a:r>
              <a:rPr lang="en-US" dirty="0"/>
              <a:t>Combine Asymmetric and Symmetric - Hybrid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24AB3-7119-4646-9708-B14427FB7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5373216"/>
            <a:ext cx="10972800" cy="1027585"/>
          </a:xfrm>
        </p:spPr>
        <p:txBody>
          <a:bodyPr>
            <a:normAutofit/>
          </a:bodyPr>
          <a:lstStyle/>
          <a:p>
            <a:pPr marL="118872" indent="0">
              <a:buNone/>
            </a:pPr>
            <a:r>
              <a:rPr lang="en-US" dirty="0"/>
              <a:t>After the message is sent, the session key is discarded  and not reused.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5798E-4706-4DDE-BC65-21D296AB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6533" y="6476999"/>
            <a:ext cx="1021147" cy="274320"/>
          </a:xfrm>
          <a:prstGeom prst="rect">
            <a:avLst/>
          </a:prstGeom>
        </p:spPr>
        <p:txBody>
          <a:bodyPr vert="horz" bIns="0" rtlCol="0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tint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AE8EB9-66BB-41AC-AC43-D6139A5E9D03}" type="slidenum">
              <a:rPr lang="en-CA" smtClean="0"/>
              <a:pPr/>
              <a:t>18</a:t>
            </a:fld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95000"/>
                </a:prstClr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75A1DFE-E6C8-41AF-A191-3418F51AE412}"/>
              </a:ext>
            </a:extLst>
          </p:cNvPr>
          <p:cNvSpPr/>
          <p:nvPr/>
        </p:nvSpPr>
        <p:spPr>
          <a:xfrm>
            <a:off x="1717548" y="1842135"/>
            <a:ext cx="4378452" cy="31737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EC93B831-C860-471C-96CD-A52FD9177413}"/>
              </a:ext>
            </a:extLst>
          </p:cNvPr>
          <p:cNvSpPr/>
          <p:nvPr/>
        </p:nvSpPr>
        <p:spPr>
          <a:xfrm>
            <a:off x="6210300" y="1842135"/>
            <a:ext cx="4229100" cy="3086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37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516" y="609600"/>
            <a:ext cx="10287635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latin typeface="+mj-lt"/>
              </a:rPr>
              <a:t>USING CRYPTOGRAPHY - ENCRYPTION THROUGH 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665209" y="6463913"/>
            <a:ext cx="1803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dirty="0">
                <a:latin typeface="+mj-lt"/>
              </a:rPr>
              <a:t>19</a:t>
            </a:fld>
            <a:endParaRPr dirty="0">
              <a:latin typeface="+mj-l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76935" y="2133600"/>
            <a:ext cx="10438130" cy="2950808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350"/>
              </a:spcBef>
            </a:pPr>
            <a:r>
              <a:rPr dirty="0">
                <a:latin typeface="+mj-lt"/>
              </a:rPr>
              <a:t>File and File System Cryptography</a:t>
            </a:r>
          </a:p>
          <a:p>
            <a:pPr marL="330835" indent="-285750">
              <a:lnSpc>
                <a:spcPct val="10000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b="0" dirty="0">
                <a:latin typeface="+mj-lt"/>
                <a:cs typeface="Arial MT"/>
              </a:rPr>
              <a:t>Encryption software can be used to encrypt or decrypt files one-by-one (a cumbersome process)</a:t>
            </a:r>
            <a:endParaRPr lang="en-CA" sz="1800" dirty="0">
              <a:latin typeface="+mj-lt"/>
              <a:cs typeface="Arial MT"/>
            </a:endParaRPr>
          </a:p>
          <a:p>
            <a:pPr marL="330835" indent="-285750">
              <a:lnSpc>
                <a:spcPct val="10000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b="0" dirty="0">
                <a:latin typeface="+mj-lt"/>
                <a:cs typeface="Arial MT"/>
              </a:rPr>
              <a:t>Protecting groups of files can take advantage of the OS’s file system</a:t>
            </a:r>
            <a:endParaRPr lang="en-CA" sz="1800" dirty="0">
              <a:latin typeface="+mj-lt"/>
              <a:cs typeface="Arial MT"/>
            </a:endParaRPr>
          </a:p>
          <a:p>
            <a:pPr marL="330835" indent="-285750">
              <a:lnSpc>
                <a:spcPct val="10000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b="0" dirty="0">
                <a:solidFill>
                  <a:srgbClr val="C00000"/>
                </a:solidFill>
                <a:latin typeface="+mj-lt"/>
                <a:cs typeface="Arial MT"/>
              </a:rPr>
              <a:t>Third-party software </a:t>
            </a:r>
            <a:r>
              <a:rPr sz="1800" b="0" dirty="0">
                <a:latin typeface="+mj-lt"/>
                <a:cs typeface="Arial MT"/>
              </a:rPr>
              <a:t>tools available for encryption include GNU Privacy Guard (</a:t>
            </a:r>
            <a:r>
              <a:rPr sz="1800" b="0" dirty="0" err="1">
                <a:latin typeface="+mj-lt"/>
                <a:cs typeface="Arial MT"/>
              </a:rPr>
              <a:t>GNuPG</a:t>
            </a:r>
            <a:r>
              <a:rPr sz="1800" b="0" dirty="0">
                <a:latin typeface="+mj-lt"/>
                <a:cs typeface="Arial MT"/>
              </a:rPr>
              <a:t>)</a:t>
            </a:r>
            <a:r>
              <a:rPr lang="en-CA" sz="1800" b="0" dirty="0">
                <a:latin typeface="+mj-lt"/>
                <a:cs typeface="Arial MT"/>
              </a:rPr>
              <a:t>- encrypts files and emails</a:t>
            </a:r>
            <a:r>
              <a:rPr sz="1800" b="0" dirty="0">
                <a:latin typeface="+mj-lt"/>
                <a:cs typeface="Arial MT"/>
              </a:rPr>
              <a:t>, AxCrypt, Folder Lock, and VeraCrypt</a:t>
            </a:r>
            <a:endParaRPr lang="en-CA" sz="1800" dirty="0">
              <a:latin typeface="+mj-lt"/>
              <a:cs typeface="Arial MT"/>
            </a:endParaRPr>
          </a:p>
          <a:p>
            <a:pPr marL="330835" indent="-285750">
              <a:lnSpc>
                <a:spcPct val="10000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b="0" dirty="0">
                <a:solidFill>
                  <a:srgbClr val="C00000"/>
                </a:solidFill>
                <a:latin typeface="+mj-lt"/>
                <a:cs typeface="Arial MT"/>
              </a:rPr>
              <a:t>Operating System Encryption</a:t>
            </a:r>
            <a:endParaRPr sz="1800" dirty="0">
              <a:latin typeface="+mj-lt"/>
              <a:cs typeface="Arial MT"/>
            </a:endParaRPr>
          </a:p>
          <a:p>
            <a:pPr marL="227965">
              <a:lnSpc>
                <a:spcPct val="100000"/>
              </a:lnSpc>
              <a:spcBef>
                <a:spcPts val="450"/>
              </a:spcBef>
            </a:pPr>
            <a:r>
              <a:rPr sz="1400" b="0" dirty="0">
                <a:solidFill>
                  <a:srgbClr val="57B6C0"/>
                </a:solidFill>
                <a:latin typeface="+mj-lt"/>
                <a:cs typeface="Microsoft Sans Serif"/>
              </a:rPr>
              <a:t>🢝 </a:t>
            </a:r>
            <a:r>
              <a:rPr sz="1400" b="0" dirty="0">
                <a:latin typeface="+mj-lt"/>
                <a:cs typeface="Arial MT"/>
              </a:rPr>
              <a:t>Microsoft Windows Encrypting File System (EFS) is a cryptography system for Windows</a:t>
            </a:r>
            <a:endParaRPr sz="1400" dirty="0">
              <a:latin typeface="+mj-lt"/>
              <a:cs typeface="Arial MT"/>
            </a:endParaRPr>
          </a:p>
          <a:p>
            <a:pPr marL="227965">
              <a:lnSpc>
                <a:spcPct val="100000"/>
              </a:lnSpc>
              <a:spcBef>
                <a:spcPts val="430"/>
              </a:spcBef>
            </a:pPr>
            <a:r>
              <a:rPr sz="1400" b="0" dirty="0">
                <a:solidFill>
                  <a:srgbClr val="57B6C0"/>
                </a:solidFill>
                <a:latin typeface="+mj-lt"/>
                <a:cs typeface="Microsoft Sans Serif"/>
              </a:rPr>
              <a:t>🢝 </a:t>
            </a:r>
            <a:r>
              <a:rPr sz="1400" b="0" dirty="0">
                <a:latin typeface="+mj-lt"/>
                <a:cs typeface="Arial MT"/>
              </a:rPr>
              <a:t>EFS uses NTFS file system</a:t>
            </a:r>
            <a:endParaRPr sz="1400" dirty="0">
              <a:latin typeface="+mj-lt"/>
              <a:cs typeface="Arial MT"/>
            </a:endParaRPr>
          </a:p>
          <a:p>
            <a:pPr marL="227965">
              <a:lnSpc>
                <a:spcPct val="100000"/>
              </a:lnSpc>
              <a:spcBef>
                <a:spcPts val="430"/>
              </a:spcBef>
            </a:pPr>
            <a:r>
              <a:rPr sz="1400" b="0" dirty="0">
                <a:solidFill>
                  <a:srgbClr val="57B6C0"/>
                </a:solidFill>
                <a:latin typeface="+mj-lt"/>
                <a:cs typeface="Microsoft Sans Serif"/>
              </a:rPr>
              <a:t>🢝 </a:t>
            </a:r>
            <a:r>
              <a:rPr sz="1400" b="0" dirty="0">
                <a:latin typeface="+mj-lt"/>
                <a:cs typeface="Arial MT"/>
              </a:rPr>
              <a:t>Tightly integrated with the file system</a:t>
            </a:r>
            <a:endParaRPr sz="1400" dirty="0">
              <a:latin typeface="+mj-lt"/>
              <a:cs typeface="Arial MT"/>
            </a:endParaRPr>
          </a:p>
          <a:p>
            <a:pPr marL="227965">
              <a:lnSpc>
                <a:spcPct val="100000"/>
              </a:lnSpc>
              <a:spcBef>
                <a:spcPts val="434"/>
              </a:spcBef>
            </a:pPr>
            <a:r>
              <a:rPr sz="1400" b="0" dirty="0">
                <a:solidFill>
                  <a:srgbClr val="57B6C0"/>
                </a:solidFill>
                <a:latin typeface="+mj-lt"/>
                <a:cs typeface="Microsoft Sans Serif"/>
              </a:rPr>
              <a:t>🢝 </a:t>
            </a:r>
            <a:r>
              <a:rPr sz="1400" b="0" dirty="0">
                <a:latin typeface="+mj-lt"/>
                <a:cs typeface="Arial MT"/>
              </a:rPr>
              <a:t>Encryption and decryption are transparent to the user</a:t>
            </a:r>
            <a:endParaRPr sz="1400" dirty="0">
              <a:latin typeface="+mj-l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133" y="609600"/>
            <a:ext cx="10287635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latin typeface="+mj-lt"/>
              </a:rPr>
              <a:t>USING CRYPTOGRAPHY - ENCRYPTION THROUGH SOFTWARE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665209" y="6463913"/>
            <a:ext cx="1803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dirty="0">
                <a:latin typeface="+mj-lt"/>
              </a:rPr>
              <a:t>20</a:t>
            </a:fld>
            <a:endParaRPr dirty="0">
              <a:latin typeface="+mj-l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868886" y="3104717"/>
            <a:ext cx="10438130" cy="197361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350"/>
              </a:spcBef>
            </a:pPr>
            <a:r>
              <a:rPr dirty="0">
                <a:latin typeface="+mj-lt"/>
              </a:rPr>
              <a:t>Full Disk Encryption (FDE)</a:t>
            </a:r>
            <a:endParaRPr lang="en-CA" dirty="0">
              <a:latin typeface="+mj-lt"/>
            </a:endParaRPr>
          </a:p>
          <a:p>
            <a:pPr marL="294640" indent="-285750">
              <a:lnSpc>
                <a:spcPct val="100000"/>
              </a:lnSpc>
              <a:spcBef>
                <a:spcPts val="350"/>
              </a:spcBef>
              <a:buFont typeface="Arial" panose="020B0604020202020204" pitchFamily="34" charset="0"/>
              <a:buChar char="•"/>
            </a:pPr>
            <a:r>
              <a:rPr sz="1800" b="0" dirty="0">
                <a:latin typeface="+mj-lt"/>
                <a:cs typeface="Arial MT"/>
              </a:rPr>
              <a:t>FDE protects all data on a hard drive</a:t>
            </a:r>
            <a:endParaRPr lang="en-CA" sz="1800" dirty="0">
              <a:latin typeface="+mj-lt"/>
              <a:cs typeface="Arial MT"/>
            </a:endParaRPr>
          </a:p>
          <a:p>
            <a:pPr marL="294640" indent="-285750">
              <a:lnSpc>
                <a:spcPct val="100000"/>
              </a:lnSpc>
              <a:spcBef>
                <a:spcPts val="350"/>
              </a:spcBef>
              <a:buFont typeface="Arial" panose="020B0604020202020204" pitchFamily="34" charset="0"/>
              <a:buChar char="•"/>
            </a:pPr>
            <a:r>
              <a:rPr sz="1800" b="0" dirty="0">
                <a:latin typeface="+mj-lt"/>
                <a:cs typeface="Arial MT"/>
              </a:rPr>
              <a:t>Example: </a:t>
            </a:r>
            <a:r>
              <a:rPr sz="1800" b="0" dirty="0">
                <a:solidFill>
                  <a:srgbClr val="C00000"/>
                </a:solidFill>
                <a:latin typeface="+mj-lt"/>
                <a:cs typeface="Arial MT"/>
              </a:rPr>
              <a:t>BitLocker </a:t>
            </a:r>
            <a:r>
              <a:rPr sz="1800" b="0" dirty="0">
                <a:latin typeface="+mj-lt"/>
                <a:cs typeface="Arial MT"/>
              </a:rPr>
              <a:t>drive encryption software that is included in Microsoft Windows</a:t>
            </a:r>
            <a:endParaRPr lang="en-CA" sz="1800" dirty="0">
              <a:latin typeface="+mj-lt"/>
              <a:cs typeface="Arial MT"/>
            </a:endParaRPr>
          </a:p>
          <a:p>
            <a:pPr marL="294640" indent="-285750">
              <a:lnSpc>
                <a:spcPct val="100000"/>
              </a:lnSpc>
              <a:spcBef>
                <a:spcPts val="350"/>
              </a:spcBef>
              <a:buFont typeface="Arial" panose="020B0604020202020204" pitchFamily="34" charset="0"/>
              <a:buChar char="•"/>
            </a:pPr>
            <a:r>
              <a:rPr sz="1800" b="0" dirty="0">
                <a:latin typeface="+mj-lt"/>
                <a:cs typeface="Arial MT"/>
              </a:rPr>
              <a:t>BitLocker encrypts the entire </a:t>
            </a:r>
            <a:r>
              <a:rPr sz="1800" b="0" dirty="0">
                <a:solidFill>
                  <a:srgbClr val="0000FF"/>
                </a:solidFill>
                <a:latin typeface="+mj-lt"/>
                <a:cs typeface="Arial MT"/>
              </a:rPr>
              <a:t>system volume</a:t>
            </a:r>
            <a:r>
              <a:rPr sz="1800" b="0" dirty="0">
                <a:latin typeface="+mj-lt"/>
                <a:cs typeface="Arial MT"/>
              </a:rPr>
              <a:t>, including the Windows </a:t>
            </a:r>
            <a:r>
              <a:rPr sz="1800" b="0" dirty="0">
                <a:solidFill>
                  <a:srgbClr val="0000FF"/>
                </a:solidFill>
                <a:latin typeface="+mj-lt"/>
                <a:cs typeface="Arial MT"/>
              </a:rPr>
              <a:t>Registry</a:t>
            </a:r>
            <a:endParaRPr lang="en-CA" sz="1800" dirty="0">
              <a:latin typeface="+mj-lt"/>
              <a:cs typeface="Arial MT"/>
            </a:endParaRPr>
          </a:p>
          <a:p>
            <a:pPr marL="294640" indent="-285750">
              <a:lnSpc>
                <a:spcPct val="100000"/>
              </a:lnSpc>
              <a:spcBef>
                <a:spcPts val="350"/>
              </a:spcBef>
              <a:buFont typeface="Arial" panose="020B0604020202020204" pitchFamily="34" charset="0"/>
              <a:buChar char="•"/>
            </a:pPr>
            <a:r>
              <a:rPr sz="1800" b="0" dirty="0">
                <a:solidFill>
                  <a:srgbClr val="0000FF"/>
                </a:solidFill>
                <a:latin typeface="+mj-lt"/>
                <a:cs typeface="Arial MT"/>
              </a:rPr>
              <a:t>Prevents </a:t>
            </a:r>
            <a:r>
              <a:rPr sz="1800" b="0" dirty="0">
                <a:latin typeface="+mj-lt"/>
                <a:cs typeface="Arial MT"/>
              </a:rPr>
              <a:t>attackers from accessing data by booting from another OS or placing the hard drive in another computer</a:t>
            </a:r>
            <a:endParaRPr sz="1800" dirty="0">
              <a:latin typeface="+mj-l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565" y="609600"/>
            <a:ext cx="9497695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+mj-lt"/>
              </a:rPr>
              <a:t>USING CRYPTOGRAPHY - HARDWARE ENCRYPTION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665209" y="6463913"/>
            <a:ext cx="1803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dirty="0">
                <a:latin typeface="+mj-lt"/>
              </a:rPr>
              <a:t>21</a:t>
            </a:fld>
            <a:endParaRPr dirty="0">
              <a:latin typeface="+mj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9564" y="2514600"/>
            <a:ext cx="10825235" cy="15863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200"/>
              </a:lnSpc>
              <a:spcBef>
                <a:spcPts val="100"/>
              </a:spcBef>
            </a:pPr>
            <a:r>
              <a:rPr sz="2200" dirty="0">
                <a:latin typeface="+mj-lt"/>
                <a:cs typeface="Arial MT"/>
              </a:rPr>
              <a:t>Software encryption can be subject to attacks to exploit its vulnerabilities Cryptography can be </a:t>
            </a: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embedded </a:t>
            </a:r>
            <a:r>
              <a:rPr sz="2200" dirty="0">
                <a:latin typeface="+mj-lt"/>
                <a:cs typeface="Arial MT"/>
              </a:rPr>
              <a:t>in hardware</a:t>
            </a:r>
          </a:p>
          <a:p>
            <a:pPr marL="334645" indent="-285750">
              <a:lnSpc>
                <a:spcPct val="10000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Provides higher degree of security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ct val="10000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Can be applied to USB devices and standard hard drives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A9996-CABF-BEDB-BBC8-ABC4A1D85099}"/>
              </a:ext>
            </a:extLst>
          </p:cNvPr>
          <p:cNvSpPr txBox="1"/>
          <p:nvPr/>
        </p:nvSpPr>
        <p:spPr>
          <a:xfrm>
            <a:off x="1295400" y="4721893"/>
            <a:ext cx="6096000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895">
              <a:lnSpc>
                <a:spcPct val="100000"/>
              </a:lnSpc>
              <a:spcBef>
                <a:spcPts val="204"/>
              </a:spcBef>
            </a:pPr>
            <a:r>
              <a:rPr lang="en-US" sz="1800" dirty="0">
                <a:latin typeface="+mj-lt"/>
                <a:cs typeface="Arial MT"/>
              </a:rPr>
              <a:t>HELLO -&gt; HASH -&gt; </a:t>
            </a:r>
            <a:r>
              <a:rPr lang="en-US" sz="1800" dirty="0" err="1">
                <a:latin typeface="+mj-lt"/>
                <a:cs typeface="Arial MT"/>
              </a:rPr>
              <a:t>qwertyuiop</a:t>
            </a:r>
            <a:endParaRPr lang="en-US" sz="1800" dirty="0">
              <a:latin typeface="+mj-lt"/>
              <a:cs typeface="Arial MT"/>
            </a:endParaRPr>
          </a:p>
          <a:p>
            <a:pPr marL="48895">
              <a:lnSpc>
                <a:spcPct val="100000"/>
              </a:lnSpc>
              <a:spcBef>
                <a:spcPts val="204"/>
              </a:spcBef>
            </a:pPr>
            <a:r>
              <a:rPr lang="en-US" dirty="0">
                <a:latin typeface="+mj-lt"/>
                <a:cs typeface="Arial MT"/>
              </a:rPr>
              <a:t>Salt </a:t>
            </a:r>
            <a:r>
              <a:rPr lang="en-US" b="1" dirty="0">
                <a:latin typeface="+mj-lt"/>
                <a:cs typeface="Arial MT"/>
              </a:rPr>
              <a:t>A#B$C</a:t>
            </a:r>
            <a:r>
              <a:rPr lang="en-US" dirty="0">
                <a:latin typeface="+mj-lt"/>
                <a:cs typeface="Arial MT"/>
              </a:rPr>
              <a:t>:</a:t>
            </a:r>
            <a:br>
              <a:rPr lang="en-US" dirty="0">
                <a:latin typeface="+mj-lt"/>
                <a:cs typeface="Arial MT"/>
              </a:rPr>
            </a:br>
            <a:r>
              <a:rPr lang="en-US" b="1" dirty="0">
                <a:latin typeface="+mj-lt"/>
                <a:cs typeface="Arial MT"/>
              </a:rPr>
              <a:t>A#B$CHELLO -&gt; HASH -&gt; </a:t>
            </a:r>
            <a:r>
              <a:rPr lang="en-US" b="1" dirty="0" err="1">
                <a:latin typeface="+mj-lt"/>
                <a:cs typeface="Arial MT"/>
              </a:rPr>
              <a:t>pojhystrr</a:t>
            </a:r>
            <a:endParaRPr lang="en-US" dirty="0">
              <a:latin typeface="+mj-lt"/>
              <a:cs typeface="Arial MT"/>
            </a:endParaRPr>
          </a:p>
          <a:p>
            <a:pPr marL="48895">
              <a:lnSpc>
                <a:spcPct val="100000"/>
              </a:lnSpc>
              <a:spcBef>
                <a:spcPts val="204"/>
              </a:spcBef>
            </a:pPr>
            <a:endParaRPr lang="en-US" sz="1800" dirty="0">
              <a:latin typeface="+mj-l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0068" y="510966"/>
            <a:ext cx="9497695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+mj-lt"/>
              </a:rPr>
              <a:t>USING CRYPTOGRAPHY - HARDWARE ENCRYPTION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8665209" y="6463913"/>
            <a:ext cx="18034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25"/>
              </a:lnSpc>
            </a:pPr>
            <a:fld id="{81D60167-4931-47E6-BA6A-407CBD079E47}" type="slidenum">
              <a:rPr dirty="0">
                <a:latin typeface="+mj-lt"/>
              </a:rPr>
              <a:t>22</a:t>
            </a:fld>
            <a:endParaRPr dirty="0">
              <a:latin typeface="+mj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0068" y="2286000"/>
            <a:ext cx="10224770" cy="373126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USB device encryption</a:t>
            </a:r>
            <a:endParaRPr sz="2200" dirty="0">
              <a:latin typeface="+mj-lt"/>
              <a:cs typeface="Arial MT"/>
            </a:endParaRPr>
          </a:p>
          <a:p>
            <a:pPr marL="334645" indent="-285750">
              <a:lnSpc>
                <a:spcPct val="10000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Encrypted hardware-based flash drives can be used</a:t>
            </a:r>
            <a:endParaRPr lang="en-US" sz="1800" dirty="0">
              <a:latin typeface="+mj-lt"/>
              <a:cs typeface="Arial MT"/>
            </a:endParaRPr>
          </a:p>
          <a:p>
            <a:pPr marL="231775">
              <a:lnSpc>
                <a:spcPct val="100000"/>
              </a:lnSpc>
              <a:spcBef>
                <a:spcPts val="450"/>
              </a:spcBef>
            </a:pPr>
            <a:r>
              <a:rPr lang="en-CA" sz="1400" dirty="0">
                <a:solidFill>
                  <a:srgbClr val="57B6C0"/>
                </a:solidFill>
                <a:latin typeface="+mj-lt"/>
                <a:cs typeface="Microsoft Sans Serif"/>
              </a:rPr>
              <a:t>🢝 </a:t>
            </a:r>
            <a:r>
              <a:rPr lang="en-US" sz="1400" dirty="0">
                <a:latin typeface="+mj-lt"/>
                <a:cs typeface="Arial MT"/>
              </a:rPr>
              <a:t>Will not connect a computer until correct password has been provided</a:t>
            </a:r>
          </a:p>
          <a:p>
            <a:pPr marL="231775">
              <a:lnSpc>
                <a:spcPct val="100000"/>
              </a:lnSpc>
              <a:spcBef>
                <a:spcPts val="430"/>
              </a:spcBef>
            </a:pPr>
            <a:r>
              <a:rPr sz="1400" dirty="0">
                <a:solidFill>
                  <a:srgbClr val="57B6C0"/>
                </a:solidFill>
                <a:latin typeface="+mj-lt"/>
                <a:cs typeface="Microsoft Sans Serif"/>
              </a:rPr>
              <a:t>🢝 </a:t>
            </a:r>
            <a:r>
              <a:rPr sz="1400" dirty="0">
                <a:latin typeface="+mj-lt"/>
                <a:cs typeface="Arial MT"/>
              </a:rPr>
              <a:t>All data copied to the drive is automatically encrypted</a:t>
            </a:r>
          </a:p>
          <a:p>
            <a:pPr marL="231775">
              <a:lnSpc>
                <a:spcPct val="100000"/>
              </a:lnSpc>
              <a:spcBef>
                <a:spcPts val="434"/>
              </a:spcBef>
            </a:pPr>
            <a:r>
              <a:rPr sz="1400" dirty="0">
                <a:solidFill>
                  <a:srgbClr val="57B6C0"/>
                </a:solidFill>
                <a:latin typeface="+mj-lt"/>
                <a:cs typeface="Microsoft Sans Serif"/>
              </a:rPr>
              <a:t>🢝 </a:t>
            </a:r>
            <a:r>
              <a:rPr sz="1400" dirty="0">
                <a:latin typeface="+mj-lt"/>
                <a:cs typeface="Arial MT"/>
              </a:rPr>
              <a:t>Tamper-resistant external cases</a:t>
            </a:r>
          </a:p>
          <a:p>
            <a:pPr marL="231775">
              <a:lnSpc>
                <a:spcPct val="100000"/>
              </a:lnSpc>
              <a:spcBef>
                <a:spcPts val="434"/>
              </a:spcBef>
            </a:pPr>
            <a:r>
              <a:rPr sz="1400" dirty="0">
                <a:solidFill>
                  <a:srgbClr val="57B6C0"/>
                </a:solidFill>
                <a:latin typeface="+mj-lt"/>
                <a:cs typeface="Microsoft Sans Serif"/>
              </a:rPr>
              <a:t>🢝 </a:t>
            </a:r>
            <a:r>
              <a:rPr sz="1400" dirty="0">
                <a:latin typeface="+mj-lt"/>
                <a:cs typeface="Arial MT"/>
              </a:rPr>
              <a:t>Administrators can remotely control and track activity on the devices</a:t>
            </a:r>
          </a:p>
          <a:p>
            <a:pPr marL="231775">
              <a:lnSpc>
                <a:spcPct val="100000"/>
              </a:lnSpc>
              <a:spcBef>
                <a:spcPts val="430"/>
              </a:spcBef>
            </a:pPr>
            <a:r>
              <a:rPr sz="1400" dirty="0">
                <a:solidFill>
                  <a:srgbClr val="57B6C0"/>
                </a:solidFill>
                <a:latin typeface="+mj-lt"/>
                <a:cs typeface="Microsoft Sans Serif"/>
              </a:rPr>
              <a:t>🢝 </a:t>
            </a:r>
            <a:r>
              <a:rPr sz="1400" dirty="0">
                <a:latin typeface="+mj-lt"/>
                <a:cs typeface="Arial MT"/>
              </a:rPr>
              <a:t>Stolen drives can be remotely disabled</a:t>
            </a: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Self-Encrypting Drives </a:t>
            </a:r>
            <a:r>
              <a:rPr sz="2200" dirty="0">
                <a:latin typeface="+mj-lt"/>
                <a:cs typeface="Arial MT"/>
              </a:rPr>
              <a:t>(SEDs)</a:t>
            </a:r>
          </a:p>
          <a:p>
            <a:pPr marL="334645" indent="-285750">
              <a:lnSpc>
                <a:spcPct val="100000"/>
              </a:lnSpc>
              <a:spcBef>
                <a:spcPts val="209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Self-encrypting hard disk drives protect all files stored on them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ct val="100000"/>
              </a:lnSpc>
              <a:spcBef>
                <a:spcPts val="209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The drive and host device perform authentication process during initial power up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ct val="100000"/>
              </a:lnSpc>
              <a:spcBef>
                <a:spcPts val="209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If authentication fails, the drive can be configured to deny access or even delete encryption keys, so all data is permanently unreadable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04977"/>
            <a:ext cx="9497695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+mj-lt"/>
              </a:rPr>
              <a:t>USING CRYPTOGRAPHY - HARDWARE ENCRYPTION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5987" y="1943000"/>
            <a:ext cx="6333490" cy="4348626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Hardware Security Module </a:t>
            </a:r>
            <a:r>
              <a:rPr sz="2200" dirty="0">
                <a:latin typeface="+mj-lt"/>
                <a:cs typeface="Arial MT"/>
              </a:rPr>
              <a:t>(HSM)</a:t>
            </a:r>
          </a:p>
          <a:p>
            <a:pPr marL="334645" indent="-285750">
              <a:lnSpc>
                <a:spcPct val="10000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HSM is a removable external cryptographic device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ct val="10000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It includes an onboard key generator and key storage facility –</a:t>
            </a:r>
          </a:p>
          <a:p>
            <a:pPr marL="186055">
              <a:lnSpc>
                <a:spcPts val="2050"/>
              </a:lnSpc>
            </a:pPr>
            <a:r>
              <a:rPr sz="1800" dirty="0">
                <a:latin typeface="+mj-lt"/>
                <a:cs typeface="Arial MT"/>
              </a:rPr>
              <a:t>Malware cannot compromise it</a:t>
            </a:r>
            <a:endParaRPr lang="en-CA" sz="1800" dirty="0">
              <a:latin typeface="+mj-lt"/>
              <a:cs typeface="Arial MT"/>
            </a:endParaRPr>
          </a:p>
          <a:p>
            <a:pPr marL="186055">
              <a:lnSpc>
                <a:spcPts val="2050"/>
              </a:lnSpc>
            </a:pPr>
            <a:r>
              <a:rPr sz="1800" dirty="0">
                <a:latin typeface="+mj-lt"/>
                <a:cs typeface="Arial MT"/>
              </a:rPr>
              <a:t>Performs accelerated symmetric and asymmetric encryption</a:t>
            </a: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solidFill>
                  <a:srgbClr val="C00000"/>
                </a:solidFill>
                <a:latin typeface="+mj-lt"/>
                <a:cs typeface="Arial MT"/>
              </a:rPr>
              <a:t>Trusted Platform Module </a:t>
            </a:r>
            <a:r>
              <a:rPr sz="2200" dirty="0">
                <a:latin typeface="+mj-lt"/>
                <a:cs typeface="Arial MT"/>
              </a:rPr>
              <a:t>(TPM)</a:t>
            </a:r>
          </a:p>
          <a:p>
            <a:pPr marL="334645" indent="-285750">
              <a:lnSpc>
                <a:spcPts val="205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TPM is a chip on a computer’s motherboard that provides</a:t>
            </a:r>
            <a:r>
              <a:rPr lang="en-CA" sz="1800" dirty="0">
                <a:latin typeface="+mj-lt"/>
                <a:cs typeface="Arial MT"/>
              </a:rPr>
              <a:t> </a:t>
            </a:r>
            <a:r>
              <a:rPr sz="1800" dirty="0">
                <a:latin typeface="+mj-lt"/>
                <a:cs typeface="Arial MT"/>
              </a:rPr>
              <a:t>cryptographic services</a:t>
            </a:r>
            <a:endParaRPr lang="en-CA" dirty="0">
              <a:latin typeface="+mj-lt"/>
              <a:cs typeface="Arial MT"/>
            </a:endParaRPr>
          </a:p>
          <a:p>
            <a:pPr marL="334645" indent="-285750">
              <a:lnSpc>
                <a:spcPts val="205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Includes a true random number generator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ts val="205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Entirely done in hardware so it cannot be subject to software attack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ts val="205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Prevents computer from booting if files or data have been altered</a:t>
            </a:r>
            <a:endParaRPr lang="en-CA" sz="1800" dirty="0">
              <a:latin typeface="+mj-lt"/>
              <a:cs typeface="Arial MT"/>
            </a:endParaRPr>
          </a:p>
          <a:p>
            <a:pPr marL="334645" indent="-285750">
              <a:lnSpc>
                <a:spcPts val="2050"/>
              </a:lnSpc>
              <a:spcBef>
                <a:spcPts val="204"/>
              </a:spcBef>
              <a:buFont typeface="Arial" panose="020B0604020202020204" pitchFamily="34" charset="0"/>
              <a:buChar char="•"/>
            </a:pPr>
            <a:r>
              <a:rPr sz="1800" dirty="0">
                <a:latin typeface="+mj-lt"/>
                <a:cs typeface="Arial MT"/>
              </a:rPr>
              <a:t>Prompts for password if hard drive moved to a new computer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703309" y="6476613"/>
            <a:ext cx="91440" cy="2582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25"/>
              </a:lnSpc>
            </a:pPr>
            <a:r>
              <a:rPr sz="1000" dirty="0">
                <a:solidFill>
                  <a:srgbClr val="0D0D0D"/>
                </a:solidFill>
                <a:latin typeface="+mj-lt"/>
                <a:cs typeface="Trebuchet MS"/>
              </a:rPr>
              <a:t>24</a:t>
            </a:r>
            <a:endParaRPr sz="1000">
              <a:latin typeface="+mj-lt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19071" y="923353"/>
            <a:ext cx="3539490" cy="2366010"/>
            <a:chOff x="8319071" y="923353"/>
            <a:chExt cx="3539490" cy="236601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28659" y="932942"/>
              <a:ext cx="3520440" cy="23465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323833" y="928116"/>
              <a:ext cx="3529965" cy="2356485"/>
            </a:xfrm>
            <a:custGeom>
              <a:avLst/>
              <a:gdLst/>
              <a:ahLst/>
              <a:cxnLst/>
              <a:rect l="l" t="t" r="r" b="b"/>
              <a:pathLst>
                <a:path w="3529965" h="2356485">
                  <a:moveTo>
                    <a:pt x="0" y="2356104"/>
                  </a:moveTo>
                  <a:lnTo>
                    <a:pt x="3529964" y="2356104"/>
                  </a:lnTo>
                  <a:lnTo>
                    <a:pt x="3529964" y="0"/>
                  </a:lnTo>
                  <a:lnTo>
                    <a:pt x="0" y="0"/>
                  </a:lnTo>
                  <a:lnTo>
                    <a:pt x="0" y="235610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+mj-lt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584438" y="3336163"/>
            <a:ext cx="309435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+mj-lt"/>
                <a:cs typeface="Arial MT"/>
              </a:rPr>
              <a:t>This </a:t>
            </a:r>
            <a:r>
              <a:rPr sz="105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</a:rPr>
              <a:t>Photo</a:t>
            </a:r>
            <a:r>
              <a:rPr sz="1050" dirty="0">
                <a:solidFill>
                  <a:srgbClr val="6B9F24"/>
                </a:solidFill>
                <a:latin typeface="+mj-lt"/>
                <a:cs typeface="Arial MT"/>
              </a:rPr>
              <a:t> </a:t>
            </a:r>
            <a:r>
              <a:rPr sz="1050" dirty="0">
                <a:latin typeface="+mj-lt"/>
                <a:cs typeface="Arial MT"/>
              </a:rPr>
              <a:t>by Alexander Klink is licensed under </a:t>
            </a:r>
            <a:r>
              <a:rPr sz="105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  <a:hlinkClick r:id="rId3"/>
              </a:rPr>
              <a:t>CC BY 3.0</a:t>
            </a:r>
            <a:endParaRPr sz="1050">
              <a:latin typeface="+mj-l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98180" y="3624834"/>
            <a:ext cx="3526408" cy="299694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87536" y="6554825"/>
            <a:ext cx="3086735" cy="3366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  <a:hlinkClick r:id="rId5"/>
              </a:rPr>
              <a:t>This Photo</a:t>
            </a:r>
            <a:r>
              <a:rPr sz="1050" dirty="0">
                <a:solidFill>
                  <a:srgbClr val="6B9F24"/>
                </a:solidFill>
                <a:latin typeface="+mj-lt"/>
                <a:cs typeface="Arial MT"/>
              </a:rPr>
              <a:t> </a:t>
            </a:r>
            <a:r>
              <a:rPr sz="1050" dirty="0">
                <a:latin typeface="+mj-lt"/>
                <a:cs typeface="Arial MT"/>
              </a:rPr>
              <a:t>by Unknown Author is licensed under </a:t>
            </a:r>
            <a:r>
              <a:rPr sz="1050" u="sng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+mj-lt"/>
                <a:cs typeface="Arial MT"/>
                <a:hlinkClick r:id="rId6"/>
              </a:rPr>
              <a:t>CC BY-SA</a:t>
            </a:r>
            <a:endParaRPr sz="1050">
              <a:latin typeface="+mj-l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7866" y="2979242"/>
            <a:ext cx="2635250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400" dirty="0">
                <a:solidFill>
                  <a:srgbClr val="000000"/>
                </a:solidFill>
                <a:latin typeface="Arial"/>
                <a:cs typeface="Arial"/>
              </a:rPr>
              <a:t>Questions?</a:t>
            </a:r>
            <a:br>
              <a:rPr lang="en-CA" sz="4400" b="1" spc="-400" dirty="0">
                <a:solidFill>
                  <a:srgbClr val="000000"/>
                </a:solidFill>
                <a:latin typeface="Arial"/>
                <a:cs typeface="Arial"/>
              </a:rPr>
            </a:br>
            <a:br>
              <a:rPr lang="en-CA" sz="4400" b="1" spc="-400" dirty="0">
                <a:solidFill>
                  <a:srgbClr val="000000"/>
                </a:solidFill>
                <a:latin typeface="Arial"/>
                <a:cs typeface="Arial"/>
              </a:rPr>
            </a:br>
            <a:endParaRPr sz="4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90609" y="6442049"/>
            <a:ext cx="11683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50" dirty="0">
                <a:solidFill>
                  <a:srgbClr val="0D0D0D"/>
                </a:solidFill>
                <a:latin typeface="Trebuchet MS"/>
                <a:cs typeface="Trebuchet MS"/>
              </a:rPr>
              <a:t>25</a:t>
            </a:r>
            <a:endParaRPr sz="1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1560</TotalTime>
  <Words>1790</Words>
  <Application>Microsoft Office PowerPoint</Application>
  <PresentationFormat>Widescreen</PresentationFormat>
  <Paragraphs>271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Arial</vt:lpstr>
      <vt:lpstr>Cambria</vt:lpstr>
      <vt:lpstr>Corbel</vt:lpstr>
      <vt:lpstr>Times New Roman</vt:lpstr>
      <vt:lpstr>Trebuchet MS</vt:lpstr>
      <vt:lpstr>Wingdings</vt:lpstr>
      <vt:lpstr>Wingdings 2</vt:lpstr>
      <vt:lpstr>Office Theme</vt:lpstr>
      <vt:lpstr> Basic Cryptography </vt:lpstr>
      <vt:lpstr>REFERENCES AND ACKNOWLEDGEMENT</vt:lpstr>
      <vt:lpstr>LECTURE OUTLINE</vt:lpstr>
      <vt:lpstr>WHAT IS CRYPTOGRAPHY?</vt:lpstr>
      <vt:lpstr>WHAT IS CRYPTOGRAPHY?</vt:lpstr>
      <vt:lpstr>WHAT IS CRYPTOGRAPHY?</vt:lpstr>
      <vt:lpstr>WHY USE CRYPTOGRAPHY?</vt:lpstr>
      <vt:lpstr>Cryptography - Example</vt:lpstr>
      <vt:lpstr>LIMITATIONS OF CRYPTOGRAPHY</vt:lpstr>
      <vt:lpstr>KNOWLEDGE CHECK</vt:lpstr>
      <vt:lpstr>CRYPTOGRAPHIC ALGORITHMS</vt:lpstr>
      <vt:lpstr>HASH ALGORITHMS</vt:lpstr>
      <vt:lpstr>SYMMETRIC CRYPTOGRAPHIC ALGORITHMS</vt:lpstr>
      <vt:lpstr>ASYMMETRIC CRYPTOGRAPHIC ALGORITHMS</vt:lpstr>
      <vt:lpstr>ASYMMETRIC CRYPTOGRAPHIC ALGORITHMS</vt:lpstr>
      <vt:lpstr>ASYMMETRIC CRYPTOGRAPHIC ALGORITHMS</vt:lpstr>
      <vt:lpstr>PowerPoint Presentation</vt:lpstr>
      <vt:lpstr>Combine Asymmetric and Symmetric - Hybrid </vt:lpstr>
      <vt:lpstr>USING CRYPTOGRAPHY - ENCRYPTION THROUGH SOFTWARE</vt:lpstr>
      <vt:lpstr>USING CRYPTOGRAPHY - ENCRYPTION THROUGH SOFTWARE</vt:lpstr>
      <vt:lpstr>USING CRYPTOGRAPHY - HARDWARE ENCRYPTION</vt:lpstr>
      <vt:lpstr>USING CRYPTOGRAPHY - HARDWARE ENCRYPTION</vt:lpstr>
      <vt:lpstr>USING CRYPTOGRAPHY - HARDWARE ENCRYPTION</vt:lpstr>
      <vt:lpstr>Questions?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 Hassan</dc:creator>
  <cp:lastModifiedBy>Pawan Soobhri</cp:lastModifiedBy>
  <cp:revision>41</cp:revision>
  <dcterms:created xsi:type="dcterms:W3CDTF">2025-01-27T22:54:52Z</dcterms:created>
  <dcterms:modified xsi:type="dcterms:W3CDTF">2025-01-29T00:59:02Z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2025-01-27T00:00:00Z</vt:filetime>
  </property>
  <property fmtid="{D5CDD505-2E9C-101B-9397-08002B2CF9AE}" pid="5" name="Producer">
    <vt:lpwstr>Microsoft® PowerPoint® for Microsoft 365</vt:lpwstr>
  </property>
</Properties>
</file>