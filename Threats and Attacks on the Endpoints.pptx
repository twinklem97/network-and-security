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94" r:id="rId13"/>
    <p:sldId id="268" r:id="rId14"/>
    <p:sldId id="269" r:id="rId15"/>
    <p:sldId id="270" r:id="rId16"/>
    <p:sldId id="271" r:id="rId17"/>
    <p:sldId id="295"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5" r:id="rId31"/>
    <p:sldId id="287" r:id="rId32"/>
    <p:sldId id="289" r:id="rId33"/>
    <p:sldId id="290" r:id="rId34"/>
    <p:sldId id="291" r:id="rId35"/>
    <p:sldId id="292" r:id="rId36"/>
    <p:sldId id="293" r:id="rId3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03172" y="829818"/>
            <a:ext cx="3261360" cy="788035"/>
          </a:xfrm>
          <a:prstGeom prst="rect">
            <a:avLst/>
          </a:prstGeom>
        </p:spPr>
        <p:txBody>
          <a:bodyPr wrap="square" lIns="0" tIns="0" rIns="0" bIns="0">
            <a:spAutoFit/>
          </a:bodyPr>
          <a:lstStyle>
            <a:lvl1pPr>
              <a:defRPr sz="5000" b="0" i="0" spc="0" baseline="0">
                <a:solidFill>
                  <a:srgbClr val="0D0D0D"/>
                </a:solidFill>
                <a:latin typeface="+mj-lt"/>
                <a:cs typeface="Trebuchet MS"/>
              </a:defRPr>
            </a:lvl1pPr>
          </a:lstStyle>
          <a:p>
            <a:endParaRPr dirty="0"/>
          </a:p>
        </p:txBody>
      </p:sp>
      <p:sp>
        <p:nvSpPr>
          <p:cNvPr id="3" name="Holder 3"/>
          <p:cNvSpPr>
            <a:spLocks noGrp="1"/>
          </p:cNvSpPr>
          <p:nvPr>
            <p:ph type="subTitle" idx="4"/>
          </p:nvPr>
        </p:nvSpPr>
        <p:spPr>
          <a:xfrm>
            <a:off x="1828800" y="3840480"/>
            <a:ext cx="8534400" cy="369332"/>
          </a:xfrm>
          <a:prstGeom prst="rect">
            <a:avLst/>
          </a:prstGeom>
        </p:spPr>
        <p:txBody>
          <a:bodyPr wrap="square" lIns="0" tIns="0" rIns="0" bIns="0">
            <a:spAutoFit/>
          </a:bodyPr>
          <a:lstStyle>
            <a:lvl1pPr>
              <a:defRPr sz="2400" b="0" i="0" spc="0" baseline="0">
                <a:solidFill>
                  <a:schemeClr val="tx1"/>
                </a:solidFill>
                <a:latin typeface="+mj-lt"/>
                <a:cs typeface="Arial MT"/>
              </a:defRPr>
            </a:lvl1pPr>
          </a:lstStyle>
          <a:p>
            <a:endParaRPr/>
          </a:p>
        </p:txBody>
      </p:sp>
      <p:sp>
        <p:nvSpPr>
          <p:cNvPr id="4" name="Holder 4"/>
          <p:cNvSpPr>
            <a:spLocks noGrp="1"/>
          </p:cNvSpPr>
          <p:nvPr>
            <p:ph type="ftr" sz="quarter" idx="5"/>
          </p:nvPr>
        </p:nvSpPr>
        <p:spPr>
          <a:xfrm>
            <a:off x="10198989" y="6533103"/>
            <a:ext cx="466725" cy="282129"/>
          </a:xfrm>
        </p:spPr>
        <p:txBody>
          <a:bodyPr lIns="0" tIns="0" rIns="0" bIns="0"/>
          <a:lstStyle>
            <a:lvl1pPr>
              <a:defRPr sz="1000" b="0" i="0" spc="0" baseline="0">
                <a:solidFill>
                  <a:srgbClr val="0D0D0D"/>
                </a:solidFill>
                <a:latin typeface="+mj-lt"/>
                <a:cs typeface="Trebuchet MS"/>
              </a:defRPr>
            </a:lvl1pPr>
          </a:lstStyle>
          <a:p>
            <a:pPr marL="12700">
              <a:lnSpc>
                <a:spcPts val="1125"/>
              </a:lnSpc>
            </a:pPr>
            <a:r>
              <a:rPr lang="en-CA"/>
              <a:t>ALI HASSAN</a:t>
            </a:r>
            <a:endParaRPr lang="en-CA" dirty="0"/>
          </a:p>
        </p:txBody>
      </p:sp>
      <p:sp>
        <p:nvSpPr>
          <p:cNvPr id="5" name="Holder 5"/>
          <p:cNvSpPr>
            <a:spLocks noGrp="1"/>
          </p:cNvSpPr>
          <p:nvPr>
            <p:ph type="dt" sz="half" idx="6"/>
          </p:nvPr>
        </p:nvSpPr>
        <p:spPr>
          <a:xfrm>
            <a:off x="609600" y="6377940"/>
            <a:ext cx="2804160" cy="276999"/>
          </a:xfrm>
        </p:spPr>
        <p:txBody>
          <a:bodyPr lIns="0" tIns="0" rIns="0" bIns="0"/>
          <a:lstStyle>
            <a:lvl1pPr algn="l">
              <a:defRPr spc="0" baseline="0">
                <a:solidFill>
                  <a:schemeClr val="tx1">
                    <a:tint val="75000"/>
                  </a:schemeClr>
                </a:solidFill>
                <a:latin typeface="+mj-lt"/>
              </a:defRPr>
            </a:lvl1pPr>
          </a:lstStyle>
          <a:p>
            <a:fld id="{1D8BD707-D9CF-40AE-B4C6-C98DA3205C09}" type="datetimeFigureOut">
              <a:rPr lang="en-US" smtClean="0"/>
              <a:pPr/>
              <a:t>1/12/2025</a:t>
            </a:fld>
            <a:endParaRPr lang="en-US"/>
          </a:p>
        </p:txBody>
      </p:sp>
      <p:sp>
        <p:nvSpPr>
          <p:cNvPr id="6" name="Holder 6"/>
          <p:cNvSpPr>
            <a:spLocks noGrp="1"/>
          </p:cNvSpPr>
          <p:nvPr>
            <p:ph type="sldNum" sz="quarter" idx="7"/>
          </p:nvPr>
        </p:nvSpPr>
        <p:spPr>
          <a:xfrm>
            <a:off x="10892028" y="6523635"/>
            <a:ext cx="229234" cy="153888"/>
          </a:xfrm>
        </p:spPr>
        <p:txBody>
          <a:bodyPr lIns="0" tIns="0" rIns="0" bIns="0"/>
          <a:lstStyle>
            <a:lvl1pPr>
              <a:defRPr sz="1000" b="0" i="0" spc="0" baseline="0">
                <a:solidFill>
                  <a:srgbClr val="0D0D0D"/>
                </a:solidFill>
                <a:latin typeface="+mj-lt"/>
                <a:cs typeface="Trebuchet MS"/>
              </a:defRPr>
            </a:lvl1pPr>
          </a:lstStyle>
          <a:p>
            <a:pPr marL="38100">
              <a:spcBef>
                <a:spcPts val="45"/>
              </a:spcBef>
            </a:pPr>
            <a:fld id="{81D60167-4931-47E6-BA6A-407CBD079E47}" type="slidenum">
              <a:rPr lang="en-CA" smtClean="0">
                <a:cs typeface="Cambria"/>
              </a:rPr>
              <a:pPr marL="38100">
                <a:spcBef>
                  <a:spcPts val="45"/>
                </a:spcBef>
              </a:pPr>
              <a:t>‹#›</a:t>
            </a:fld>
            <a:endParaRPr lang="en-CA" dirty="0">
              <a:cs typeface="Cambri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spc="0" baseline="0">
                <a:solidFill>
                  <a:srgbClr val="0D0D0D"/>
                </a:solidFill>
                <a:latin typeface="+mj-lt"/>
                <a:cs typeface="Trebuchet MS"/>
              </a:defRPr>
            </a:lvl1pPr>
          </a:lstStyle>
          <a:p>
            <a:endParaRPr dirty="0"/>
          </a:p>
        </p:txBody>
      </p:sp>
      <p:sp>
        <p:nvSpPr>
          <p:cNvPr id="3" name="Holder 3"/>
          <p:cNvSpPr>
            <a:spLocks noGrp="1"/>
          </p:cNvSpPr>
          <p:nvPr>
            <p:ph type="body" idx="1"/>
          </p:nvPr>
        </p:nvSpPr>
        <p:spPr/>
        <p:txBody>
          <a:bodyPr lIns="0" tIns="0" rIns="0" bIns="0"/>
          <a:lstStyle>
            <a:lvl1pPr>
              <a:defRPr sz="2400" b="0" i="0" spc="0" baseline="0">
                <a:solidFill>
                  <a:schemeClr val="tx1"/>
                </a:solidFill>
                <a:latin typeface="+mj-lt"/>
                <a:cs typeface="Arial MT"/>
              </a:defRPr>
            </a:lvl1pPr>
          </a:lstStyle>
          <a:p>
            <a:endParaRPr/>
          </a:p>
        </p:txBody>
      </p:sp>
      <p:sp>
        <p:nvSpPr>
          <p:cNvPr id="4" name="Holder 4"/>
          <p:cNvSpPr>
            <a:spLocks noGrp="1"/>
          </p:cNvSpPr>
          <p:nvPr>
            <p:ph type="ftr" sz="quarter" idx="5"/>
          </p:nvPr>
        </p:nvSpPr>
        <p:spPr>
          <a:xfrm>
            <a:off x="10198989" y="6533103"/>
            <a:ext cx="466725" cy="282129"/>
          </a:xfrm>
        </p:spPr>
        <p:txBody>
          <a:bodyPr lIns="0" tIns="0" rIns="0" bIns="0"/>
          <a:lstStyle>
            <a:lvl1pPr>
              <a:defRPr sz="1000" b="0" i="0" spc="0" baseline="0">
                <a:solidFill>
                  <a:srgbClr val="0D0D0D"/>
                </a:solidFill>
                <a:latin typeface="+mj-lt"/>
                <a:cs typeface="Trebuchet MS"/>
              </a:defRPr>
            </a:lvl1pPr>
          </a:lstStyle>
          <a:p>
            <a:pPr marL="12700">
              <a:lnSpc>
                <a:spcPts val="1125"/>
              </a:lnSpc>
            </a:pPr>
            <a:r>
              <a:rPr lang="en-CA"/>
              <a:t>ALI HASSAN</a:t>
            </a:r>
            <a:endParaRPr lang="en-CA" dirty="0"/>
          </a:p>
        </p:txBody>
      </p:sp>
      <p:sp>
        <p:nvSpPr>
          <p:cNvPr id="5" name="Holder 5"/>
          <p:cNvSpPr>
            <a:spLocks noGrp="1"/>
          </p:cNvSpPr>
          <p:nvPr>
            <p:ph type="dt" sz="half" idx="6"/>
          </p:nvPr>
        </p:nvSpPr>
        <p:spPr>
          <a:xfrm>
            <a:off x="609600" y="6377940"/>
            <a:ext cx="2804160" cy="276999"/>
          </a:xfrm>
        </p:spPr>
        <p:txBody>
          <a:bodyPr lIns="0" tIns="0" rIns="0" bIns="0"/>
          <a:lstStyle>
            <a:lvl1pPr algn="l">
              <a:defRPr spc="0" baseline="0">
                <a:solidFill>
                  <a:schemeClr val="tx1">
                    <a:tint val="75000"/>
                  </a:schemeClr>
                </a:solidFill>
                <a:latin typeface="+mj-lt"/>
              </a:defRPr>
            </a:lvl1pPr>
          </a:lstStyle>
          <a:p>
            <a:fld id="{1D8BD707-D9CF-40AE-B4C6-C98DA3205C09}" type="datetimeFigureOut">
              <a:rPr lang="en-US" smtClean="0"/>
              <a:pPr/>
              <a:t>1/12/2025</a:t>
            </a:fld>
            <a:endParaRPr lang="en-US"/>
          </a:p>
        </p:txBody>
      </p:sp>
      <p:sp>
        <p:nvSpPr>
          <p:cNvPr id="6" name="Holder 6"/>
          <p:cNvSpPr>
            <a:spLocks noGrp="1"/>
          </p:cNvSpPr>
          <p:nvPr>
            <p:ph type="sldNum" sz="quarter" idx="7"/>
          </p:nvPr>
        </p:nvSpPr>
        <p:spPr>
          <a:xfrm>
            <a:off x="10892028" y="6523635"/>
            <a:ext cx="229234" cy="153888"/>
          </a:xfrm>
        </p:spPr>
        <p:txBody>
          <a:bodyPr lIns="0" tIns="0" rIns="0" bIns="0"/>
          <a:lstStyle>
            <a:lvl1pPr>
              <a:defRPr sz="1000" b="0" i="0" spc="0" baseline="0">
                <a:solidFill>
                  <a:srgbClr val="0D0D0D"/>
                </a:solidFill>
                <a:latin typeface="+mj-lt"/>
                <a:cs typeface="Trebuchet MS"/>
              </a:defRPr>
            </a:lvl1pPr>
          </a:lstStyle>
          <a:p>
            <a:pPr marL="38100">
              <a:spcBef>
                <a:spcPts val="45"/>
              </a:spcBef>
            </a:pPr>
            <a:fld id="{81D60167-4931-47E6-BA6A-407CBD079E47}" type="slidenum">
              <a:rPr lang="en-CA" smtClean="0">
                <a:cs typeface="Cambria"/>
              </a:rPr>
              <a:pPr marL="38100">
                <a:spcBef>
                  <a:spcPts val="45"/>
                </a:spcBef>
              </a:pPr>
              <a:t>‹#›</a:t>
            </a:fld>
            <a:endParaRPr lang="en-CA" dirty="0">
              <a:cs typeface="Cambri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spc="0" baseline="0">
                <a:solidFill>
                  <a:srgbClr val="0D0D0D"/>
                </a:solidFill>
                <a:latin typeface="+mj-lt"/>
                <a:cs typeface="Trebuchet MS"/>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spc="0" baseline="0">
                <a:latin typeface="+mj-lt"/>
              </a:defRPr>
            </a:lvl1pPr>
          </a:lstStyle>
          <a:p>
            <a:endParaRPr dirty="0"/>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spc="0" baseline="0">
                <a:latin typeface="+mj-lt"/>
              </a:defRPr>
            </a:lvl1pPr>
          </a:lstStyle>
          <a:p>
            <a:endParaRPr/>
          </a:p>
        </p:txBody>
      </p:sp>
      <p:sp>
        <p:nvSpPr>
          <p:cNvPr id="5" name="Holder 5"/>
          <p:cNvSpPr>
            <a:spLocks noGrp="1"/>
          </p:cNvSpPr>
          <p:nvPr>
            <p:ph type="ftr" sz="quarter" idx="5"/>
          </p:nvPr>
        </p:nvSpPr>
        <p:spPr>
          <a:xfrm>
            <a:off x="10198989" y="6533103"/>
            <a:ext cx="466725" cy="282129"/>
          </a:xfrm>
        </p:spPr>
        <p:txBody>
          <a:bodyPr lIns="0" tIns="0" rIns="0" bIns="0"/>
          <a:lstStyle>
            <a:lvl1pPr>
              <a:defRPr sz="1000" b="0" i="0" spc="0" baseline="0">
                <a:solidFill>
                  <a:srgbClr val="0D0D0D"/>
                </a:solidFill>
                <a:latin typeface="+mj-lt"/>
                <a:cs typeface="Trebuchet MS"/>
              </a:defRPr>
            </a:lvl1pPr>
          </a:lstStyle>
          <a:p>
            <a:pPr marL="12700">
              <a:lnSpc>
                <a:spcPts val="1125"/>
              </a:lnSpc>
            </a:pPr>
            <a:r>
              <a:rPr lang="en-CA"/>
              <a:t>ALI HASSAN</a:t>
            </a:r>
            <a:endParaRPr lang="en-CA" dirty="0"/>
          </a:p>
        </p:txBody>
      </p:sp>
      <p:sp>
        <p:nvSpPr>
          <p:cNvPr id="6" name="Holder 6"/>
          <p:cNvSpPr>
            <a:spLocks noGrp="1"/>
          </p:cNvSpPr>
          <p:nvPr>
            <p:ph type="dt" sz="half" idx="6"/>
          </p:nvPr>
        </p:nvSpPr>
        <p:spPr>
          <a:xfrm>
            <a:off x="609600" y="6377940"/>
            <a:ext cx="2804160" cy="276999"/>
          </a:xfrm>
        </p:spPr>
        <p:txBody>
          <a:bodyPr lIns="0" tIns="0" rIns="0" bIns="0"/>
          <a:lstStyle>
            <a:lvl1pPr algn="l">
              <a:defRPr spc="0" baseline="0">
                <a:solidFill>
                  <a:schemeClr val="tx1">
                    <a:tint val="75000"/>
                  </a:schemeClr>
                </a:solidFill>
                <a:latin typeface="+mj-lt"/>
              </a:defRPr>
            </a:lvl1pPr>
          </a:lstStyle>
          <a:p>
            <a:fld id="{1D8BD707-D9CF-40AE-B4C6-C98DA3205C09}" type="datetimeFigureOut">
              <a:rPr lang="en-US" smtClean="0"/>
              <a:pPr/>
              <a:t>1/12/2025</a:t>
            </a:fld>
            <a:endParaRPr lang="en-US"/>
          </a:p>
        </p:txBody>
      </p:sp>
      <p:sp>
        <p:nvSpPr>
          <p:cNvPr id="7" name="Holder 7"/>
          <p:cNvSpPr>
            <a:spLocks noGrp="1"/>
          </p:cNvSpPr>
          <p:nvPr>
            <p:ph type="sldNum" sz="quarter" idx="7"/>
          </p:nvPr>
        </p:nvSpPr>
        <p:spPr>
          <a:xfrm>
            <a:off x="10892028" y="6523635"/>
            <a:ext cx="229234" cy="153888"/>
          </a:xfrm>
        </p:spPr>
        <p:txBody>
          <a:bodyPr lIns="0" tIns="0" rIns="0" bIns="0"/>
          <a:lstStyle>
            <a:lvl1pPr>
              <a:defRPr sz="1000" b="0" i="0" spc="0" baseline="0">
                <a:solidFill>
                  <a:srgbClr val="0D0D0D"/>
                </a:solidFill>
                <a:latin typeface="+mj-lt"/>
                <a:cs typeface="Trebuchet MS"/>
              </a:defRPr>
            </a:lvl1pPr>
          </a:lstStyle>
          <a:p>
            <a:pPr marL="38100">
              <a:spcBef>
                <a:spcPts val="45"/>
              </a:spcBef>
            </a:pPr>
            <a:fld id="{81D60167-4931-47E6-BA6A-407CBD079E47}" type="slidenum">
              <a:rPr lang="en-CA" smtClean="0">
                <a:cs typeface="Cambria"/>
              </a:rPr>
              <a:pPr marL="38100">
                <a:spcBef>
                  <a:spcPts val="45"/>
                </a:spcBef>
              </a:pPr>
              <a:t>‹#›</a:t>
            </a:fld>
            <a:endParaRPr lang="en-CA" dirty="0">
              <a:cs typeface="Cambr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spc="0" baseline="0">
                <a:solidFill>
                  <a:srgbClr val="0D0D0D"/>
                </a:solidFill>
                <a:latin typeface="+mj-lt"/>
                <a:cs typeface="Trebuchet MS"/>
              </a:defRPr>
            </a:lvl1pPr>
          </a:lstStyle>
          <a:p>
            <a:endParaRPr/>
          </a:p>
        </p:txBody>
      </p:sp>
      <p:sp>
        <p:nvSpPr>
          <p:cNvPr id="3" name="Holder 3"/>
          <p:cNvSpPr>
            <a:spLocks noGrp="1"/>
          </p:cNvSpPr>
          <p:nvPr>
            <p:ph type="ftr" sz="quarter" idx="5"/>
          </p:nvPr>
        </p:nvSpPr>
        <p:spPr>
          <a:xfrm>
            <a:off x="10198989" y="6533103"/>
            <a:ext cx="466725" cy="282129"/>
          </a:xfrm>
        </p:spPr>
        <p:txBody>
          <a:bodyPr lIns="0" tIns="0" rIns="0" bIns="0"/>
          <a:lstStyle>
            <a:lvl1pPr>
              <a:defRPr sz="1000" b="0" i="0" spc="0" baseline="0">
                <a:solidFill>
                  <a:srgbClr val="0D0D0D"/>
                </a:solidFill>
                <a:latin typeface="+mj-lt"/>
                <a:cs typeface="Trebuchet MS"/>
              </a:defRPr>
            </a:lvl1pPr>
          </a:lstStyle>
          <a:p>
            <a:pPr marL="12700">
              <a:lnSpc>
                <a:spcPts val="1125"/>
              </a:lnSpc>
            </a:pPr>
            <a:r>
              <a:rPr lang="en-CA"/>
              <a:t>ALI HASSAN</a:t>
            </a:r>
            <a:endParaRPr lang="en-CA" dirty="0"/>
          </a:p>
        </p:txBody>
      </p:sp>
      <p:sp>
        <p:nvSpPr>
          <p:cNvPr id="4" name="Holder 4"/>
          <p:cNvSpPr>
            <a:spLocks noGrp="1"/>
          </p:cNvSpPr>
          <p:nvPr>
            <p:ph type="dt" sz="half" idx="6"/>
          </p:nvPr>
        </p:nvSpPr>
        <p:spPr>
          <a:xfrm>
            <a:off x="609600" y="6377940"/>
            <a:ext cx="2804160" cy="276999"/>
          </a:xfrm>
        </p:spPr>
        <p:txBody>
          <a:bodyPr lIns="0" tIns="0" rIns="0" bIns="0"/>
          <a:lstStyle>
            <a:lvl1pPr algn="l">
              <a:defRPr spc="0" baseline="0">
                <a:solidFill>
                  <a:schemeClr val="tx1">
                    <a:tint val="75000"/>
                  </a:schemeClr>
                </a:solidFill>
                <a:latin typeface="+mj-lt"/>
              </a:defRPr>
            </a:lvl1pPr>
          </a:lstStyle>
          <a:p>
            <a:fld id="{1D8BD707-D9CF-40AE-B4C6-C98DA3205C09}" type="datetimeFigureOut">
              <a:rPr lang="en-US" smtClean="0"/>
              <a:pPr/>
              <a:t>1/12/2025</a:t>
            </a:fld>
            <a:endParaRPr lang="en-US"/>
          </a:p>
        </p:txBody>
      </p:sp>
      <p:sp>
        <p:nvSpPr>
          <p:cNvPr id="5" name="Holder 5"/>
          <p:cNvSpPr>
            <a:spLocks noGrp="1"/>
          </p:cNvSpPr>
          <p:nvPr>
            <p:ph type="sldNum" sz="quarter" idx="7"/>
          </p:nvPr>
        </p:nvSpPr>
        <p:spPr>
          <a:xfrm>
            <a:off x="10892028" y="6523635"/>
            <a:ext cx="229234" cy="153888"/>
          </a:xfrm>
        </p:spPr>
        <p:txBody>
          <a:bodyPr lIns="0" tIns="0" rIns="0" bIns="0"/>
          <a:lstStyle>
            <a:lvl1pPr>
              <a:defRPr sz="1000" b="0" i="0" spc="0" baseline="0">
                <a:solidFill>
                  <a:srgbClr val="0D0D0D"/>
                </a:solidFill>
                <a:latin typeface="+mj-lt"/>
                <a:cs typeface="Trebuchet MS"/>
              </a:defRPr>
            </a:lvl1pPr>
          </a:lstStyle>
          <a:p>
            <a:pPr marL="38100">
              <a:spcBef>
                <a:spcPts val="45"/>
              </a:spcBef>
            </a:pPr>
            <a:fld id="{81D60167-4931-47E6-BA6A-407CBD079E47}" type="slidenum">
              <a:rPr lang="en-CA" smtClean="0">
                <a:cs typeface="Cambria"/>
              </a:rPr>
              <a:pPr marL="38100">
                <a:spcBef>
                  <a:spcPts val="45"/>
                </a:spcBef>
              </a:pPr>
              <a:t>‹#›</a:t>
            </a:fld>
            <a:endParaRPr lang="en-CA" dirty="0">
              <a:cs typeface="Cambri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10198989" y="6533103"/>
            <a:ext cx="466725" cy="282129"/>
          </a:xfrm>
        </p:spPr>
        <p:txBody>
          <a:bodyPr lIns="0" tIns="0" rIns="0" bIns="0"/>
          <a:lstStyle>
            <a:lvl1pPr>
              <a:defRPr sz="1000" b="0" i="0" spc="0" baseline="0">
                <a:solidFill>
                  <a:srgbClr val="0D0D0D"/>
                </a:solidFill>
                <a:latin typeface="+mj-lt"/>
                <a:cs typeface="Trebuchet MS"/>
              </a:defRPr>
            </a:lvl1pPr>
          </a:lstStyle>
          <a:p>
            <a:pPr marL="12700">
              <a:lnSpc>
                <a:spcPts val="1125"/>
              </a:lnSpc>
            </a:pPr>
            <a:r>
              <a:rPr lang="en-CA"/>
              <a:t>ALI HASSAN</a:t>
            </a:r>
            <a:endParaRPr lang="en-CA" dirty="0"/>
          </a:p>
        </p:txBody>
      </p:sp>
      <p:sp>
        <p:nvSpPr>
          <p:cNvPr id="3" name="Holder 3"/>
          <p:cNvSpPr>
            <a:spLocks noGrp="1"/>
          </p:cNvSpPr>
          <p:nvPr>
            <p:ph type="dt" sz="half" idx="6"/>
          </p:nvPr>
        </p:nvSpPr>
        <p:spPr>
          <a:xfrm>
            <a:off x="609600" y="6377940"/>
            <a:ext cx="2804160" cy="276999"/>
          </a:xfrm>
        </p:spPr>
        <p:txBody>
          <a:bodyPr lIns="0" tIns="0" rIns="0" bIns="0"/>
          <a:lstStyle>
            <a:lvl1pPr algn="l">
              <a:defRPr spc="0" baseline="0">
                <a:solidFill>
                  <a:schemeClr val="tx1">
                    <a:tint val="75000"/>
                  </a:schemeClr>
                </a:solidFill>
                <a:latin typeface="+mj-lt"/>
              </a:defRPr>
            </a:lvl1pPr>
          </a:lstStyle>
          <a:p>
            <a:fld id="{1D8BD707-D9CF-40AE-B4C6-C98DA3205C09}" type="datetimeFigureOut">
              <a:rPr lang="en-US" smtClean="0"/>
              <a:pPr/>
              <a:t>1/12/2025</a:t>
            </a:fld>
            <a:endParaRPr lang="en-US"/>
          </a:p>
        </p:txBody>
      </p:sp>
      <p:sp>
        <p:nvSpPr>
          <p:cNvPr id="4" name="Holder 4"/>
          <p:cNvSpPr>
            <a:spLocks noGrp="1"/>
          </p:cNvSpPr>
          <p:nvPr>
            <p:ph type="sldNum" sz="quarter" idx="7"/>
          </p:nvPr>
        </p:nvSpPr>
        <p:spPr>
          <a:xfrm>
            <a:off x="10892028" y="6523635"/>
            <a:ext cx="229234" cy="153888"/>
          </a:xfrm>
        </p:spPr>
        <p:txBody>
          <a:bodyPr lIns="0" tIns="0" rIns="0" bIns="0"/>
          <a:lstStyle>
            <a:lvl1pPr>
              <a:defRPr sz="1000" b="0" i="0" spc="0" baseline="0">
                <a:solidFill>
                  <a:srgbClr val="0D0D0D"/>
                </a:solidFill>
                <a:latin typeface="+mj-lt"/>
                <a:cs typeface="Trebuchet MS"/>
              </a:defRPr>
            </a:lvl1pPr>
          </a:lstStyle>
          <a:p>
            <a:pPr marL="38100">
              <a:spcBef>
                <a:spcPts val="45"/>
              </a:spcBef>
            </a:pPr>
            <a:fld id="{81D60167-4931-47E6-BA6A-407CBD079E47}" type="slidenum">
              <a:rPr lang="en-CA" smtClean="0">
                <a:cs typeface="Cambria"/>
              </a:rPr>
              <a:pPr marL="38100">
                <a:spcBef>
                  <a:spcPts val="45"/>
                </a:spcBef>
              </a:pPr>
              <a:t>‹#›</a:t>
            </a:fld>
            <a:endParaRPr lang="en-CA" dirty="0">
              <a:cs typeface="Cambria"/>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62762" y="826770"/>
            <a:ext cx="0" cy="914400"/>
          </a:xfrm>
          <a:custGeom>
            <a:avLst/>
            <a:gdLst/>
            <a:ahLst/>
            <a:cxnLst/>
            <a:rect l="l" t="t" r="r" b="b"/>
            <a:pathLst>
              <a:path h="914400">
                <a:moveTo>
                  <a:pt x="0" y="914400"/>
                </a:moveTo>
                <a:lnTo>
                  <a:pt x="0" y="0"/>
                </a:lnTo>
              </a:path>
            </a:pathLst>
          </a:custGeom>
          <a:ln w="19050">
            <a:solidFill>
              <a:srgbClr val="1CACE3"/>
            </a:solidFill>
          </a:ln>
        </p:spPr>
        <p:txBody>
          <a:bodyPr wrap="square" lIns="0" tIns="0" rIns="0" bIns="0" rtlCol="0"/>
          <a:lstStyle/>
          <a:p>
            <a:endParaRPr/>
          </a:p>
        </p:txBody>
      </p:sp>
      <p:sp>
        <p:nvSpPr>
          <p:cNvPr id="17" name="bg object 17"/>
          <p:cNvSpPr/>
          <p:nvPr/>
        </p:nvSpPr>
        <p:spPr>
          <a:xfrm>
            <a:off x="72390" y="72390"/>
            <a:ext cx="12024360" cy="6696709"/>
          </a:xfrm>
          <a:custGeom>
            <a:avLst/>
            <a:gdLst/>
            <a:ahLst/>
            <a:cxnLst/>
            <a:rect l="l" t="t" r="r" b="b"/>
            <a:pathLst>
              <a:path w="12024360" h="6696709">
                <a:moveTo>
                  <a:pt x="0" y="6696456"/>
                </a:moveTo>
                <a:lnTo>
                  <a:pt x="12024360" y="6696456"/>
                </a:lnTo>
                <a:lnTo>
                  <a:pt x="12024360" y="0"/>
                </a:lnTo>
                <a:lnTo>
                  <a:pt x="0" y="0"/>
                </a:lnTo>
                <a:lnTo>
                  <a:pt x="0" y="6696456"/>
                </a:lnTo>
                <a:close/>
              </a:path>
            </a:pathLst>
          </a:custGeom>
          <a:ln w="50800">
            <a:solidFill>
              <a:srgbClr val="585858"/>
            </a:solidFill>
          </a:ln>
        </p:spPr>
        <p:txBody>
          <a:bodyPr wrap="square" lIns="0" tIns="0" rIns="0" bIns="0" rtlCol="0"/>
          <a:lstStyle/>
          <a:p>
            <a:endParaRPr/>
          </a:p>
        </p:txBody>
      </p:sp>
      <p:sp>
        <p:nvSpPr>
          <p:cNvPr id="2" name="Holder 2"/>
          <p:cNvSpPr>
            <a:spLocks noGrp="1"/>
          </p:cNvSpPr>
          <p:nvPr>
            <p:ph type="title"/>
          </p:nvPr>
        </p:nvSpPr>
        <p:spPr>
          <a:xfrm>
            <a:off x="1103172" y="525018"/>
            <a:ext cx="9348470" cy="769441"/>
          </a:xfrm>
          <a:prstGeom prst="rect">
            <a:avLst/>
          </a:prstGeom>
        </p:spPr>
        <p:txBody>
          <a:bodyPr wrap="square" lIns="0" tIns="0" rIns="0" bIns="0">
            <a:spAutoFit/>
          </a:bodyPr>
          <a:lstStyle>
            <a:lvl1pPr>
              <a:defRPr sz="5000" b="0" i="0">
                <a:solidFill>
                  <a:srgbClr val="0D0D0D"/>
                </a:solidFill>
                <a:latin typeface="Trebuchet MS"/>
                <a:cs typeface="Trebuchet MS"/>
              </a:defRPr>
            </a:lvl1pPr>
          </a:lstStyle>
          <a:p>
            <a:endParaRPr dirty="0"/>
          </a:p>
        </p:txBody>
      </p:sp>
      <p:sp>
        <p:nvSpPr>
          <p:cNvPr id="3" name="Holder 3"/>
          <p:cNvSpPr>
            <a:spLocks noGrp="1"/>
          </p:cNvSpPr>
          <p:nvPr>
            <p:ph type="body" idx="1"/>
          </p:nvPr>
        </p:nvSpPr>
        <p:spPr>
          <a:xfrm>
            <a:off x="1148892" y="2069718"/>
            <a:ext cx="9534525" cy="369332"/>
          </a:xfrm>
          <a:prstGeom prst="rect">
            <a:avLst/>
          </a:prstGeom>
        </p:spPr>
        <p:txBody>
          <a:bodyPr wrap="square" lIns="0" tIns="0" rIns="0" bIns="0">
            <a:spAutoFit/>
          </a:bodyPr>
          <a:lstStyle>
            <a:lvl1pPr>
              <a:defRPr sz="2400" b="0" i="0">
                <a:solidFill>
                  <a:schemeClr val="tx1"/>
                </a:solidFill>
                <a:latin typeface="Arial MT"/>
                <a:cs typeface="Arial MT"/>
              </a:defRPr>
            </a:lvl1pPr>
          </a:lstStyle>
          <a:p>
            <a:endParaRPr dirty="0"/>
          </a:p>
        </p:txBody>
      </p:sp>
      <p:sp>
        <p:nvSpPr>
          <p:cNvPr id="4" name="Holder 4"/>
          <p:cNvSpPr>
            <a:spLocks noGrp="1"/>
          </p:cNvSpPr>
          <p:nvPr>
            <p:ph type="ftr" sz="quarter" idx="5"/>
          </p:nvPr>
        </p:nvSpPr>
        <p:spPr>
          <a:xfrm>
            <a:off x="10198989" y="6533103"/>
            <a:ext cx="466725" cy="160654"/>
          </a:xfrm>
          <a:prstGeom prst="rect">
            <a:avLst/>
          </a:prstGeom>
        </p:spPr>
        <p:txBody>
          <a:bodyPr wrap="square" lIns="0" tIns="0" rIns="0" bIns="0">
            <a:spAutoFit/>
          </a:bodyPr>
          <a:lstStyle>
            <a:lvl1pPr>
              <a:defRPr sz="1000" b="0" i="0">
                <a:solidFill>
                  <a:srgbClr val="0D0D0D"/>
                </a:solidFill>
                <a:latin typeface="Trebuchet MS"/>
                <a:cs typeface="Trebuchet MS"/>
              </a:defRPr>
            </a:lvl1pPr>
          </a:lstStyle>
          <a:p>
            <a:pPr marL="12700">
              <a:lnSpc>
                <a:spcPts val="1125"/>
              </a:lnSpc>
            </a:pPr>
            <a:r>
              <a:rPr spc="-150" dirty="0"/>
              <a:t>ALI</a:t>
            </a:r>
            <a:r>
              <a:rPr spc="-95" dirty="0"/>
              <a:t> </a:t>
            </a:r>
            <a:r>
              <a:rPr spc="-180" dirty="0"/>
              <a:t>HASSAN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1/12/2025</a:t>
            </a:fld>
            <a:endParaRPr lang="en-US"/>
          </a:p>
        </p:txBody>
      </p:sp>
      <p:sp>
        <p:nvSpPr>
          <p:cNvPr id="6" name="Holder 6"/>
          <p:cNvSpPr>
            <a:spLocks noGrp="1"/>
          </p:cNvSpPr>
          <p:nvPr>
            <p:ph type="sldNum" sz="quarter" idx="7"/>
          </p:nvPr>
        </p:nvSpPr>
        <p:spPr>
          <a:xfrm>
            <a:off x="10892028" y="6523635"/>
            <a:ext cx="229234" cy="173990"/>
          </a:xfrm>
          <a:prstGeom prst="rect">
            <a:avLst/>
          </a:prstGeom>
        </p:spPr>
        <p:txBody>
          <a:bodyPr wrap="square" lIns="0" tIns="0" rIns="0" bIns="0">
            <a:spAutoFit/>
          </a:bodyPr>
          <a:lstStyle>
            <a:lvl1pPr>
              <a:defRPr sz="1000" b="0" i="0">
                <a:solidFill>
                  <a:srgbClr val="0D0D0D"/>
                </a:solidFill>
                <a:latin typeface="Trebuchet MS"/>
                <a:cs typeface="Trebuchet MS"/>
              </a:defRPr>
            </a:lvl1pPr>
          </a:lstStyle>
          <a:p>
            <a:pPr marL="38100">
              <a:lnSpc>
                <a:spcPct val="100000"/>
              </a:lnSpc>
              <a:spcBef>
                <a:spcPts val="45"/>
              </a:spcBef>
            </a:pPr>
            <a:fld id="{81D60167-4931-47E6-BA6A-407CBD079E47}" type="slidenum">
              <a:rPr spc="-50" dirty="0">
                <a:latin typeface="Cambria"/>
                <a:cs typeface="Cambria"/>
              </a:rPr>
              <a:t>‹#›</a:t>
            </a:fld>
            <a:endParaRPr spc="-50" dirty="0">
              <a:latin typeface="Cambria"/>
              <a:cs typeface="Cambri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j-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ahassan1@conestogac.on.ca"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reativecommons.org/licenses/by-sa/3.0/" TargetMode="External"/><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hyperlink" Target="https://en.wikipedia.org/wiki/WannaCry_ransomware_attack" TargetMode="Externa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hyperlink" Target="https://www.scirp.org/journal/PaperInformation.aspx?PaperID=85035" TargetMode="External"/><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pngall.com/virus-png/" TargetMode="External"/><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Conficker"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scirp.org/journal/PaperInformation.aspx?PaperID=85035"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moodle2019-20.ua.es/moodle/pluginfile.php/21786/mod_resource/content/7/tema/spyware.html" TargetMode="External"/><Relationship Id="rId2" Type="http://schemas.openxmlformats.org/officeDocument/2006/relationships/image" Target="../media/image17.jpg"/><Relationship Id="rId1" Type="http://schemas.openxmlformats.org/officeDocument/2006/relationships/slideLayout" Target="../slideLayouts/slideLayout2.xml"/><Relationship Id="rId6" Type="http://schemas.openxmlformats.org/officeDocument/2006/relationships/hyperlink" Target="https://en.wikipedia.org/wiki/Keystroke_logging" TargetMode="External"/><Relationship Id="rId5" Type="http://schemas.openxmlformats.org/officeDocument/2006/relationships/image" Target="../media/image18.jpg"/><Relationship Id="rId4" Type="http://schemas.openxmlformats.org/officeDocument/2006/relationships/hyperlink" Target="https://creativecommons.org/licenses/by-sa/3.0/"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creativecommons.org/licenses/by-sa/3.0/" TargetMode="External"/><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hyperlink" Target="https://www.mcafee.com/enterprise/en-ca/security-awareness/ransomware/what-is-fileless-malware.html" TargetMode="Externa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owasp.org/www-project-top-te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creativecommons.org/licenses/by-sa/4.0/deed.en" TargetMode="External"/><Relationship Id="rId2" Type="http://schemas.openxmlformats.org/officeDocument/2006/relationships/image" Target="../media/image20.jp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mailto:threat-actor@fakeemail.com"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my.f5.com/manage/s/article/K36263043"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2389" y="72389"/>
            <a:ext cx="12024360" cy="6696709"/>
          </a:xfrm>
          <a:custGeom>
            <a:avLst/>
            <a:gdLst/>
            <a:ahLst/>
            <a:cxnLst/>
            <a:rect l="l" t="t" r="r" b="b"/>
            <a:pathLst>
              <a:path w="12024360" h="6696709">
                <a:moveTo>
                  <a:pt x="0" y="6696456"/>
                </a:moveTo>
                <a:lnTo>
                  <a:pt x="12024360" y="6696456"/>
                </a:lnTo>
                <a:lnTo>
                  <a:pt x="12024360" y="0"/>
                </a:lnTo>
                <a:lnTo>
                  <a:pt x="0" y="0"/>
                </a:lnTo>
                <a:lnTo>
                  <a:pt x="0" y="6696456"/>
                </a:lnTo>
                <a:close/>
              </a:path>
            </a:pathLst>
          </a:custGeom>
          <a:ln w="50800">
            <a:solidFill>
              <a:srgbClr val="585858"/>
            </a:solidFill>
          </a:ln>
        </p:spPr>
        <p:txBody>
          <a:bodyPr wrap="square" lIns="0" tIns="0" rIns="0" bIns="0" rtlCol="0"/>
          <a:lstStyle/>
          <a:p>
            <a:endParaRPr/>
          </a:p>
        </p:txBody>
      </p:sp>
      <p:sp>
        <p:nvSpPr>
          <p:cNvPr id="3" name="object 3"/>
          <p:cNvSpPr txBox="1"/>
          <p:nvPr/>
        </p:nvSpPr>
        <p:spPr>
          <a:xfrm>
            <a:off x="7575804" y="4207764"/>
            <a:ext cx="4257040" cy="1127232"/>
          </a:xfrm>
          <a:prstGeom prst="rect">
            <a:avLst/>
          </a:prstGeom>
          <a:solidFill>
            <a:srgbClr val="F1F1F1"/>
          </a:solidFill>
        </p:spPr>
        <p:txBody>
          <a:bodyPr vert="horz" wrap="square" lIns="0" tIns="19050" rIns="0" bIns="0" rtlCol="0">
            <a:spAutoFit/>
          </a:bodyPr>
          <a:lstStyle/>
          <a:p>
            <a:pPr marL="706755" algn="l">
              <a:lnSpc>
                <a:spcPct val="100000"/>
              </a:lnSpc>
              <a:spcBef>
                <a:spcPts val="5"/>
              </a:spcBef>
            </a:pPr>
            <a:r>
              <a:rPr lang="en-CA" sz="1800" b="1" dirty="0">
                <a:latin typeface="Cambria"/>
                <a:cs typeface="Cambria"/>
              </a:rPr>
              <a:t>Pawan Soobhri</a:t>
            </a:r>
          </a:p>
          <a:p>
            <a:pPr marL="706755" algn="l">
              <a:lnSpc>
                <a:spcPct val="100000"/>
              </a:lnSpc>
              <a:spcBef>
                <a:spcPts val="5"/>
              </a:spcBef>
            </a:pPr>
            <a:r>
              <a:rPr lang="en-CA" dirty="0">
                <a:latin typeface="Cambria"/>
                <a:cs typeface="Cambria"/>
              </a:rPr>
              <a:t>Professor</a:t>
            </a:r>
          </a:p>
          <a:p>
            <a:pPr marL="706755" algn="l">
              <a:lnSpc>
                <a:spcPct val="100000"/>
              </a:lnSpc>
              <a:spcBef>
                <a:spcPts val="5"/>
              </a:spcBef>
            </a:pPr>
            <a:r>
              <a:rPr lang="en-CA" sz="1800" spc="-35" dirty="0">
                <a:latin typeface="Cambria"/>
                <a:cs typeface="Cambria"/>
              </a:rPr>
              <a:t>MISSM, PGDBM, BTech</a:t>
            </a:r>
            <a:endParaRPr lang="en-CA" sz="1800" b="1" dirty="0">
              <a:latin typeface="Cambria"/>
              <a:cs typeface="Cambria"/>
            </a:endParaRPr>
          </a:p>
          <a:p>
            <a:pPr marL="706755" algn="l">
              <a:lnSpc>
                <a:spcPct val="100000"/>
              </a:lnSpc>
              <a:spcBef>
                <a:spcPts val="5"/>
              </a:spcBef>
            </a:pPr>
            <a:r>
              <a:rPr sz="1800" b="1" dirty="0">
                <a:latin typeface="Cambria"/>
                <a:cs typeface="Cambria"/>
              </a:rPr>
              <a:t>Email:</a:t>
            </a:r>
            <a:r>
              <a:rPr sz="1800" b="1" spc="-30" dirty="0">
                <a:latin typeface="Cambria"/>
                <a:cs typeface="Cambria"/>
              </a:rPr>
              <a:t> </a:t>
            </a:r>
            <a:r>
              <a:rPr lang="en-CA" sz="1800" spc="-10" dirty="0" err="1">
                <a:latin typeface="Cambria"/>
                <a:cs typeface="Cambria"/>
                <a:hlinkClick r:id="rId2"/>
              </a:rPr>
              <a:t>psoobhri</a:t>
            </a:r>
            <a:r>
              <a:rPr sz="1800" spc="-10" dirty="0">
                <a:latin typeface="Cambria"/>
                <a:cs typeface="Cambria"/>
                <a:hlinkClick r:id="rId2"/>
              </a:rPr>
              <a:t>@conestogac.on.ca</a:t>
            </a:r>
            <a:endParaRPr sz="1800" dirty="0">
              <a:latin typeface="Cambria"/>
              <a:cs typeface="Cambria"/>
            </a:endParaRPr>
          </a:p>
        </p:txBody>
      </p:sp>
      <p:sp>
        <p:nvSpPr>
          <p:cNvPr id="4" name="object 4"/>
          <p:cNvSpPr txBox="1"/>
          <p:nvPr/>
        </p:nvSpPr>
        <p:spPr>
          <a:xfrm>
            <a:off x="359663" y="4207764"/>
            <a:ext cx="4384675" cy="2037714"/>
          </a:xfrm>
          <a:prstGeom prst="rect">
            <a:avLst/>
          </a:prstGeom>
          <a:solidFill>
            <a:srgbClr val="276E8A">
              <a:alpha val="90194"/>
            </a:srgbClr>
          </a:solidFill>
        </p:spPr>
        <p:txBody>
          <a:bodyPr vert="horz" wrap="square" lIns="0" tIns="24765" rIns="0" bIns="0" rtlCol="0">
            <a:spAutoFit/>
          </a:bodyPr>
          <a:lstStyle/>
          <a:p>
            <a:pPr>
              <a:lnSpc>
                <a:spcPct val="100000"/>
              </a:lnSpc>
              <a:spcBef>
                <a:spcPts val="195"/>
              </a:spcBef>
            </a:pPr>
            <a:endParaRPr sz="2800" dirty="0">
              <a:latin typeface="Times New Roman"/>
              <a:cs typeface="Times New Roman"/>
            </a:endParaRPr>
          </a:p>
          <a:p>
            <a:pPr marL="91440" marR="753110">
              <a:lnSpc>
                <a:spcPct val="120000"/>
              </a:lnSpc>
            </a:pPr>
            <a:r>
              <a:rPr sz="2800" b="1" spc="-10" dirty="0">
                <a:solidFill>
                  <a:srgbClr val="FFFFFF"/>
                </a:solidFill>
                <a:latin typeface="Cambria"/>
                <a:cs typeface="Cambria"/>
              </a:rPr>
              <a:t>Network</a:t>
            </a:r>
            <a:r>
              <a:rPr sz="2800" b="1" spc="-85" dirty="0">
                <a:solidFill>
                  <a:srgbClr val="FFFFFF"/>
                </a:solidFill>
                <a:latin typeface="Cambria"/>
                <a:cs typeface="Cambria"/>
              </a:rPr>
              <a:t> </a:t>
            </a:r>
            <a:r>
              <a:rPr sz="2800" b="1" dirty="0">
                <a:solidFill>
                  <a:srgbClr val="FFFFFF"/>
                </a:solidFill>
                <a:latin typeface="Cambria"/>
                <a:cs typeface="Cambria"/>
              </a:rPr>
              <a:t>and</a:t>
            </a:r>
            <a:r>
              <a:rPr sz="2800" b="1" spc="-100" dirty="0">
                <a:solidFill>
                  <a:srgbClr val="FFFFFF"/>
                </a:solidFill>
                <a:latin typeface="Cambria"/>
                <a:cs typeface="Cambria"/>
              </a:rPr>
              <a:t> </a:t>
            </a:r>
            <a:r>
              <a:rPr sz="2800" b="1" spc="-10" dirty="0">
                <a:solidFill>
                  <a:srgbClr val="FFFFFF"/>
                </a:solidFill>
                <a:latin typeface="Cambria"/>
                <a:cs typeface="Cambria"/>
              </a:rPr>
              <a:t>Security (INFO8965)</a:t>
            </a:r>
            <a:endParaRPr sz="2800" dirty="0">
              <a:latin typeface="Cambria"/>
              <a:cs typeface="Cambria"/>
            </a:endParaRPr>
          </a:p>
        </p:txBody>
      </p:sp>
      <p:grpSp>
        <p:nvGrpSpPr>
          <p:cNvPr id="5" name="object 5"/>
          <p:cNvGrpSpPr/>
          <p:nvPr/>
        </p:nvGrpSpPr>
        <p:grpSpPr>
          <a:xfrm>
            <a:off x="5166359" y="4233671"/>
            <a:ext cx="1985010" cy="1983739"/>
            <a:chOff x="5166359" y="4233671"/>
            <a:chExt cx="1985010" cy="1983739"/>
          </a:xfrm>
        </p:grpSpPr>
        <p:sp>
          <p:nvSpPr>
            <p:cNvPr id="6" name="object 6"/>
            <p:cNvSpPr/>
            <p:nvPr/>
          </p:nvSpPr>
          <p:spPr>
            <a:xfrm>
              <a:off x="5386705" y="4454054"/>
              <a:ext cx="1553210" cy="1553210"/>
            </a:xfrm>
            <a:custGeom>
              <a:avLst/>
              <a:gdLst/>
              <a:ahLst/>
              <a:cxnLst/>
              <a:rect l="l" t="t" r="r" b="b"/>
              <a:pathLst>
                <a:path w="1553209" h="1553210">
                  <a:moveTo>
                    <a:pt x="143052" y="1144130"/>
                  </a:moveTo>
                  <a:lnTo>
                    <a:pt x="0" y="1144130"/>
                  </a:lnTo>
                  <a:lnTo>
                    <a:pt x="0" y="1225854"/>
                  </a:lnTo>
                  <a:lnTo>
                    <a:pt x="143052" y="1225854"/>
                  </a:lnTo>
                  <a:lnTo>
                    <a:pt x="143052" y="1144130"/>
                  </a:lnTo>
                  <a:close/>
                </a:path>
                <a:path w="1553209" h="1553210">
                  <a:moveTo>
                    <a:pt x="143052" y="980681"/>
                  </a:moveTo>
                  <a:lnTo>
                    <a:pt x="0" y="980681"/>
                  </a:lnTo>
                  <a:lnTo>
                    <a:pt x="0" y="1062405"/>
                  </a:lnTo>
                  <a:lnTo>
                    <a:pt x="143052" y="1062405"/>
                  </a:lnTo>
                  <a:lnTo>
                    <a:pt x="143052" y="980681"/>
                  </a:lnTo>
                  <a:close/>
                </a:path>
                <a:path w="1553209" h="1553210">
                  <a:moveTo>
                    <a:pt x="143052" y="817232"/>
                  </a:moveTo>
                  <a:lnTo>
                    <a:pt x="0" y="817232"/>
                  </a:lnTo>
                  <a:lnTo>
                    <a:pt x="0" y="898956"/>
                  </a:lnTo>
                  <a:lnTo>
                    <a:pt x="143052" y="898956"/>
                  </a:lnTo>
                  <a:lnTo>
                    <a:pt x="143052" y="817232"/>
                  </a:lnTo>
                  <a:close/>
                </a:path>
                <a:path w="1553209" h="1553210">
                  <a:moveTo>
                    <a:pt x="143052" y="653783"/>
                  </a:moveTo>
                  <a:lnTo>
                    <a:pt x="0" y="653783"/>
                  </a:lnTo>
                  <a:lnTo>
                    <a:pt x="0" y="735507"/>
                  </a:lnTo>
                  <a:lnTo>
                    <a:pt x="143052" y="735507"/>
                  </a:lnTo>
                  <a:lnTo>
                    <a:pt x="143052" y="653783"/>
                  </a:lnTo>
                  <a:close/>
                </a:path>
                <a:path w="1553209" h="1553210">
                  <a:moveTo>
                    <a:pt x="143052" y="490334"/>
                  </a:moveTo>
                  <a:lnTo>
                    <a:pt x="0" y="490334"/>
                  </a:lnTo>
                  <a:lnTo>
                    <a:pt x="0" y="572058"/>
                  </a:lnTo>
                  <a:lnTo>
                    <a:pt x="143052" y="572058"/>
                  </a:lnTo>
                  <a:lnTo>
                    <a:pt x="143052" y="490334"/>
                  </a:lnTo>
                  <a:close/>
                </a:path>
                <a:path w="1553209" h="1553210">
                  <a:moveTo>
                    <a:pt x="143052" y="326885"/>
                  </a:moveTo>
                  <a:lnTo>
                    <a:pt x="0" y="326885"/>
                  </a:lnTo>
                  <a:lnTo>
                    <a:pt x="0" y="408609"/>
                  </a:lnTo>
                  <a:lnTo>
                    <a:pt x="143052" y="408609"/>
                  </a:lnTo>
                  <a:lnTo>
                    <a:pt x="143052" y="326885"/>
                  </a:lnTo>
                  <a:close/>
                </a:path>
                <a:path w="1553209" h="1553210">
                  <a:moveTo>
                    <a:pt x="408724" y="1409738"/>
                  </a:moveTo>
                  <a:lnTo>
                    <a:pt x="326974" y="1409738"/>
                  </a:lnTo>
                  <a:lnTo>
                    <a:pt x="326974" y="1552752"/>
                  </a:lnTo>
                  <a:lnTo>
                    <a:pt x="408724" y="1552752"/>
                  </a:lnTo>
                  <a:lnTo>
                    <a:pt x="408724" y="1409738"/>
                  </a:lnTo>
                  <a:close/>
                </a:path>
                <a:path w="1553209" h="1553210">
                  <a:moveTo>
                    <a:pt x="408724" y="0"/>
                  </a:moveTo>
                  <a:lnTo>
                    <a:pt x="326974" y="0"/>
                  </a:lnTo>
                  <a:lnTo>
                    <a:pt x="326974" y="143014"/>
                  </a:lnTo>
                  <a:lnTo>
                    <a:pt x="408724" y="143014"/>
                  </a:lnTo>
                  <a:lnTo>
                    <a:pt x="408724" y="0"/>
                  </a:lnTo>
                  <a:close/>
                </a:path>
                <a:path w="1553209" h="1553210">
                  <a:moveTo>
                    <a:pt x="572211" y="1409738"/>
                  </a:moveTo>
                  <a:lnTo>
                    <a:pt x="490461" y="1409738"/>
                  </a:lnTo>
                  <a:lnTo>
                    <a:pt x="490461" y="1552752"/>
                  </a:lnTo>
                  <a:lnTo>
                    <a:pt x="572211" y="1552752"/>
                  </a:lnTo>
                  <a:lnTo>
                    <a:pt x="572211" y="1409738"/>
                  </a:lnTo>
                  <a:close/>
                </a:path>
                <a:path w="1553209" h="1553210">
                  <a:moveTo>
                    <a:pt x="572211" y="0"/>
                  </a:moveTo>
                  <a:lnTo>
                    <a:pt x="490461" y="0"/>
                  </a:lnTo>
                  <a:lnTo>
                    <a:pt x="490461" y="143014"/>
                  </a:lnTo>
                  <a:lnTo>
                    <a:pt x="572211" y="143014"/>
                  </a:lnTo>
                  <a:lnTo>
                    <a:pt x="572211" y="0"/>
                  </a:lnTo>
                  <a:close/>
                </a:path>
                <a:path w="1553209" h="1553210">
                  <a:moveTo>
                    <a:pt x="735698" y="1409738"/>
                  </a:moveTo>
                  <a:lnTo>
                    <a:pt x="653948" y="1409738"/>
                  </a:lnTo>
                  <a:lnTo>
                    <a:pt x="653948" y="1552752"/>
                  </a:lnTo>
                  <a:lnTo>
                    <a:pt x="735698" y="1552752"/>
                  </a:lnTo>
                  <a:lnTo>
                    <a:pt x="735698" y="1409738"/>
                  </a:lnTo>
                  <a:close/>
                </a:path>
                <a:path w="1553209" h="1553210">
                  <a:moveTo>
                    <a:pt x="735698" y="0"/>
                  </a:moveTo>
                  <a:lnTo>
                    <a:pt x="653948" y="0"/>
                  </a:lnTo>
                  <a:lnTo>
                    <a:pt x="653948" y="143014"/>
                  </a:lnTo>
                  <a:lnTo>
                    <a:pt x="735698" y="143014"/>
                  </a:lnTo>
                  <a:lnTo>
                    <a:pt x="735698" y="0"/>
                  </a:lnTo>
                  <a:close/>
                </a:path>
                <a:path w="1553209" h="1553210">
                  <a:moveTo>
                    <a:pt x="899185" y="1409738"/>
                  </a:moveTo>
                  <a:lnTo>
                    <a:pt x="817435" y="1409738"/>
                  </a:lnTo>
                  <a:lnTo>
                    <a:pt x="817435" y="1552752"/>
                  </a:lnTo>
                  <a:lnTo>
                    <a:pt x="899185" y="1552752"/>
                  </a:lnTo>
                  <a:lnTo>
                    <a:pt x="899185" y="1409738"/>
                  </a:lnTo>
                  <a:close/>
                </a:path>
                <a:path w="1553209" h="1553210">
                  <a:moveTo>
                    <a:pt x="899185" y="0"/>
                  </a:moveTo>
                  <a:lnTo>
                    <a:pt x="817435" y="0"/>
                  </a:lnTo>
                  <a:lnTo>
                    <a:pt x="817435" y="143014"/>
                  </a:lnTo>
                  <a:lnTo>
                    <a:pt x="899185" y="143014"/>
                  </a:lnTo>
                  <a:lnTo>
                    <a:pt x="899185" y="0"/>
                  </a:lnTo>
                  <a:close/>
                </a:path>
                <a:path w="1553209" h="1553210">
                  <a:moveTo>
                    <a:pt x="1042225" y="510768"/>
                  </a:moveTo>
                  <a:lnTo>
                    <a:pt x="510895" y="510768"/>
                  </a:lnTo>
                  <a:lnTo>
                    <a:pt x="510895" y="1041971"/>
                  </a:lnTo>
                  <a:lnTo>
                    <a:pt x="1042225" y="1041971"/>
                  </a:lnTo>
                  <a:lnTo>
                    <a:pt x="1042225" y="510768"/>
                  </a:lnTo>
                  <a:close/>
                </a:path>
                <a:path w="1553209" h="1553210">
                  <a:moveTo>
                    <a:pt x="1062659" y="1409738"/>
                  </a:moveTo>
                  <a:lnTo>
                    <a:pt x="980922" y="1409738"/>
                  </a:lnTo>
                  <a:lnTo>
                    <a:pt x="980922" y="1552752"/>
                  </a:lnTo>
                  <a:lnTo>
                    <a:pt x="1062659" y="1552752"/>
                  </a:lnTo>
                  <a:lnTo>
                    <a:pt x="1062659" y="1409738"/>
                  </a:lnTo>
                  <a:close/>
                </a:path>
                <a:path w="1553209" h="1553210">
                  <a:moveTo>
                    <a:pt x="1062659" y="0"/>
                  </a:moveTo>
                  <a:lnTo>
                    <a:pt x="980922" y="0"/>
                  </a:lnTo>
                  <a:lnTo>
                    <a:pt x="980922" y="143014"/>
                  </a:lnTo>
                  <a:lnTo>
                    <a:pt x="1062659" y="143014"/>
                  </a:lnTo>
                  <a:lnTo>
                    <a:pt x="1062659" y="0"/>
                  </a:lnTo>
                  <a:close/>
                </a:path>
                <a:path w="1553209" h="1553210">
                  <a:moveTo>
                    <a:pt x="1226146" y="1409738"/>
                  </a:moveTo>
                  <a:lnTo>
                    <a:pt x="1144409" y="1409738"/>
                  </a:lnTo>
                  <a:lnTo>
                    <a:pt x="1144409" y="1552752"/>
                  </a:lnTo>
                  <a:lnTo>
                    <a:pt x="1226146" y="1552752"/>
                  </a:lnTo>
                  <a:lnTo>
                    <a:pt x="1226146" y="1409738"/>
                  </a:lnTo>
                  <a:close/>
                </a:path>
                <a:path w="1553209" h="1553210">
                  <a:moveTo>
                    <a:pt x="1226146" y="0"/>
                  </a:moveTo>
                  <a:lnTo>
                    <a:pt x="1144409" y="0"/>
                  </a:lnTo>
                  <a:lnTo>
                    <a:pt x="1144409" y="143014"/>
                  </a:lnTo>
                  <a:lnTo>
                    <a:pt x="1226146" y="143014"/>
                  </a:lnTo>
                  <a:lnTo>
                    <a:pt x="1226146" y="0"/>
                  </a:lnTo>
                  <a:close/>
                </a:path>
                <a:path w="1553209" h="1553210">
                  <a:moveTo>
                    <a:pt x="1328331" y="306463"/>
                  </a:moveTo>
                  <a:lnTo>
                    <a:pt x="1321904" y="274650"/>
                  </a:lnTo>
                  <a:lnTo>
                    <a:pt x="1304391" y="248678"/>
                  </a:lnTo>
                  <a:lnTo>
                    <a:pt x="1278407" y="231152"/>
                  </a:lnTo>
                  <a:lnTo>
                    <a:pt x="1246581" y="224739"/>
                  </a:lnTo>
                  <a:lnTo>
                    <a:pt x="1123975" y="224739"/>
                  </a:lnTo>
                  <a:lnTo>
                    <a:pt x="1123975" y="429044"/>
                  </a:lnTo>
                  <a:lnTo>
                    <a:pt x="1123975" y="1123696"/>
                  </a:lnTo>
                  <a:lnTo>
                    <a:pt x="429158" y="1123696"/>
                  </a:lnTo>
                  <a:lnTo>
                    <a:pt x="429158" y="429044"/>
                  </a:lnTo>
                  <a:lnTo>
                    <a:pt x="1123975" y="429044"/>
                  </a:lnTo>
                  <a:lnTo>
                    <a:pt x="1123975" y="224739"/>
                  </a:lnTo>
                  <a:lnTo>
                    <a:pt x="306539" y="224739"/>
                  </a:lnTo>
                  <a:lnTo>
                    <a:pt x="274726" y="231152"/>
                  </a:lnTo>
                  <a:lnTo>
                    <a:pt x="248742" y="248678"/>
                  </a:lnTo>
                  <a:lnTo>
                    <a:pt x="231228" y="274650"/>
                  </a:lnTo>
                  <a:lnTo>
                    <a:pt x="224802" y="306463"/>
                  </a:lnTo>
                  <a:lnTo>
                    <a:pt x="224802" y="1246289"/>
                  </a:lnTo>
                  <a:lnTo>
                    <a:pt x="231228" y="1278102"/>
                  </a:lnTo>
                  <a:lnTo>
                    <a:pt x="248742" y="1304074"/>
                  </a:lnTo>
                  <a:lnTo>
                    <a:pt x="274726" y="1321587"/>
                  </a:lnTo>
                  <a:lnTo>
                    <a:pt x="306539" y="1328013"/>
                  </a:lnTo>
                  <a:lnTo>
                    <a:pt x="1246593" y="1328013"/>
                  </a:lnTo>
                  <a:lnTo>
                    <a:pt x="1278407" y="1321587"/>
                  </a:lnTo>
                  <a:lnTo>
                    <a:pt x="1304391" y="1304074"/>
                  </a:lnTo>
                  <a:lnTo>
                    <a:pt x="1321904" y="1278102"/>
                  </a:lnTo>
                  <a:lnTo>
                    <a:pt x="1328331" y="1246289"/>
                  </a:lnTo>
                  <a:lnTo>
                    <a:pt x="1328331" y="1123696"/>
                  </a:lnTo>
                  <a:lnTo>
                    <a:pt x="1328331" y="429044"/>
                  </a:lnTo>
                  <a:lnTo>
                    <a:pt x="1328331" y="306463"/>
                  </a:lnTo>
                  <a:close/>
                </a:path>
                <a:path w="1553209" h="1553210">
                  <a:moveTo>
                    <a:pt x="1553121" y="1144130"/>
                  </a:moveTo>
                  <a:lnTo>
                    <a:pt x="1410068" y="1144130"/>
                  </a:lnTo>
                  <a:lnTo>
                    <a:pt x="1410068" y="1225854"/>
                  </a:lnTo>
                  <a:lnTo>
                    <a:pt x="1553121" y="1225854"/>
                  </a:lnTo>
                  <a:lnTo>
                    <a:pt x="1553121" y="1144130"/>
                  </a:lnTo>
                  <a:close/>
                </a:path>
                <a:path w="1553209" h="1553210">
                  <a:moveTo>
                    <a:pt x="1553121" y="980681"/>
                  </a:moveTo>
                  <a:lnTo>
                    <a:pt x="1410068" y="980681"/>
                  </a:lnTo>
                  <a:lnTo>
                    <a:pt x="1410068" y="1062405"/>
                  </a:lnTo>
                  <a:lnTo>
                    <a:pt x="1553121" y="1062405"/>
                  </a:lnTo>
                  <a:lnTo>
                    <a:pt x="1553121" y="980681"/>
                  </a:lnTo>
                  <a:close/>
                </a:path>
                <a:path w="1553209" h="1553210">
                  <a:moveTo>
                    <a:pt x="1553121" y="817232"/>
                  </a:moveTo>
                  <a:lnTo>
                    <a:pt x="1410068" y="817232"/>
                  </a:lnTo>
                  <a:lnTo>
                    <a:pt x="1410068" y="898956"/>
                  </a:lnTo>
                  <a:lnTo>
                    <a:pt x="1553121" y="898956"/>
                  </a:lnTo>
                  <a:lnTo>
                    <a:pt x="1553121" y="817232"/>
                  </a:lnTo>
                  <a:close/>
                </a:path>
                <a:path w="1553209" h="1553210">
                  <a:moveTo>
                    <a:pt x="1553121" y="653783"/>
                  </a:moveTo>
                  <a:lnTo>
                    <a:pt x="1410068" y="653783"/>
                  </a:lnTo>
                  <a:lnTo>
                    <a:pt x="1410068" y="735507"/>
                  </a:lnTo>
                  <a:lnTo>
                    <a:pt x="1553121" y="735507"/>
                  </a:lnTo>
                  <a:lnTo>
                    <a:pt x="1553121" y="653783"/>
                  </a:lnTo>
                  <a:close/>
                </a:path>
                <a:path w="1553209" h="1553210">
                  <a:moveTo>
                    <a:pt x="1553121" y="490334"/>
                  </a:moveTo>
                  <a:lnTo>
                    <a:pt x="1410068" y="490334"/>
                  </a:lnTo>
                  <a:lnTo>
                    <a:pt x="1410068" y="572058"/>
                  </a:lnTo>
                  <a:lnTo>
                    <a:pt x="1553121" y="572058"/>
                  </a:lnTo>
                  <a:lnTo>
                    <a:pt x="1553121" y="490334"/>
                  </a:lnTo>
                  <a:close/>
                </a:path>
                <a:path w="1553209" h="1553210">
                  <a:moveTo>
                    <a:pt x="1553121" y="326885"/>
                  </a:moveTo>
                  <a:lnTo>
                    <a:pt x="1410068" y="326885"/>
                  </a:lnTo>
                  <a:lnTo>
                    <a:pt x="1410068" y="408609"/>
                  </a:lnTo>
                  <a:lnTo>
                    <a:pt x="1553121" y="408609"/>
                  </a:lnTo>
                  <a:lnTo>
                    <a:pt x="1553121" y="326885"/>
                  </a:lnTo>
                  <a:close/>
                </a:path>
              </a:pathLst>
            </a:custGeom>
            <a:solidFill>
              <a:srgbClr val="395B62"/>
            </a:solidFill>
          </p:spPr>
          <p:txBody>
            <a:bodyPr wrap="square" lIns="0" tIns="0" rIns="0" bIns="0" rtlCol="0"/>
            <a:lstStyle/>
            <a:p>
              <a:endParaRPr/>
            </a:p>
          </p:txBody>
        </p:sp>
        <p:pic>
          <p:nvPicPr>
            <p:cNvPr id="7" name="object 7"/>
            <p:cNvPicPr/>
            <p:nvPr/>
          </p:nvPicPr>
          <p:blipFill>
            <a:blip r:embed="rId3" cstate="print"/>
            <a:stretch>
              <a:fillRect/>
            </a:stretch>
          </p:blipFill>
          <p:spPr>
            <a:xfrm>
              <a:off x="5166359" y="4233671"/>
              <a:ext cx="1985010" cy="1983486"/>
            </a:xfrm>
            <a:prstGeom prst="rect">
              <a:avLst/>
            </a:prstGeom>
          </p:spPr>
        </p:pic>
      </p:grpSp>
      <p:sp>
        <p:nvSpPr>
          <p:cNvPr id="9" name="object 9"/>
          <p:cNvSpPr txBox="1">
            <a:spLocks noGrp="1"/>
          </p:cNvSpPr>
          <p:nvPr>
            <p:ph type="sldNum" sz="quarter" idx="7"/>
          </p:nvPr>
        </p:nvSpPr>
        <p:spPr>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Cambria"/>
                <a:cs typeface="Cambria"/>
              </a:rPr>
              <a:t>1</a:t>
            </a:fld>
            <a:endParaRPr spc="-50" dirty="0">
              <a:latin typeface="Cambria"/>
              <a:cs typeface="Cambria"/>
            </a:endParaRPr>
          </a:p>
        </p:txBody>
      </p:sp>
      <p:sp>
        <p:nvSpPr>
          <p:cNvPr id="12" name="TextBox 11">
            <a:extLst>
              <a:ext uri="{FF2B5EF4-FFF2-40B4-BE49-F238E27FC236}">
                <a16:creationId xmlns:a16="http://schemas.microsoft.com/office/drawing/2014/main" id="{CCC1700B-746C-DCEF-F656-064C2B582794}"/>
              </a:ext>
            </a:extLst>
          </p:cNvPr>
          <p:cNvSpPr txBox="1"/>
          <p:nvPr/>
        </p:nvSpPr>
        <p:spPr>
          <a:xfrm>
            <a:off x="359662" y="850736"/>
            <a:ext cx="11375137" cy="907941"/>
          </a:xfrm>
          <a:prstGeom prst="rect">
            <a:avLst/>
          </a:prstGeom>
          <a:noFill/>
        </p:spPr>
        <p:txBody>
          <a:bodyPr wrap="square">
            <a:spAutoFit/>
          </a:bodyPr>
          <a:lstStyle/>
          <a:p>
            <a:pPr algn="ctr"/>
            <a:r>
              <a:rPr lang="en-US" sz="5300" b="1" spc="-10" dirty="0">
                <a:solidFill>
                  <a:srgbClr val="404040"/>
                </a:solidFill>
                <a:latin typeface="+mj-lt"/>
                <a:cs typeface="BrowalliaUPC" panose="020B0502040204020203" pitchFamily="34" charset="-34"/>
              </a:rPr>
              <a:t>THREATS AND ATTACKS ON ENDPOINTS</a:t>
            </a:r>
            <a:endParaRPr lang="en-CA" sz="5300" dirty="0">
              <a:solidFill>
                <a:srgbClr val="40404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998350"/>
          </a:xfrm>
          <a:prstGeom prst="rect">
            <a:avLst/>
          </a:prstGeom>
        </p:spPr>
        <p:txBody>
          <a:bodyPr vert="horz" wrap="square" lIns="0" tIns="318135" rIns="0" bIns="0" rtlCol="0">
            <a:spAutoFit/>
          </a:bodyPr>
          <a:lstStyle/>
          <a:p>
            <a:pPr marL="12700" algn="ctr">
              <a:lnSpc>
                <a:spcPct val="100000"/>
              </a:lnSpc>
              <a:spcBef>
                <a:spcPts val="105"/>
              </a:spcBef>
            </a:pPr>
            <a:r>
              <a:rPr sz="4400" spc="-10" dirty="0">
                <a:solidFill>
                  <a:srgbClr val="404040"/>
                </a:solidFill>
                <a:latin typeface="+mj-lt"/>
                <a:cs typeface="BrowalliaUPC" panose="020B0502040204020203" pitchFamily="34" charset="-34"/>
              </a:rPr>
              <a:t>REFERENCES AND ACKNOWLEDGEMENT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50" dirty="0"/>
              <a:t>2</a:t>
            </a:fld>
            <a:endParaRPr spc="-50" dirty="0"/>
          </a:p>
        </p:txBody>
      </p:sp>
      <p:sp>
        <p:nvSpPr>
          <p:cNvPr id="3" name="object 3"/>
          <p:cNvSpPr txBox="1"/>
          <p:nvPr/>
        </p:nvSpPr>
        <p:spPr>
          <a:xfrm>
            <a:off x="1125016" y="1924329"/>
            <a:ext cx="9216000" cy="4238625"/>
          </a:xfrm>
          <a:prstGeom prst="rect">
            <a:avLst/>
          </a:prstGeom>
        </p:spPr>
        <p:txBody>
          <a:bodyPr vert="horz" wrap="square" lIns="0" tIns="157480" rIns="0" bIns="0" rtlCol="0">
            <a:spAutoFit/>
          </a:bodyPr>
          <a:lstStyle/>
          <a:p>
            <a:pPr marL="38100">
              <a:lnSpc>
                <a:spcPct val="100000"/>
              </a:lnSpc>
              <a:spcBef>
                <a:spcPts val="1240"/>
              </a:spcBef>
            </a:pPr>
            <a:r>
              <a:rPr sz="2200" b="1" dirty="0">
                <a:latin typeface="+mj-lt"/>
                <a:cs typeface="Arial"/>
              </a:rPr>
              <a:t>References</a:t>
            </a:r>
            <a:endParaRPr sz="2200" dirty="0">
              <a:latin typeface="+mj-lt"/>
              <a:cs typeface="Arial"/>
            </a:endParaRPr>
          </a:p>
          <a:p>
            <a:pPr marL="38100">
              <a:lnSpc>
                <a:spcPts val="2510"/>
              </a:lnSpc>
              <a:spcBef>
                <a:spcPts val="1140"/>
              </a:spcBef>
            </a:pPr>
            <a:r>
              <a:rPr sz="2200" dirty="0">
                <a:latin typeface="+mj-lt"/>
                <a:cs typeface="Arial MT"/>
              </a:rPr>
              <a:t>[CIAM] “CompTIA® Security+ Guide to Network Security Fundamentals” by Mark</a:t>
            </a:r>
          </a:p>
          <a:p>
            <a:pPr marL="38100">
              <a:lnSpc>
                <a:spcPts val="2510"/>
              </a:lnSpc>
            </a:pPr>
            <a:r>
              <a:rPr sz="2200" dirty="0">
                <a:latin typeface="+mj-lt"/>
                <a:cs typeface="Arial MT"/>
              </a:rPr>
              <a:t>Ciampa, 7</a:t>
            </a:r>
            <a:r>
              <a:rPr sz="2175" baseline="24904" dirty="0">
                <a:latin typeface="+mj-lt"/>
                <a:cs typeface="Arial MT"/>
              </a:rPr>
              <a:t>th </a:t>
            </a:r>
            <a:r>
              <a:rPr sz="2200" dirty="0">
                <a:latin typeface="+mj-lt"/>
                <a:cs typeface="Arial MT"/>
              </a:rPr>
              <a:t>edition, Publisher: Cengage Learning</a:t>
            </a:r>
          </a:p>
          <a:p>
            <a:pPr marL="38100">
              <a:lnSpc>
                <a:spcPts val="2510"/>
              </a:lnSpc>
              <a:spcBef>
                <a:spcPts val="1125"/>
              </a:spcBef>
            </a:pPr>
            <a:r>
              <a:rPr sz="2200" dirty="0">
                <a:latin typeface="+mj-lt"/>
                <a:cs typeface="Arial MT"/>
              </a:rPr>
              <a:t>[STAL] “Network Security Essentials,” by William Stallings, 5</a:t>
            </a:r>
            <a:r>
              <a:rPr sz="2175" baseline="24904" dirty="0">
                <a:latin typeface="+mj-lt"/>
                <a:cs typeface="Arial MT"/>
              </a:rPr>
              <a:t>th </a:t>
            </a:r>
            <a:r>
              <a:rPr sz="2200" dirty="0">
                <a:latin typeface="+mj-lt"/>
                <a:cs typeface="Arial MT"/>
              </a:rPr>
              <a:t>edition, Publisher:</a:t>
            </a:r>
          </a:p>
          <a:p>
            <a:pPr marL="38100">
              <a:lnSpc>
                <a:spcPts val="2510"/>
              </a:lnSpc>
            </a:pPr>
            <a:r>
              <a:rPr sz="2200" dirty="0">
                <a:latin typeface="+mj-lt"/>
                <a:cs typeface="Arial MT"/>
              </a:rPr>
              <a:t>Pearson</a:t>
            </a:r>
          </a:p>
          <a:p>
            <a:pPr>
              <a:lnSpc>
                <a:spcPct val="100000"/>
              </a:lnSpc>
              <a:spcBef>
                <a:spcPts val="2390"/>
              </a:spcBef>
            </a:pPr>
            <a:endParaRPr sz="2200" dirty="0">
              <a:latin typeface="+mj-lt"/>
              <a:cs typeface="Arial MT"/>
            </a:endParaRPr>
          </a:p>
          <a:p>
            <a:pPr marL="38100">
              <a:lnSpc>
                <a:spcPct val="100000"/>
              </a:lnSpc>
              <a:spcBef>
                <a:spcPts val="5"/>
              </a:spcBef>
            </a:pPr>
            <a:r>
              <a:rPr sz="2200" b="1" dirty="0">
                <a:latin typeface="+mj-lt"/>
                <a:cs typeface="Arial"/>
              </a:rPr>
              <a:t>Acknowledgement</a:t>
            </a:r>
            <a:endParaRPr sz="2200" dirty="0">
              <a:latin typeface="+mj-lt"/>
              <a:cs typeface="Arial"/>
            </a:endParaRPr>
          </a:p>
          <a:p>
            <a:pPr marL="38100">
              <a:lnSpc>
                <a:spcPct val="100000"/>
              </a:lnSpc>
              <a:spcBef>
                <a:spcPts val="1125"/>
              </a:spcBef>
            </a:pPr>
            <a:r>
              <a:rPr sz="2200" dirty="0">
                <a:latin typeface="+mj-lt"/>
                <a:cs typeface="Arial MT"/>
              </a:rPr>
              <a:t>Some of the material presented is based on:</a:t>
            </a:r>
          </a:p>
          <a:p>
            <a:pPr marL="508635" indent="-342900">
              <a:lnSpc>
                <a:spcPct val="100000"/>
              </a:lnSpc>
              <a:spcBef>
                <a:spcPts val="145"/>
              </a:spcBef>
              <a:buFont typeface="Arial" panose="020B0604020202020204" pitchFamily="34" charset="0"/>
              <a:buChar char="•"/>
            </a:pPr>
            <a:r>
              <a:rPr sz="2200" dirty="0">
                <a:latin typeface="+mj-lt"/>
                <a:cs typeface="Arial MT"/>
              </a:rPr>
              <a:t>The referenced textbook [CIAM] by Cengage Learning.</a:t>
            </a:r>
          </a:p>
          <a:p>
            <a:pPr marL="508635" indent="-342900">
              <a:lnSpc>
                <a:spcPct val="100000"/>
              </a:lnSpc>
              <a:spcBef>
                <a:spcPts val="340"/>
              </a:spcBef>
              <a:buFont typeface="Arial" panose="020B0604020202020204" pitchFamily="34" charset="0"/>
              <a:buChar char="•"/>
            </a:pPr>
            <a:r>
              <a:rPr sz="2200" dirty="0">
                <a:latin typeface="+mj-lt"/>
                <a:cs typeface="Arial MT"/>
              </a:rPr>
              <a:t>Other references are cited individually.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103172" y="829818"/>
            <a:ext cx="5069028" cy="782907"/>
          </a:xfrm>
          <a:prstGeom prst="rect">
            <a:avLst/>
          </a:prstGeom>
        </p:spPr>
        <p:txBody>
          <a:bodyPr vert="horz" wrap="square" lIns="0" tIns="13335" rIns="0" bIns="0" rtlCol="0">
            <a:spAutoFit/>
          </a:bodyPr>
          <a:lstStyle/>
          <a:p>
            <a:pPr marL="12700">
              <a:lnSpc>
                <a:spcPct val="100000"/>
              </a:lnSpc>
              <a:spcBef>
                <a:spcPts val="105"/>
              </a:spcBef>
            </a:pPr>
            <a:r>
              <a:rPr dirty="0">
                <a:latin typeface="+mj-lt"/>
              </a:rPr>
              <a:t>LECTURE LAYOUT</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50" dirty="0"/>
              <a:t>3</a:t>
            </a:fld>
            <a:endParaRPr spc="-50" dirty="0"/>
          </a:p>
        </p:txBody>
      </p:sp>
      <p:sp>
        <p:nvSpPr>
          <p:cNvPr id="3" name="object 3"/>
          <p:cNvSpPr txBox="1"/>
          <p:nvPr/>
        </p:nvSpPr>
        <p:spPr>
          <a:xfrm>
            <a:off x="1156512" y="2120925"/>
            <a:ext cx="5168088" cy="1103572"/>
          </a:xfrm>
          <a:prstGeom prst="rect">
            <a:avLst/>
          </a:prstGeom>
        </p:spPr>
        <p:txBody>
          <a:bodyPr vert="horz" wrap="square" lIns="0" tIns="13335" rIns="0" bIns="0" rtlCol="0">
            <a:spAutoFit/>
          </a:bodyPr>
          <a:lstStyle/>
          <a:p>
            <a:pPr marL="12700" marR="5080">
              <a:lnSpc>
                <a:spcPct val="131600"/>
              </a:lnSpc>
              <a:spcBef>
                <a:spcPts val="105"/>
              </a:spcBef>
            </a:pPr>
            <a:r>
              <a:rPr sz="2800" dirty="0">
                <a:latin typeface="+mn-lt"/>
                <a:cs typeface="Arial MT"/>
              </a:rPr>
              <a:t>Attacks using Malware Application Attacks Adversarial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latin typeface="+mj-lt"/>
              </a:rPr>
              <a:t>THINK, PAIR AND SHARE</a:t>
            </a:r>
          </a:p>
        </p:txBody>
      </p:sp>
      <p:sp>
        <p:nvSpPr>
          <p:cNvPr id="3" name="object 3"/>
          <p:cNvSpPr txBox="1"/>
          <p:nvPr/>
        </p:nvSpPr>
        <p:spPr>
          <a:xfrm>
            <a:off x="1057147" y="2125497"/>
            <a:ext cx="9422130" cy="497572"/>
          </a:xfrm>
          <a:prstGeom prst="rect">
            <a:avLst/>
          </a:prstGeom>
        </p:spPr>
        <p:txBody>
          <a:bodyPr vert="horz" wrap="square" lIns="0" tIns="157480" rIns="0" bIns="0" rtlCol="0">
            <a:spAutoFit/>
          </a:bodyPr>
          <a:lstStyle/>
          <a:p>
            <a:pPr marL="12700">
              <a:lnSpc>
                <a:spcPct val="100000"/>
              </a:lnSpc>
              <a:spcBef>
                <a:spcPts val="1240"/>
              </a:spcBef>
            </a:pPr>
            <a:r>
              <a:rPr sz="2200" dirty="0">
                <a:latin typeface="+mn-lt"/>
                <a:cs typeface="Arial MT"/>
              </a:rPr>
              <a:t>Search the Internet for two different </a:t>
            </a:r>
            <a:r>
              <a:rPr sz="2200" dirty="0">
                <a:solidFill>
                  <a:srgbClr val="C00000"/>
                </a:solidFill>
                <a:latin typeface="+mn-lt"/>
                <a:cs typeface="Arial MT"/>
              </a:rPr>
              <a:t>phishing simulators</a:t>
            </a:r>
            <a:r>
              <a:rPr sz="2200" dirty="0">
                <a:latin typeface="+mn-lt"/>
                <a:cs typeface="Arial MT"/>
              </a:rPr>
              <a:t>.</a:t>
            </a:r>
            <a:endParaRPr lang="en-CA" sz="2200" dirty="0">
              <a:latin typeface="+mn-lt"/>
              <a:cs typeface="Arial MT"/>
            </a:endParaRPr>
          </a:p>
        </p:txBody>
      </p:sp>
      <p:grpSp>
        <p:nvGrpSpPr>
          <p:cNvPr id="4" name="object 4"/>
          <p:cNvGrpSpPr/>
          <p:nvPr/>
        </p:nvGrpSpPr>
        <p:grpSpPr>
          <a:xfrm>
            <a:off x="8220456" y="47244"/>
            <a:ext cx="3554729" cy="1407795"/>
            <a:chOff x="8220456" y="47244"/>
            <a:chExt cx="3554729" cy="1407795"/>
          </a:xfrm>
        </p:grpSpPr>
        <p:pic>
          <p:nvPicPr>
            <p:cNvPr id="5" name="object 5"/>
            <p:cNvPicPr/>
            <p:nvPr/>
          </p:nvPicPr>
          <p:blipFill>
            <a:blip r:embed="rId2" cstate="print"/>
            <a:stretch>
              <a:fillRect/>
            </a:stretch>
          </p:blipFill>
          <p:spPr>
            <a:xfrm>
              <a:off x="10386060" y="47244"/>
              <a:ext cx="1389126" cy="1389126"/>
            </a:xfrm>
            <a:prstGeom prst="rect">
              <a:avLst/>
            </a:prstGeom>
          </p:spPr>
        </p:pic>
        <p:pic>
          <p:nvPicPr>
            <p:cNvPr id="6" name="object 6"/>
            <p:cNvPicPr/>
            <p:nvPr/>
          </p:nvPicPr>
          <p:blipFill>
            <a:blip r:embed="rId3" cstate="print"/>
            <a:stretch>
              <a:fillRect/>
            </a:stretch>
          </p:blipFill>
          <p:spPr>
            <a:xfrm>
              <a:off x="11239586" y="381771"/>
              <a:ext cx="233640" cy="233768"/>
            </a:xfrm>
            <a:prstGeom prst="rect">
              <a:avLst/>
            </a:prstGeom>
          </p:spPr>
        </p:pic>
        <p:pic>
          <p:nvPicPr>
            <p:cNvPr id="7" name="object 7"/>
            <p:cNvPicPr/>
            <p:nvPr/>
          </p:nvPicPr>
          <p:blipFill>
            <a:blip r:embed="rId4" cstate="print"/>
            <a:stretch>
              <a:fillRect/>
            </a:stretch>
          </p:blipFill>
          <p:spPr>
            <a:xfrm>
              <a:off x="11239587" y="914244"/>
              <a:ext cx="233640" cy="233768"/>
            </a:xfrm>
            <a:prstGeom prst="rect">
              <a:avLst/>
            </a:prstGeom>
          </p:spPr>
        </p:pic>
        <p:sp>
          <p:nvSpPr>
            <p:cNvPr id="8" name="object 8"/>
            <p:cNvSpPr/>
            <p:nvPr/>
          </p:nvSpPr>
          <p:spPr>
            <a:xfrm>
              <a:off x="10694416" y="565378"/>
              <a:ext cx="525780" cy="386080"/>
            </a:xfrm>
            <a:custGeom>
              <a:avLst/>
              <a:gdLst/>
              <a:ahLst/>
              <a:cxnLst/>
              <a:rect l="l" t="t" r="r" b="b"/>
              <a:pathLst>
                <a:path w="525779" h="386080">
                  <a:moveTo>
                    <a:pt x="324497" y="199517"/>
                  </a:moveTo>
                  <a:lnTo>
                    <a:pt x="318668" y="156387"/>
                  </a:lnTo>
                  <a:lnTo>
                    <a:pt x="302298" y="117627"/>
                  </a:lnTo>
                  <a:lnTo>
                    <a:pt x="298488" y="112699"/>
                  </a:lnTo>
                  <a:lnTo>
                    <a:pt x="298488" y="199517"/>
                  </a:lnTo>
                  <a:lnTo>
                    <a:pt x="289826" y="247015"/>
                  </a:lnTo>
                  <a:lnTo>
                    <a:pt x="289737" y="247497"/>
                  </a:lnTo>
                  <a:lnTo>
                    <a:pt x="263309" y="290703"/>
                  </a:lnTo>
                  <a:lnTo>
                    <a:pt x="254673" y="268973"/>
                  </a:lnTo>
                  <a:lnTo>
                    <a:pt x="241642" y="249910"/>
                  </a:lnTo>
                  <a:lnTo>
                    <a:pt x="240741" y="249072"/>
                  </a:lnTo>
                  <a:lnTo>
                    <a:pt x="240741" y="310807"/>
                  </a:lnTo>
                  <a:lnTo>
                    <a:pt x="202996" y="329615"/>
                  </a:lnTo>
                  <a:lnTo>
                    <a:pt x="162255" y="335876"/>
                  </a:lnTo>
                  <a:lnTo>
                    <a:pt x="121513" y="329615"/>
                  </a:lnTo>
                  <a:lnTo>
                    <a:pt x="83769" y="310807"/>
                  </a:lnTo>
                  <a:lnTo>
                    <a:pt x="112001" y="257454"/>
                  </a:lnTo>
                  <a:lnTo>
                    <a:pt x="169684" y="239699"/>
                  </a:lnTo>
                  <a:lnTo>
                    <a:pt x="196176" y="247015"/>
                  </a:lnTo>
                  <a:lnTo>
                    <a:pt x="217995" y="262458"/>
                  </a:lnTo>
                  <a:lnTo>
                    <a:pt x="233438" y="284302"/>
                  </a:lnTo>
                  <a:lnTo>
                    <a:pt x="240741" y="310807"/>
                  </a:lnTo>
                  <a:lnTo>
                    <a:pt x="240741" y="249072"/>
                  </a:lnTo>
                  <a:lnTo>
                    <a:pt x="230708" y="239699"/>
                  </a:lnTo>
                  <a:lnTo>
                    <a:pt x="224764" y="234149"/>
                  </a:lnTo>
                  <a:lnTo>
                    <a:pt x="204584" y="222338"/>
                  </a:lnTo>
                  <a:lnTo>
                    <a:pt x="211023" y="213334"/>
                  </a:lnTo>
                  <a:lnTo>
                    <a:pt x="218922" y="202285"/>
                  </a:lnTo>
                  <a:lnTo>
                    <a:pt x="224269" y="179082"/>
                  </a:lnTo>
                  <a:lnTo>
                    <a:pt x="220535" y="155575"/>
                  </a:lnTo>
                  <a:lnTo>
                    <a:pt x="211620" y="141084"/>
                  </a:lnTo>
                  <a:lnTo>
                    <a:pt x="207619" y="134581"/>
                  </a:lnTo>
                  <a:lnTo>
                    <a:pt x="198348" y="127952"/>
                  </a:lnTo>
                  <a:lnTo>
                    <a:pt x="198348" y="177228"/>
                  </a:lnTo>
                  <a:lnTo>
                    <a:pt x="195503" y="191274"/>
                  </a:lnTo>
                  <a:lnTo>
                    <a:pt x="187769" y="202755"/>
                  </a:lnTo>
                  <a:lnTo>
                    <a:pt x="176301" y="210489"/>
                  </a:lnTo>
                  <a:lnTo>
                    <a:pt x="162255" y="213334"/>
                  </a:lnTo>
                  <a:lnTo>
                    <a:pt x="148272" y="210489"/>
                  </a:lnTo>
                  <a:lnTo>
                    <a:pt x="136766" y="202755"/>
                  </a:lnTo>
                  <a:lnTo>
                    <a:pt x="136436" y="202285"/>
                  </a:lnTo>
                  <a:lnTo>
                    <a:pt x="129019" y="191274"/>
                  </a:lnTo>
                  <a:lnTo>
                    <a:pt x="126161" y="177228"/>
                  </a:lnTo>
                  <a:lnTo>
                    <a:pt x="128993" y="163169"/>
                  </a:lnTo>
                  <a:lnTo>
                    <a:pt x="136728" y="151676"/>
                  </a:lnTo>
                  <a:lnTo>
                    <a:pt x="148196" y="143929"/>
                  </a:lnTo>
                  <a:lnTo>
                    <a:pt x="162267" y="141084"/>
                  </a:lnTo>
                  <a:lnTo>
                    <a:pt x="176314" y="143929"/>
                  </a:lnTo>
                  <a:lnTo>
                    <a:pt x="187782" y="151676"/>
                  </a:lnTo>
                  <a:lnTo>
                    <a:pt x="195516" y="163169"/>
                  </a:lnTo>
                  <a:lnTo>
                    <a:pt x="198348" y="177228"/>
                  </a:lnTo>
                  <a:lnTo>
                    <a:pt x="198348" y="127952"/>
                  </a:lnTo>
                  <a:lnTo>
                    <a:pt x="187579" y="120243"/>
                  </a:lnTo>
                  <a:lnTo>
                    <a:pt x="164401" y="114896"/>
                  </a:lnTo>
                  <a:lnTo>
                    <a:pt x="140906" y="118630"/>
                  </a:lnTo>
                  <a:lnTo>
                    <a:pt x="119913" y="131559"/>
                  </a:lnTo>
                  <a:lnTo>
                    <a:pt x="106095" y="150901"/>
                  </a:lnTo>
                  <a:lnTo>
                    <a:pt x="105562" y="151676"/>
                  </a:lnTo>
                  <a:lnTo>
                    <a:pt x="100241" y="174802"/>
                  </a:lnTo>
                  <a:lnTo>
                    <a:pt x="103974" y="198310"/>
                  </a:lnTo>
                  <a:lnTo>
                    <a:pt x="116890" y="219303"/>
                  </a:lnTo>
                  <a:lnTo>
                    <a:pt x="117856" y="220357"/>
                  </a:lnTo>
                  <a:lnTo>
                    <a:pt x="118872" y="221361"/>
                  </a:lnTo>
                  <a:lnTo>
                    <a:pt x="119913" y="222338"/>
                  </a:lnTo>
                  <a:lnTo>
                    <a:pt x="99745" y="234149"/>
                  </a:lnTo>
                  <a:lnTo>
                    <a:pt x="82867" y="249910"/>
                  </a:lnTo>
                  <a:lnTo>
                    <a:pt x="69837" y="268973"/>
                  </a:lnTo>
                  <a:lnTo>
                    <a:pt x="61201" y="290703"/>
                  </a:lnTo>
                  <a:lnTo>
                    <a:pt x="37452" y="254076"/>
                  </a:lnTo>
                  <a:lnTo>
                    <a:pt x="26682" y="213334"/>
                  </a:lnTo>
                  <a:lnTo>
                    <a:pt x="28765" y="171640"/>
                  </a:lnTo>
                  <a:lnTo>
                    <a:pt x="43522" y="132168"/>
                  </a:lnTo>
                  <a:lnTo>
                    <a:pt x="70802" y="98094"/>
                  </a:lnTo>
                  <a:lnTo>
                    <a:pt x="107403" y="74320"/>
                  </a:lnTo>
                  <a:lnTo>
                    <a:pt x="148120" y="63563"/>
                  </a:lnTo>
                  <a:lnTo>
                    <a:pt x="189788" y="65633"/>
                  </a:lnTo>
                  <a:lnTo>
                    <a:pt x="229247" y="80403"/>
                  </a:lnTo>
                  <a:lnTo>
                    <a:pt x="263309" y="107696"/>
                  </a:lnTo>
                  <a:lnTo>
                    <a:pt x="289737" y="150901"/>
                  </a:lnTo>
                  <a:lnTo>
                    <a:pt x="298386" y="198310"/>
                  </a:lnTo>
                  <a:lnTo>
                    <a:pt x="298488" y="199517"/>
                  </a:lnTo>
                  <a:lnTo>
                    <a:pt x="298488" y="112699"/>
                  </a:lnTo>
                  <a:lnTo>
                    <a:pt x="276923" y="84785"/>
                  </a:lnTo>
                  <a:lnTo>
                    <a:pt x="249478" y="63563"/>
                  </a:lnTo>
                  <a:lnTo>
                    <a:pt x="244106" y="59397"/>
                  </a:lnTo>
                  <a:lnTo>
                    <a:pt x="205359" y="43014"/>
                  </a:lnTo>
                  <a:lnTo>
                    <a:pt x="162255" y="37185"/>
                  </a:lnTo>
                  <a:lnTo>
                    <a:pt x="118846" y="43014"/>
                  </a:lnTo>
                  <a:lnTo>
                    <a:pt x="119037" y="43014"/>
                  </a:lnTo>
                  <a:lnTo>
                    <a:pt x="80302" y="59397"/>
                  </a:lnTo>
                  <a:lnTo>
                    <a:pt x="47485" y="84785"/>
                  </a:lnTo>
                  <a:lnTo>
                    <a:pt x="22136" y="117627"/>
                  </a:lnTo>
                  <a:lnTo>
                    <a:pt x="5791" y="156387"/>
                  </a:lnTo>
                  <a:lnTo>
                    <a:pt x="165" y="198310"/>
                  </a:lnTo>
                  <a:lnTo>
                    <a:pt x="50" y="199199"/>
                  </a:lnTo>
                  <a:lnTo>
                    <a:pt x="0" y="199517"/>
                  </a:lnTo>
                  <a:lnTo>
                    <a:pt x="5803" y="242671"/>
                  </a:lnTo>
                  <a:lnTo>
                    <a:pt x="22161" y="281457"/>
                  </a:lnTo>
                  <a:lnTo>
                    <a:pt x="47523" y="314312"/>
                  </a:lnTo>
                  <a:lnTo>
                    <a:pt x="80365" y="339699"/>
                  </a:lnTo>
                  <a:lnTo>
                    <a:pt x="119126" y="356057"/>
                  </a:lnTo>
                  <a:lnTo>
                    <a:pt x="162255" y="361861"/>
                  </a:lnTo>
                  <a:lnTo>
                    <a:pt x="205384" y="356057"/>
                  </a:lnTo>
                  <a:lnTo>
                    <a:pt x="244144" y="339699"/>
                  </a:lnTo>
                  <a:lnTo>
                    <a:pt x="249072" y="335876"/>
                  </a:lnTo>
                  <a:lnTo>
                    <a:pt x="276987" y="314312"/>
                  </a:lnTo>
                  <a:lnTo>
                    <a:pt x="295211" y="290703"/>
                  </a:lnTo>
                  <a:lnTo>
                    <a:pt x="302348" y="281457"/>
                  </a:lnTo>
                  <a:lnTo>
                    <a:pt x="318706" y="242671"/>
                  </a:lnTo>
                  <a:lnTo>
                    <a:pt x="324497" y="199517"/>
                  </a:lnTo>
                  <a:close/>
                </a:path>
                <a:path w="525779" h="386080">
                  <a:moveTo>
                    <a:pt x="525741" y="363613"/>
                  </a:moveTo>
                  <a:lnTo>
                    <a:pt x="369989" y="272719"/>
                  </a:lnTo>
                  <a:lnTo>
                    <a:pt x="356908" y="295148"/>
                  </a:lnTo>
                  <a:lnTo>
                    <a:pt x="512660" y="386054"/>
                  </a:lnTo>
                  <a:lnTo>
                    <a:pt x="525741" y="363613"/>
                  </a:lnTo>
                  <a:close/>
                </a:path>
                <a:path w="525779" h="386080">
                  <a:moveTo>
                    <a:pt x="525741" y="22428"/>
                  </a:moveTo>
                  <a:lnTo>
                    <a:pt x="512660" y="0"/>
                  </a:lnTo>
                  <a:lnTo>
                    <a:pt x="356895" y="90906"/>
                  </a:lnTo>
                  <a:lnTo>
                    <a:pt x="369989" y="113334"/>
                  </a:lnTo>
                  <a:lnTo>
                    <a:pt x="525741" y="22428"/>
                  </a:lnTo>
                  <a:close/>
                </a:path>
              </a:pathLst>
            </a:custGeom>
            <a:solidFill>
              <a:srgbClr val="000000"/>
            </a:solidFill>
          </p:spPr>
          <p:txBody>
            <a:bodyPr wrap="square" lIns="0" tIns="0" rIns="0" bIns="0" rtlCol="0"/>
            <a:lstStyle/>
            <a:p>
              <a:endParaRPr/>
            </a:p>
          </p:txBody>
        </p:sp>
        <p:pic>
          <p:nvPicPr>
            <p:cNvPr id="9" name="object 9"/>
            <p:cNvPicPr/>
            <p:nvPr/>
          </p:nvPicPr>
          <p:blipFill>
            <a:blip r:embed="rId5" cstate="print"/>
            <a:stretch>
              <a:fillRect/>
            </a:stretch>
          </p:blipFill>
          <p:spPr>
            <a:xfrm>
              <a:off x="8220456" y="65532"/>
              <a:ext cx="1389126" cy="1389125"/>
            </a:xfrm>
            <a:prstGeom prst="rect">
              <a:avLst/>
            </a:prstGeom>
          </p:spPr>
        </p:pic>
        <p:sp>
          <p:nvSpPr>
            <p:cNvPr id="10" name="object 10"/>
            <p:cNvSpPr/>
            <p:nvPr/>
          </p:nvSpPr>
          <p:spPr>
            <a:xfrm>
              <a:off x="8606764" y="310416"/>
              <a:ext cx="447040" cy="497840"/>
            </a:xfrm>
            <a:custGeom>
              <a:avLst/>
              <a:gdLst/>
              <a:ahLst/>
              <a:cxnLst/>
              <a:rect l="l" t="t" r="r" b="b"/>
              <a:pathLst>
                <a:path w="447040" h="497840">
                  <a:moveTo>
                    <a:pt x="166388" y="392429"/>
                  </a:moveTo>
                  <a:lnTo>
                    <a:pt x="139873" y="392429"/>
                  </a:lnTo>
                  <a:lnTo>
                    <a:pt x="155479" y="435609"/>
                  </a:lnTo>
                  <a:lnTo>
                    <a:pt x="174769" y="469899"/>
                  </a:lnTo>
                  <a:lnTo>
                    <a:pt x="197046" y="491489"/>
                  </a:lnTo>
                  <a:lnTo>
                    <a:pt x="221614" y="497839"/>
                  </a:lnTo>
                  <a:lnTo>
                    <a:pt x="246224" y="490219"/>
                  </a:lnTo>
                  <a:lnTo>
                    <a:pt x="263328" y="473710"/>
                  </a:lnTo>
                  <a:lnTo>
                    <a:pt x="221614" y="473709"/>
                  </a:lnTo>
                  <a:lnTo>
                    <a:pt x="206968" y="467359"/>
                  </a:lnTo>
                  <a:lnTo>
                    <a:pt x="191633" y="450849"/>
                  </a:lnTo>
                  <a:lnTo>
                    <a:pt x="176830" y="422909"/>
                  </a:lnTo>
                  <a:lnTo>
                    <a:pt x="166388" y="392429"/>
                  </a:lnTo>
                  <a:close/>
                </a:path>
                <a:path w="447040" h="497840">
                  <a:moveTo>
                    <a:pt x="310506" y="361950"/>
                  </a:moveTo>
                  <a:lnTo>
                    <a:pt x="223367" y="361949"/>
                  </a:lnTo>
                  <a:lnTo>
                    <a:pt x="237213" y="368299"/>
                  </a:lnTo>
                  <a:lnTo>
                    <a:pt x="251229" y="373380"/>
                  </a:lnTo>
                  <a:lnTo>
                    <a:pt x="265405" y="379730"/>
                  </a:lnTo>
                  <a:lnTo>
                    <a:pt x="279732" y="383540"/>
                  </a:lnTo>
                  <a:lnTo>
                    <a:pt x="266636" y="421640"/>
                  </a:lnTo>
                  <a:lnTo>
                    <a:pt x="251736" y="449579"/>
                  </a:lnTo>
                  <a:lnTo>
                    <a:pt x="236305" y="467359"/>
                  </a:lnTo>
                  <a:lnTo>
                    <a:pt x="221614" y="473709"/>
                  </a:lnTo>
                  <a:lnTo>
                    <a:pt x="263328" y="473710"/>
                  </a:lnTo>
                  <a:lnTo>
                    <a:pt x="268591" y="468630"/>
                  </a:lnTo>
                  <a:lnTo>
                    <a:pt x="287965" y="435610"/>
                  </a:lnTo>
                  <a:lnTo>
                    <a:pt x="303594" y="391160"/>
                  </a:lnTo>
                  <a:lnTo>
                    <a:pt x="417310" y="391160"/>
                  </a:lnTo>
                  <a:lnTo>
                    <a:pt x="427230" y="386080"/>
                  </a:lnTo>
                  <a:lnTo>
                    <a:pt x="435501" y="375920"/>
                  </a:lnTo>
                  <a:lnTo>
                    <a:pt x="370884" y="375920"/>
                  </a:lnTo>
                  <a:lnTo>
                    <a:pt x="339930" y="373380"/>
                  </a:lnTo>
                  <a:lnTo>
                    <a:pt x="324643" y="370840"/>
                  </a:lnTo>
                  <a:lnTo>
                    <a:pt x="309543" y="367030"/>
                  </a:lnTo>
                  <a:lnTo>
                    <a:pt x="310506" y="361950"/>
                  </a:lnTo>
                  <a:close/>
                </a:path>
                <a:path w="447040" h="497840">
                  <a:moveTo>
                    <a:pt x="72344" y="96519"/>
                  </a:moveTo>
                  <a:lnTo>
                    <a:pt x="30878" y="104139"/>
                  </a:lnTo>
                  <a:lnTo>
                    <a:pt x="0" y="149859"/>
                  </a:lnTo>
                  <a:lnTo>
                    <a:pt x="7934" y="180339"/>
                  </a:lnTo>
                  <a:lnTo>
                    <a:pt x="28170" y="214629"/>
                  </a:lnTo>
                  <a:lnTo>
                    <a:pt x="59407" y="250189"/>
                  </a:lnTo>
                  <a:lnTo>
                    <a:pt x="29813" y="285749"/>
                  </a:lnTo>
                  <a:lnTo>
                    <a:pt x="10764" y="318769"/>
                  </a:lnTo>
                  <a:lnTo>
                    <a:pt x="3475" y="349249"/>
                  </a:lnTo>
                  <a:lnTo>
                    <a:pt x="9164" y="373379"/>
                  </a:lnTo>
                  <a:lnTo>
                    <a:pt x="19497" y="386079"/>
                  </a:lnTo>
                  <a:lnTo>
                    <a:pt x="34372" y="393699"/>
                  </a:lnTo>
                  <a:lnTo>
                    <a:pt x="53312" y="398779"/>
                  </a:lnTo>
                  <a:lnTo>
                    <a:pt x="75838" y="401319"/>
                  </a:lnTo>
                  <a:lnTo>
                    <a:pt x="108123" y="398779"/>
                  </a:lnTo>
                  <a:lnTo>
                    <a:pt x="124087" y="394969"/>
                  </a:lnTo>
                  <a:lnTo>
                    <a:pt x="139873" y="392429"/>
                  </a:lnTo>
                  <a:lnTo>
                    <a:pt x="166388" y="392429"/>
                  </a:lnTo>
                  <a:lnTo>
                    <a:pt x="163778" y="384809"/>
                  </a:lnTo>
                  <a:lnTo>
                    <a:pt x="190185" y="375919"/>
                  </a:lnTo>
                  <a:lnTo>
                    <a:pt x="75881" y="375919"/>
                  </a:lnTo>
                  <a:lnTo>
                    <a:pt x="36818" y="367029"/>
                  </a:lnTo>
                  <a:lnTo>
                    <a:pt x="28568" y="345439"/>
                  </a:lnTo>
                  <a:lnTo>
                    <a:pt x="35662" y="323849"/>
                  </a:lnTo>
                  <a:lnTo>
                    <a:pt x="51992" y="297179"/>
                  </a:lnTo>
                  <a:lnTo>
                    <a:pt x="77471" y="267969"/>
                  </a:lnTo>
                  <a:lnTo>
                    <a:pt x="116620" y="267969"/>
                  </a:lnTo>
                  <a:lnTo>
                    <a:pt x="115193" y="266699"/>
                  </a:lnTo>
                  <a:lnTo>
                    <a:pt x="108325" y="261619"/>
                  </a:lnTo>
                  <a:lnTo>
                    <a:pt x="101722" y="256539"/>
                  </a:lnTo>
                  <a:lnTo>
                    <a:pt x="95384" y="250189"/>
                  </a:lnTo>
                  <a:lnTo>
                    <a:pt x="101678" y="245109"/>
                  </a:lnTo>
                  <a:lnTo>
                    <a:pt x="108258" y="238759"/>
                  </a:lnTo>
                  <a:lnTo>
                    <a:pt x="115118" y="233679"/>
                  </a:lnTo>
                  <a:lnTo>
                    <a:pt x="77244" y="233679"/>
                  </a:lnTo>
                  <a:lnTo>
                    <a:pt x="50214" y="203199"/>
                  </a:lnTo>
                  <a:lnTo>
                    <a:pt x="32808" y="175259"/>
                  </a:lnTo>
                  <a:lnTo>
                    <a:pt x="25127" y="152399"/>
                  </a:lnTo>
                  <a:lnTo>
                    <a:pt x="27271" y="137159"/>
                  </a:lnTo>
                  <a:lnTo>
                    <a:pt x="33287" y="130809"/>
                  </a:lnTo>
                  <a:lnTo>
                    <a:pt x="43071" y="125729"/>
                  </a:lnTo>
                  <a:lnTo>
                    <a:pt x="56227" y="123189"/>
                  </a:lnTo>
                  <a:lnTo>
                    <a:pt x="72355" y="121919"/>
                  </a:lnTo>
                  <a:lnTo>
                    <a:pt x="186274" y="121919"/>
                  </a:lnTo>
                  <a:lnTo>
                    <a:pt x="163518" y="114299"/>
                  </a:lnTo>
                  <a:lnTo>
                    <a:pt x="166128" y="106679"/>
                  </a:lnTo>
                  <a:lnTo>
                    <a:pt x="139645" y="106679"/>
                  </a:lnTo>
                  <a:lnTo>
                    <a:pt x="123070" y="102869"/>
                  </a:lnTo>
                  <a:lnTo>
                    <a:pt x="89370" y="97789"/>
                  </a:lnTo>
                  <a:lnTo>
                    <a:pt x="72344" y="96519"/>
                  </a:lnTo>
                  <a:close/>
                </a:path>
                <a:path w="447040" h="497840">
                  <a:moveTo>
                    <a:pt x="417310" y="391160"/>
                  </a:moveTo>
                  <a:lnTo>
                    <a:pt x="303594" y="391160"/>
                  </a:lnTo>
                  <a:lnTo>
                    <a:pt x="320163" y="394970"/>
                  </a:lnTo>
                  <a:lnTo>
                    <a:pt x="353854" y="400050"/>
                  </a:lnTo>
                  <a:lnTo>
                    <a:pt x="370874" y="401320"/>
                  </a:lnTo>
                  <a:lnTo>
                    <a:pt x="393406" y="398780"/>
                  </a:lnTo>
                  <a:lnTo>
                    <a:pt x="412350" y="393700"/>
                  </a:lnTo>
                  <a:lnTo>
                    <a:pt x="417310" y="391160"/>
                  </a:lnTo>
                  <a:close/>
                </a:path>
                <a:path w="447040" h="497840">
                  <a:moveTo>
                    <a:pt x="116620" y="267969"/>
                  </a:moveTo>
                  <a:lnTo>
                    <a:pt x="77471" y="267969"/>
                  </a:lnTo>
                  <a:lnTo>
                    <a:pt x="88820" y="278129"/>
                  </a:lnTo>
                  <a:lnTo>
                    <a:pt x="100439" y="287019"/>
                  </a:lnTo>
                  <a:lnTo>
                    <a:pt x="112324" y="295909"/>
                  </a:lnTo>
                  <a:lnTo>
                    <a:pt x="124470" y="304799"/>
                  </a:lnTo>
                  <a:lnTo>
                    <a:pt x="126125" y="321309"/>
                  </a:lnTo>
                  <a:lnTo>
                    <a:pt x="128250" y="336549"/>
                  </a:lnTo>
                  <a:lnTo>
                    <a:pt x="130846" y="351789"/>
                  </a:lnTo>
                  <a:lnTo>
                    <a:pt x="133913" y="367029"/>
                  </a:lnTo>
                  <a:lnTo>
                    <a:pt x="119607" y="370839"/>
                  </a:lnTo>
                  <a:lnTo>
                    <a:pt x="105140" y="373379"/>
                  </a:lnTo>
                  <a:lnTo>
                    <a:pt x="75881" y="375919"/>
                  </a:lnTo>
                  <a:lnTo>
                    <a:pt x="190185" y="375919"/>
                  </a:lnTo>
                  <a:lnTo>
                    <a:pt x="193933" y="374649"/>
                  </a:lnTo>
                  <a:lnTo>
                    <a:pt x="223367" y="361949"/>
                  </a:lnTo>
                  <a:lnTo>
                    <a:pt x="310506" y="361950"/>
                  </a:lnTo>
                  <a:lnTo>
                    <a:pt x="310746" y="360680"/>
                  </a:lnTo>
                  <a:lnTo>
                    <a:pt x="157828" y="360679"/>
                  </a:lnTo>
                  <a:lnTo>
                    <a:pt x="156014" y="351789"/>
                  </a:lnTo>
                  <a:lnTo>
                    <a:pt x="154341" y="342899"/>
                  </a:lnTo>
                  <a:lnTo>
                    <a:pt x="152816" y="332739"/>
                  </a:lnTo>
                  <a:lnTo>
                    <a:pt x="151447" y="322579"/>
                  </a:lnTo>
                  <a:lnTo>
                    <a:pt x="199872" y="322579"/>
                  </a:lnTo>
                  <a:lnTo>
                    <a:pt x="194000" y="318769"/>
                  </a:lnTo>
                  <a:lnTo>
                    <a:pt x="184232" y="313689"/>
                  </a:lnTo>
                  <a:lnTo>
                    <a:pt x="174822" y="308609"/>
                  </a:lnTo>
                  <a:lnTo>
                    <a:pt x="165703" y="302259"/>
                  </a:lnTo>
                  <a:lnTo>
                    <a:pt x="156867" y="297179"/>
                  </a:lnTo>
                  <a:lnTo>
                    <a:pt x="148310" y="290829"/>
                  </a:lnTo>
                  <a:lnTo>
                    <a:pt x="147677" y="280669"/>
                  </a:lnTo>
                  <a:lnTo>
                    <a:pt x="147560" y="278129"/>
                  </a:lnTo>
                  <a:lnTo>
                    <a:pt x="147444" y="275589"/>
                  </a:lnTo>
                  <a:lnTo>
                    <a:pt x="147328" y="273049"/>
                  </a:lnTo>
                  <a:lnTo>
                    <a:pt x="122328" y="273049"/>
                  </a:lnTo>
                  <a:lnTo>
                    <a:pt x="116620" y="267969"/>
                  </a:lnTo>
                  <a:close/>
                </a:path>
                <a:path w="447040" h="497840">
                  <a:moveTo>
                    <a:pt x="402128" y="267970"/>
                  </a:moveTo>
                  <a:lnTo>
                    <a:pt x="369305" y="267970"/>
                  </a:lnTo>
                  <a:lnTo>
                    <a:pt x="394766" y="297180"/>
                  </a:lnTo>
                  <a:lnTo>
                    <a:pt x="411090" y="323850"/>
                  </a:lnTo>
                  <a:lnTo>
                    <a:pt x="418190" y="345440"/>
                  </a:lnTo>
                  <a:lnTo>
                    <a:pt x="415979" y="360680"/>
                  </a:lnTo>
                  <a:lnTo>
                    <a:pt x="409958" y="367030"/>
                  </a:lnTo>
                  <a:lnTo>
                    <a:pt x="400173" y="372110"/>
                  </a:lnTo>
                  <a:lnTo>
                    <a:pt x="387018" y="374650"/>
                  </a:lnTo>
                  <a:lnTo>
                    <a:pt x="370884" y="375920"/>
                  </a:lnTo>
                  <a:lnTo>
                    <a:pt x="435501" y="375920"/>
                  </a:lnTo>
                  <a:lnTo>
                    <a:pt x="437569" y="373380"/>
                  </a:lnTo>
                  <a:lnTo>
                    <a:pt x="443257" y="349250"/>
                  </a:lnTo>
                  <a:lnTo>
                    <a:pt x="435967" y="318770"/>
                  </a:lnTo>
                  <a:lnTo>
                    <a:pt x="416920" y="285750"/>
                  </a:lnTo>
                  <a:lnTo>
                    <a:pt x="402128" y="267970"/>
                  </a:lnTo>
                  <a:close/>
                </a:path>
                <a:path w="447040" h="497840">
                  <a:moveTo>
                    <a:pt x="199872" y="322579"/>
                  </a:moveTo>
                  <a:lnTo>
                    <a:pt x="151447" y="322579"/>
                  </a:lnTo>
                  <a:lnTo>
                    <a:pt x="158045" y="327659"/>
                  </a:lnTo>
                  <a:lnTo>
                    <a:pt x="164816" y="331469"/>
                  </a:lnTo>
                  <a:lnTo>
                    <a:pt x="179170" y="339089"/>
                  </a:lnTo>
                  <a:lnTo>
                    <a:pt x="186601" y="344169"/>
                  </a:lnTo>
                  <a:lnTo>
                    <a:pt x="194010" y="347979"/>
                  </a:lnTo>
                  <a:lnTo>
                    <a:pt x="184831" y="351789"/>
                  </a:lnTo>
                  <a:lnTo>
                    <a:pt x="175733" y="354329"/>
                  </a:lnTo>
                  <a:lnTo>
                    <a:pt x="166728" y="358139"/>
                  </a:lnTo>
                  <a:lnTo>
                    <a:pt x="157828" y="360679"/>
                  </a:lnTo>
                  <a:lnTo>
                    <a:pt x="310746" y="360680"/>
                  </a:lnTo>
                  <a:lnTo>
                    <a:pt x="310987" y="359410"/>
                  </a:lnTo>
                  <a:lnTo>
                    <a:pt x="285617" y="359410"/>
                  </a:lnTo>
                  <a:lnTo>
                    <a:pt x="269325" y="354330"/>
                  </a:lnTo>
                  <a:lnTo>
                    <a:pt x="261062" y="350520"/>
                  </a:lnTo>
                  <a:lnTo>
                    <a:pt x="252734" y="347980"/>
                  </a:lnTo>
                  <a:lnTo>
                    <a:pt x="260143" y="344170"/>
                  </a:lnTo>
                  <a:lnTo>
                    <a:pt x="267553" y="339090"/>
                  </a:lnTo>
                  <a:lnTo>
                    <a:pt x="277980" y="334010"/>
                  </a:lnTo>
                  <a:lnTo>
                    <a:pt x="223334" y="334009"/>
                  </a:lnTo>
                  <a:lnTo>
                    <a:pt x="213572" y="330199"/>
                  </a:lnTo>
                  <a:lnTo>
                    <a:pt x="203787" y="325119"/>
                  </a:lnTo>
                  <a:lnTo>
                    <a:pt x="199872" y="322579"/>
                  </a:lnTo>
                  <a:close/>
                </a:path>
                <a:path w="447040" h="497840">
                  <a:moveTo>
                    <a:pt x="316593" y="325120"/>
                  </a:moveTo>
                  <a:lnTo>
                    <a:pt x="291468" y="325120"/>
                  </a:lnTo>
                  <a:lnTo>
                    <a:pt x="290185" y="334010"/>
                  </a:lnTo>
                  <a:lnTo>
                    <a:pt x="288783" y="342900"/>
                  </a:lnTo>
                  <a:lnTo>
                    <a:pt x="287264" y="351790"/>
                  </a:lnTo>
                  <a:lnTo>
                    <a:pt x="285627" y="359410"/>
                  </a:lnTo>
                  <a:lnTo>
                    <a:pt x="310987" y="359410"/>
                  </a:lnTo>
                  <a:lnTo>
                    <a:pt x="312431" y="351790"/>
                  </a:lnTo>
                  <a:lnTo>
                    <a:pt x="314895" y="337820"/>
                  </a:lnTo>
                  <a:lnTo>
                    <a:pt x="316593" y="325120"/>
                  </a:lnTo>
                  <a:close/>
                </a:path>
                <a:path w="447040" h="497840">
                  <a:moveTo>
                    <a:pt x="276201" y="165100"/>
                  </a:moveTo>
                  <a:lnTo>
                    <a:pt x="223334" y="165099"/>
                  </a:lnTo>
                  <a:lnTo>
                    <a:pt x="232254" y="170179"/>
                  </a:lnTo>
                  <a:lnTo>
                    <a:pt x="241176" y="173990"/>
                  </a:lnTo>
                  <a:lnTo>
                    <a:pt x="258986" y="184150"/>
                  </a:lnTo>
                  <a:lnTo>
                    <a:pt x="268415" y="189230"/>
                  </a:lnTo>
                  <a:lnTo>
                    <a:pt x="277539" y="195580"/>
                  </a:lnTo>
                  <a:lnTo>
                    <a:pt x="286359" y="200660"/>
                  </a:lnTo>
                  <a:lnTo>
                    <a:pt x="294876" y="207010"/>
                  </a:lnTo>
                  <a:lnTo>
                    <a:pt x="295504" y="217170"/>
                  </a:lnTo>
                  <a:lnTo>
                    <a:pt x="295395" y="283210"/>
                  </a:lnTo>
                  <a:lnTo>
                    <a:pt x="262436" y="313690"/>
                  </a:lnTo>
                  <a:lnTo>
                    <a:pt x="252688" y="318770"/>
                  </a:lnTo>
                  <a:lnTo>
                    <a:pt x="242910" y="325119"/>
                  </a:lnTo>
                  <a:lnTo>
                    <a:pt x="233119" y="330199"/>
                  </a:lnTo>
                  <a:lnTo>
                    <a:pt x="223334" y="334009"/>
                  </a:lnTo>
                  <a:lnTo>
                    <a:pt x="277980" y="334010"/>
                  </a:lnTo>
                  <a:lnTo>
                    <a:pt x="280587" y="332740"/>
                  </a:lnTo>
                  <a:lnTo>
                    <a:pt x="291468" y="325120"/>
                  </a:lnTo>
                  <a:lnTo>
                    <a:pt x="316593" y="325120"/>
                  </a:lnTo>
                  <a:lnTo>
                    <a:pt x="316933" y="322580"/>
                  </a:lnTo>
                  <a:lnTo>
                    <a:pt x="318543" y="307340"/>
                  </a:lnTo>
                  <a:lnTo>
                    <a:pt x="331685" y="298450"/>
                  </a:lnTo>
                  <a:lnTo>
                    <a:pt x="344532" y="288290"/>
                  </a:lnTo>
                  <a:lnTo>
                    <a:pt x="357075" y="278130"/>
                  </a:lnTo>
                  <a:lnTo>
                    <a:pt x="360132" y="275590"/>
                  </a:lnTo>
                  <a:lnTo>
                    <a:pt x="320803" y="275590"/>
                  </a:lnTo>
                  <a:lnTo>
                    <a:pt x="320901" y="224790"/>
                  </a:lnTo>
                  <a:lnTo>
                    <a:pt x="359997" y="224790"/>
                  </a:lnTo>
                  <a:lnTo>
                    <a:pt x="357289" y="222250"/>
                  </a:lnTo>
                  <a:lnTo>
                    <a:pt x="344772" y="212090"/>
                  </a:lnTo>
                  <a:lnTo>
                    <a:pt x="331936" y="201930"/>
                  </a:lnTo>
                  <a:lnTo>
                    <a:pt x="318791" y="193040"/>
                  </a:lnTo>
                  <a:lnTo>
                    <a:pt x="317194" y="177800"/>
                  </a:lnTo>
                  <a:lnTo>
                    <a:pt x="316852" y="175260"/>
                  </a:lnTo>
                  <a:lnTo>
                    <a:pt x="291793" y="175260"/>
                  </a:lnTo>
                  <a:lnTo>
                    <a:pt x="285184" y="170180"/>
                  </a:lnTo>
                  <a:lnTo>
                    <a:pt x="276201" y="165100"/>
                  </a:lnTo>
                  <a:close/>
                </a:path>
                <a:path w="447040" h="497840">
                  <a:moveTo>
                    <a:pt x="359997" y="224790"/>
                  </a:moveTo>
                  <a:lnTo>
                    <a:pt x="320901" y="224790"/>
                  </a:lnTo>
                  <a:lnTo>
                    <a:pt x="329030" y="231140"/>
                  </a:lnTo>
                  <a:lnTo>
                    <a:pt x="336817" y="237490"/>
                  </a:lnTo>
                  <a:lnTo>
                    <a:pt x="344255" y="243840"/>
                  </a:lnTo>
                  <a:lnTo>
                    <a:pt x="351339" y="250190"/>
                  </a:lnTo>
                  <a:lnTo>
                    <a:pt x="344222" y="256540"/>
                  </a:lnTo>
                  <a:lnTo>
                    <a:pt x="336761" y="262890"/>
                  </a:lnTo>
                  <a:lnTo>
                    <a:pt x="328954" y="269240"/>
                  </a:lnTo>
                  <a:lnTo>
                    <a:pt x="320803" y="275590"/>
                  </a:lnTo>
                  <a:lnTo>
                    <a:pt x="360132" y="275590"/>
                  </a:lnTo>
                  <a:lnTo>
                    <a:pt x="369305" y="267970"/>
                  </a:lnTo>
                  <a:lnTo>
                    <a:pt x="402128" y="267970"/>
                  </a:lnTo>
                  <a:lnTo>
                    <a:pt x="387337" y="250190"/>
                  </a:lnTo>
                  <a:lnTo>
                    <a:pt x="401840" y="233680"/>
                  </a:lnTo>
                  <a:lnTo>
                    <a:pt x="369478" y="233680"/>
                  </a:lnTo>
                  <a:lnTo>
                    <a:pt x="359997" y="224790"/>
                  </a:lnTo>
                  <a:close/>
                </a:path>
                <a:path w="447040" h="497840">
                  <a:moveTo>
                    <a:pt x="147192" y="227329"/>
                  </a:moveTo>
                  <a:lnTo>
                    <a:pt x="122252" y="227329"/>
                  </a:lnTo>
                  <a:lnTo>
                    <a:pt x="122328" y="273049"/>
                  </a:lnTo>
                  <a:lnTo>
                    <a:pt x="147328" y="273049"/>
                  </a:lnTo>
                  <a:lnTo>
                    <a:pt x="147212" y="270509"/>
                  </a:lnTo>
                  <a:lnTo>
                    <a:pt x="147192" y="227329"/>
                  </a:lnTo>
                  <a:close/>
                </a:path>
                <a:path w="447040" h="497840">
                  <a:moveTo>
                    <a:pt x="186274" y="121919"/>
                  </a:moveTo>
                  <a:lnTo>
                    <a:pt x="72355" y="121919"/>
                  </a:lnTo>
                  <a:lnTo>
                    <a:pt x="103311" y="124459"/>
                  </a:lnTo>
                  <a:lnTo>
                    <a:pt x="118601" y="126999"/>
                  </a:lnTo>
                  <a:lnTo>
                    <a:pt x="133707" y="130809"/>
                  </a:lnTo>
                  <a:lnTo>
                    <a:pt x="130582" y="147319"/>
                  </a:lnTo>
                  <a:lnTo>
                    <a:pt x="127955" y="162559"/>
                  </a:lnTo>
                  <a:lnTo>
                    <a:pt x="125828" y="179069"/>
                  </a:lnTo>
                  <a:lnTo>
                    <a:pt x="124199" y="195579"/>
                  </a:lnTo>
                  <a:lnTo>
                    <a:pt x="112050" y="204469"/>
                  </a:lnTo>
                  <a:lnTo>
                    <a:pt x="100170" y="213359"/>
                  </a:lnTo>
                  <a:lnTo>
                    <a:pt x="88566" y="223519"/>
                  </a:lnTo>
                  <a:lnTo>
                    <a:pt x="77244" y="233679"/>
                  </a:lnTo>
                  <a:lnTo>
                    <a:pt x="115118" y="233679"/>
                  </a:lnTo>
                  <a:lnTo>
                    <a:pt x="122252" y="227329"/>
                  </a:lnTo>
                  <a:lnTo>
                    <a:pt x="147192" y="227329"/>
                  </a:lnTo>
                  <a:lnTo>
                    <a:pt x="177253" y="190499"/>
                  </a:lnTo>
                  <a:lnTo>
                    <a:pt x="201036" y="176529"/>
                  </a:lnTo>
                  <a:lnTo>
                    <a:pt x="151122" y="176529"/>
                  </a:lnTo>
                  <a:lnTo>
                    <a:pt x="152509" y="166369"/>
                  </a:lnTo>
                  <a:lnTo>
                    <a:pt x="154072" y="157479"/>
                  </a:lnTo>
                  <a:lnTo>
                    <a:pt x="155786" y="147319"/>
                  </a:lnTo>
                  <a:lnTo>
                    <a:pt x="157623" y="138429"/>
                  </a:lnTo>
                  <a:lnTo>
                    <a:pt x="310931" y="138430"/>
                  </a:lnTo>
                  <a:lnTo>
                    <a:pt x="310686" y="137160"/>
                  </a:lnTo>
                  <a:lnTo>
                    <a:pt x="223367" y="137159"/>
                  </a:lnTo>
                  <a:lnTo>
                    <a:pt x="193803" y="124459"/>
                  </a:lnTo>
                  <a:lnTo>
                    <a:pt x="186274" y="121919"/>
                  </a:lnTo>
                  <a:close/>
                </a:path>
                <a:path w="447040" h="497840">
                  <a:moveTo>
                    <a:pt x="439028" y="121920"/>
                  </a:moveTo>
                  <a:lnTo>
                    <a:pt x="374367" y="121920"/>
                  </a:lnTo>
                  <a:lnTo>
                    <a:pt x="390520" y="123190"/>
                  </a:lnTo>
                  <a:lnTo>
                    <a:pt x="403676" y="125730"/>
                  </a:lnTo>
                  <a:lnTo>
                    <a:pt x="413452" y="130810"/>
                  </a:lnTo>
                  <a:lnTo>
                    <a:pt x="419462" y="137160"/>
                  </a:lnTo>
                  <a:lnTo>
                    <a:pt x="421612" y="152400"/>
                  </a:lnTo>
                  <a:lnTo>
                    <a:pt x="413940" y="175260"/>
                  </a:lnTo>
                  <a:lnTo>
                    <a:pt x="396533" y="201930"/>
                  </a:lnTo>
                  <a:lnTo>
                    <a:pt x="369478" y="233680"/>
                  </a:lnTo>
                  <a:lnTo>
                    <a:pt x="401840" y="233680"/>
                  </a:lnTo>
                  <a:lnTo>
                    <a:pt x="418574" y="214630"/>
                  </a:lnTo>
                  <a:lnTo>
                    <a:pt x="438813" y="180340"/>
                  </a:lnTo>
                  <a:lnTo>
                    <a:pt x="446754" y="149860"/>
                  </a:lnTo>
                  <a:lnTo>
                    <a:pt x="441095" y="124460"/>
                  </a:lnTo>
                  <a:lnTo>
                    <a:pt x="439028" y="121920"/>
                  </a:lnTo>
                  <a:close/>
                </a:path>
                <a:path w="447040" h="497840">
                  <a:moveTo>
                    <a:pt x="310931" y="138430"/>
                  </a:moveTo>
                  <a:lnTo>
                    <a:pt x="157623" y="138429"/>
                  </a:lnTo>
                  <a:lnTo>
                    <a:pt x="166684" y="140969"/>
                  </a:lnTo>
                  <a:lnTo>
                    <a:pt x="194443" y="152399"/>
                  </a:lnTo>
                  <a:lnTo>
                    <a:pt x="188050" y="154939"/>
                  </a:lnTo>
                  <a:lnTo>
                    <a:pt x="175243" y="162559"/>
                  </a:lnTo>
                  <a:lnTo>
                    <a:pt x="169088" y="166369"/>
                  </a:lnTo>
                  <a:lnTo>
                    <a:pt x="157028" y="173989"/>
                  </a:lnTo>
                  <a:lnTo>
                    <a:pt x="151122" y="176529"/>
                  </a:lnTo>
                  <a:lnTo>
                    <a:pt x="201036" y="176529"/>
                  </a:lnTo>
                  <a:lnTo>
                    <a:pt x="205491" y="173989"/>
                  </a:lnTo>
                  <a:lnTo>
                    <a:pt x="214417" y="170179"/>
                  </a:lnTo>
                  <a:lnTo>
                    <a:pt x="223334" y="165099"/>
                  </a:lnTo>
                  <a:lnTo>
                    <a:pt x="276201" y="165100"/>
                  </a:lnTo>
                  <a:lnTo>
                    <a:pt x="265086" y="158750"/>
                  </a:lnTo>
                  <a:lnTo>
                    <a:pt x="258672" y="154940"/>
                  </a:lnTo>
                  <a:lnTo>
                    <a:pt x="252290" y="152400"/>
                  </a:lnTo>
                  <a:lnTo>
                    <a:pt x="269208" y="144780"/>
                  </a:lnTo>
                  <a:lnTo>
                    <a:pt x="285833" y="139700"/>
                  </a:lnTo>
                  <a:lnTo>
                    <a:pt x="311176" y="139700"/>
                  </a:lnTo>
                  <a:lnTo>
                    <a:pt x="310931" y="138430"/>
                  </a:lnTo>
                  <a:close/>
                </a:path>
                <a:path w="447040" h="497840">
                  <a:moveTo>
                    <a:pt x="311176" y="139700"/>
                  </a:moveTo>
                  <a:lnTo>
                    <a:pt x="285833" y="139700"/>
                  </a:lnTo>
                  <a:lnTo>
                    <a:pt x="287520" y="147320"/>
                  </a:lnTo>
                  <a:lnTo>
                    <a:pt x="289076" y="156210"/>
                  </a:lnTo>
                  <a:lnTo>
                    <a:pt x="290501" y="165100"/>
                  </a:lnTo>
                  <a:lnTo>
                    <a:pt x="291793" y="175260"/>
                  </a:lnTo>
                  <a:lnTo>
                    <a:pt x="316852" y="175260"/>
                  </a:lnTo>
                  <a:lnTo>
                    <a:pt x="315145" y="162560"/>
                  </a:lnTo>
                  <a:lnTo>
                    <a:pt x="312648" y="147320"/>
                  </a:lnTo>
                  <a:lnTo>
                    <a:pt x="311176" y="139700"/>
                  </a:lnTo>
                  <a:close/>
                </a:path>
                <a:path w="447040" h="497840">
                  <a:moveTo>
                    <a:pt x="263478" y="24130"/>
                  </a:moveTo>
                  <a:lnTo>
                    <a:pt x="221614" y="24129"/>
                  </a:lnTo>
                  <a:lnTo>
                    <a:pt x="236448" y="30480"/>
                  </a:lnTo>
                  <a:lnTo>
                    <a:pt x="251970" y="48260"/>
                  </a:lnTo>
                  <a:lnTo>
                    <a:pt x="266914" y="76200"/>
                  </a:lnTo>
                  <a:lnTo>
                    <a:pt x="280013" y="114300"/>
                  </a:lnTo>
                  <a:lnTo>
                    <a:pt x="265613" y="119380"/>
                  </a:lnTo>
                  <a:lnTo>
                    <a:pt x="251365" y="125730"/>
                  </a:lnTo>
                  <a:lnTo>
                    <a:pt x="237280" y="130810"/>
                  </a:lnTo>
                  <a:lnTo>
                    <a:pt x="223367" y="137159"/>
                  </a:lnTo>
                  <a:lnTo>
                    <a:pt x="310686" y="137160"/>
                  </a:lnTo>
                  <a:lnTo>
                    <a:pt x="309705" y="132080"/>
                  </a:lnTo>
                  <a:lnTo>
                    <a:pt x="341724" y="124460"/>
                  </a:lnTo>
                  <a:lnTo>
                    <a:pt x="374367" y="121920"/>
                  </a:lnTo>
                  <a:lnTo>
                    <a:pt x="439028" y="121920"/>
                  </a:lnTo>
                  <a:lnTo>
                    <a:pt x="430756" y="111760"/>
                  </a:lnTo>
                  <a:lnTo>
                    <a:pt x="423316" y="107950"/>
                  </a:lnTo>
                  <a:lnTo>
                    <a:pt x="303875" y="107950"/>
                  </a:lnTo>
                  <a:lnTo>
                    <a:pt x="288219" y="63500"/>
                  </a:lnTo>
                  <a:lnTo>
                    <a:pt x="268763" y="29210"/>
                  </a:lnTo>
                  <a:lnTo>
                    <a:pt x="263478" y="24130"/>
                  </a:lnTo>
                  <a:close/>
                </a:path>
                <a:path w="447040" h="497840">
                  <a:moveTo>
                    <a:pt x="374400" y="96520"/>
                  </a:moveTo>
                  <a:lnTo>
                    <a:pt x="356541" y="97790"/>
                  </a:lnTo>
                  <a:lnTo>
                    <a:pt x="321222" y="102870"/>
                  </a:lnTo>
                  <a:lnTo>
                    <a:pt x="303875" y="107950"/>
                  </a:lnTo>
                  <a:lnTo>
                    <a:pt x="423316" y="107950"/>
                  </a:lnTo>
                  <a:lnTo>
                    <a:pt x="415876" y="104140"/>
                  </a:lnTo>
                  <a:lnTo>
                    <a:pt x="396932" y="99060"/>
                  </a:lnTo>
                  <a:lnTo>
                    <a:pt x="374400" y="96520"/>
                  </a:lnTo>
                  <a:close/>
                </a:path>
                <a:path w="447040" h="497840">
                  <a:moveTo>
                    <a:pt x="221636" y="0"/>
                  </a:moveTo>
                  <a:lnTo>
                    <a:pt x="197009" y="7619"/>
                  </a:lnTo>
                  <a:lnTo>
                    <a:pt x="174637" y="29209"/>
                  </a:lnTo>
                  <a:lnTo>
                    <a:pt x="155267" y="62229"/>
                  </a:lnTo>
                  <a:lnTo>
                    <a:pt x="139645" y="106679"/>
                  </a:lnTo>
                  <a:lnTo>
                    <a:pt x="166128" y="106679"/>
                  </a:lnTo>
                  <a:lnTo>
                    <a:pt x="176570" y="76199"/>
                  </a:lnTo>
                  <a:lnTo>
                    <a:pt x="191410" y="48259"/>
                  </a:lnTo>
                  <a:lnTo>
                    <a:pt x="206828" y="30479"/>
                  </a:lnTo>
                  <a:lnTo>
                    <a:pt x="221614" y="24129"/>
                  </a:lnTo>
                  <a:lnTo>
                    <a:pt x="263478" y="24130"/>
                  </a:lnTo>
                  <a:lnTo>
                    <a:pt x="246303" y="7620"/>
                  </a:lnTo>
                  <a:lnTo>
                    <a:pt x="221636" y="0"/>
                  </a:lnTo>
                  <a:close/>
                </a:path>
              </a:pathLst>
            </a:custGeom>
            <a:solidFill>
              <a:srgbClr val="000000"/>
            </a:solidFill>
          </p:spPr>
          <p:txBody>
            <a:bodyPr wrap="square" lIns="0" tIns="0" rIns="0" bIns="0" rtlCol="0"/>
            <a:lstStyle/>
            <a:p>
              <a:endParaRPr/>
            </a:p>
          </p:txBody>
        </p:sp>
        <p:pic>
          <p:nvPicPr>
            <p:cNvPr id="11" name="object 11"/>
            <p:cNvPicPr/>
            <p:nvPr/>
          </p:nvPicPr>
          <p:blipFill>
            <a:blip r:embed="rId6" cstate="print"/>
            <a:stretch>
              <a:fillRect/>
            </a:stretch>
          </p:blipFill>
          <p:spPr>
            <a:xfrm>
              <a:off x="8791148" y="521305"/>
              <a:ext cx="74407" cy="74870"/>
            </a:xfrm>
            <a:prstGeom prst="rect">
              <a:avLst/>
            </a:prstGeom>
          </p:spPr>
        </p:pic>
        <p:sp>
          <p:nvSpPr>
            <p:cNvPr id="12" name="object 12"/>
            <p:cNvSpPr/>
            <p:nvPr/>
          </p:nvSpPr>
          <p:spPr>
            <a:xfrm>
              <a:off x="8476783" y="213585"/>
              <a:ext cx="883285" cy="1048385"/>
            </a:xfrm>
            <a:custGeom>
              <a:avLst/>
              <a:gdLst/>
              <a:ahLst/>
              <a:cxnLst/>
              <a:rect l="l" t="t" r="r" b="b"/>
              <a:pathLst>
                <a:path w="883284" h="1048385">
                  <a:moveTo>
                    <a:pt x="399654" y="0"/>
                  </a:moveTo>
                  <a:lnTo>
                    <a:pt x="342280" y="2833"/>
                  </a:lnTo>
                  <a:lnTo>
                    <a:pt x="296241" y="11335"/>
                  </a:lnTo>
                  <a:lnTo>
                    <a:pt x="252235" y="25065"/>
                  </a:lnTo>
                  <a:lnTo>
                    <a:pt x="210608" y="43686"/>
                  </a:lnTo>
                  <a:lnTo>
                    <a:pt x="171707" y="66866"/>
                  </a:lnTo>
                  <a:lnTo>
                    <a:pt x="135878" y="94270"/>
                  </a:lnTo>
                  <a:lnTo>
                    <a:pt x="103467" y="125564"/>
                  </a:lnTo>
                  <a:lnTo>
                    <a:pt x="74822" y="160413"/>
                  </a:lnTo>
                  <a:lnTo>
                    <a:pt x="50287" y="198484"/>
                  </a:lnTo>
                  <a:lnTo>
                    <a:pt x="30205" y="239459"/>
                  </a:lnTo>
                  <a:lnTo>
                    <a:pt x="14924" y="283026"/>
                  </a:lnTo>
                  <a:lnTo>
                    <a:pt x="4818" y="328686"/>
                  </a:lnTo>
                  <a:lnTo>
                    <a:pt x="194" y="376302"/>
                  </a:lnTo>
                  <a:lnTo>
                    <a:pt x="0" y="383427"/>
                  </a:lnTo>
                  <a:lnTo>
                    <a:pt x="0" y="397673"/>
                  </a:lnTo>
                  <a:lnTo>
                    <a:pt x="3425" y="456958"/>
                  </a:lnTo>
                  <a:lnTo>
                    <a:pt x="13357" y="507696"/>
                  </a:lnTo>
                  <a:lnTo>
                    <a:pt x="29701" y="556415"/>
                  </a:lnTo>
                  <a:lnTo>
                    <a:pt x="52165" y="602519"/>
                  </a:lnTo>
                  <a:lnTo>
                    <a:pt x="80459" y="645411"/>
                  </a:lnTo>
                  <a:lnTo>
                    <a:pt x="114290" y="684495"/>
                  </a:lnTo>
                  <a:lnTo>
                    <a:pt x="153369" y="719174"/>
                  </a:lnTo>
                  <a:lnTo>
                    <a:pt x="153369" y="1047835"/>
                  </a:lnTo>
                  <a:lnTo>
                    <a:pt x="563549" y="1047835"/>
                  </a:lnTo>
                  <a:lnTo>
                    <a:pt x="563549" y="1021861"/>
                  </a:lnTo>
                  <a:lnTo>
                    <a:pt x="179329" y="1021861"/>
                  </a:lnTo>
                  <a:lnTo>
                    <a:pt x="179329" y="706436"/>
                  </a:lnTo>
                  <a:lnTo>
                    <a:pt x="132863" y="666166"/>
                  </a:lnTo>
                  <a:lnTo>
                    <a:pt x="101329" y="629610"/>
                  </a:lnTo>
                  <a:lnTo>
                    <a:pt x="74953" y="589550"/>
                  </a:lnTo>
                  <a:lnTo>
                    <a:pt x="53955" y="546462"/>
                  </a:lnTo>
                  <a:lnTo>
                    <a:pt x="38652" y="500970"/>
                  </a:lnTo>
                  <a:lnTo>
                    <a:pt x="29296" y="453598"/>
                  </a:lnTo>
                  <a:lnTo>
                    <a:pt x="26154" y="404896"/>
                  </a:lnTo>
                  <a:lnTo>
                    <a:pt x="25962" y="397673"/>
                  </a:lnTo>
                  <a:lnTo>
                    <a:pt x="25963" y="383427"/>
                  </a:lnTo>
                  <a:lnTo>
                    <a:pt x="30891" y="329087"/>
                  </a:lnTo>
                  <a:lnTo>
                    <a:pt x="41683" y="283026"/>
                  </a:lnTo>
                  <a:lnTo>
                    <a:pt x="58092" y="239459"/>
                  </a:lnTo>
                  <a:lnTo>
                    <a:pt x="79703" y="198790"/>
                  </a:lnTo>
                  <a:lnTo>
                    <a:pt x="106101" y="161419"/>
                  </a:lnTo>
                  <a:lnTo>
                    <a:pt x="136870" y="127747"/>
                  </a:lnTo>
                  <a:lnTo>
                    <a:pt x="171594" y="98175"/>
                  </a:lnTo>
                  <a:lnTo>
                    <a:pt x="209858" y="73105"/>
                  </a:lnTo>
                  <a:lnTo>
                    <a:pt x="251247" y="52938"/>
                  </a:lnTo>
                  <a:lnTo>
                    <a:pt x="295345" y="38075"/>
                  </a:lnTo>
                  <a:lnTo>
                    <a:pt x="341736" y="28917"/>
                  </a:lnTo>
                  <a:lnTo>
                    <a:pt x="386582" y="26082"/>
                  </a:lnTo>
                  <a:lnTo>
                    <a:pt x="529063" y="26082"/>
                  </a:lnTo>
                  <a:lnTo>
                    <a:pt x="500110" y="15655"/>
                  </a:lnTo>
                  <a:lnTo>
                    <a:pt x="453313" y="5050"/>
                  </a:lnTo>
                  <a:lnTo>
                    <a:pt x="404489" y="216"/>
                  </a:lnTo>
                  <a:lnTo>
                    <a:pt x="399654" y="0"/>
                  </a:lnTo>
                  <a:close/>
                </a:path>
                <a:path w="883284" h="1048385">
                  <a:moveTo>
                    <a:pt x="529063" y="26082"/>
                  </a:moveTo>
                  <a:lnTo>
                    <a:pt x="403548" y="26082"/>
                  </a:lnTo>
                  <a:lnTo>
                    <a:pt x="452815" y="31288"/>
                  </a:lnTo>
                  <a:lnTo>
                    <a:pt x="499828" y="42764"/>
                  </a:lnTo>
                  <a:lnTo>
                    <a:pt x="544173" y="60063"/>
                  </a:lnTo>
                  <a:lnTo>
                    <a:pt x="585431" y="82736"/>
                  </a:lnTo>
                  <a:lnTo>
                    <a:pt x="623186" y="110336"/>
                  </a:lnTo>
                  <a:lnTo>
                    <a:pt x="657022" y="142415"/>
                  </a:lnTo>
                  <a:lnTo>
                    <a:pt x="686521" y="178524"/>
                  </a:lnTo>
                  <a:lnTo>
                    <a:pt x="711267" y="218215"/>
                  </a:lnTo>
                  <a:lnTo>
                    <a:pt x="730843" y="261041"/>
                  </a:lnTo>
                  <a:lnTo>
                    <a:pt x="744833" y="306553"/>
                  </a:lnTo>
                  <a:lnTo>
                    <a:pt x="752820" y="354304"/>
                  </a:lnTo>
                  <a:lnTo>
                    <a:pt x="754387" y="403846"/>
                  </a:lnTo>
                  <a:lnTo>
                    <a:pt x="754365" y="418218"/>
                  </a:lnTo>
                  <a:lnTo>
                    <a:pt x="847735" y="580720"/>
                  </a:lnTo>
                  <a:lnTo>
                    <a:pt x="853307" y="589550"/>
                  </a:lnTo>
                  <a:lnTo>
                    <a:pt x="856191" y="598697"/>
                  </a:lnTo>
                  <a:lnTo>
                    <a:pt x="856677" y="608273"/>
                  </a:lnTo>
                  <a:lnTo>
                    <a:pt x="854679" y="617809"/>
                  </a:lnTo>
                  <a:lnTo>
                    <a:pt x="851012" y="625353"/>
                  </a:lnTo>
                  <a:lnTo>
                    <a:pt x="843938" y="630688"/>
                  </a:lnTo>
                  <a:lnTo>
                    <a:pt x="835674" y="632138"/>
                  </a:lnTo>
                  <a:lnTo>
                    <a:pt x="754365" y="632138"/>
                  </a:lnTo>
                  <a:lnTo>
                    <a:pt x="754385" y="738676"/>
                  </a:lnTo>
                  <a:lnTo>
                    <a:pt x="744346" y="788191"/>
                  </a:lnTo>
                  <a:lnTo>
                    <a:pt x="717074" y="828638"/>
                  </a:lnTo>
                  <a:lnTo>
                    <a:pt x="676649" y="855926"/>
                  </a:lnTo>
                  <a:lnTo>
                    <a:pt x="627151" y="865972"/>
                  </a:lnTo>
                  <a:lnTo>
                    <a:pt x="537588" y="865972"/>
                  </a:lnTo>
                  <a:lnTo>
                    <a:pt x="537589" y="1021861"/>
                  </a:lnTo>
                  <a:lnTo>
                    <a:pt x="563549" y="1021861"/>
                  </a:lnTo>
                  <a:lnTo>
                    <a:pt x="563549" y="891946"/>
                  </a:lnTo>
                  <a:lnTo>
                    <a:pt x="627183" y="891946"/>
                  </a:lnTo>
                  <a:lnTo>
                    <a:pt x="675597" y="884128"/>
                  </a:lnTo>
                  <a:lnTo>
                    <a:pt x="717643" y="862368"/>
                  </a:lnTo>
                  <a:lnTo>
                    <a:pt x="750797" y="829190"/>
                  </a:lnTo>
                  <a:lnTo>
                    <a:pt x="772539" y="787119"/>
                  </a:lnTo>
                  <a:lnTo>
                    <a:pt x="780347" y="738676"/>
                  </a:lnTo>
                  <a:lnTo>
                    <a:pt x="780325" y="658113"/>
                  </a:lnTo>
                  <a:lnTo>
                    <a:pt x="837437" y="658113"/>
                  </a:lnTo>
                  <a:lnTo>
                    <a:pt x="861126" y="649020"/>
                  </a:lnTo>
                  <a:lnTo>
                    <a:pt x="878000" y="629208"/>
                  </a:lnTo>
                  <a:lnTo>
                    <a:pt x="882705" y="601113"/>
                  </a:lnTo>
                  <a:lnTo>
                    <a:pt x="869887" y="567170"/>
                  </a:lnTo>
                  <a:lnTo>
                    <a:pt x="780325" y="411281"/>
                  </a:lnTo>
                  <a:lnTo>
                    <a:pt x="780301" y="403846"/>
                  </a:lnTo>
                  <a:lnTo>
                    <a:pt x="779077" y="355714"/>
                  </a:lnTo>
                  <a:lnTo>
                    <a:pt x="771926" y="308244"/>
                  </a:lnTo>
                  <a:lnTo>
                    <a:pt x="759227" y="262756"/>
                  </a:lnTo>
                  <a:lnTo>
                    <a:pt x="741330" y="219629"/>
                  </a:lnTo>
                  <a:lnTo>
                    <a:pt x="718588" y="179240"/>
                  </a:lnTo>
                  <a:lnTo>
                    <a:pt x="691353" y="141971"/>
                  </a:lnTo>
                  <a:lnTo>
                    <a:pt x="659977" y="108198"/>
                  </a:lnTo>
                  <a:lnTo>
                    <a:pt x="624813" y="78301"/>
                  </a:lnTo>
                  <a:lnTo>
                    <a:pt x="586212" y="52659"/>
                  </a:lnTo>
                  <a:lnTo>
                    <a:pt x="544527" y="31651"/>
                  </a:lnTo>
                  <a:lnTo>
                    <a:pt x="529063" y="26082"/>
                  </a:lnTo>
                  <a:close/>
                </a:path>
              </a:pathLst>
            </a:custGeom>
            <a:solidFill>
              <a:srgbClr val="000000"/>
            </a:solidFill>
          </p:spPr>
          <p:txBody>
            <a:bodyPr wrap="square" lIns="0" tIns="0" rIns="0" bIns="0" rtlCol="0"/>
            <a:lstStyle/>
            <a:p>
              <a:endParaRPr/>
            </a:p>
          </p:txBody>
        </p:sp>
        <p:pic>
          <p:nvPicPr>
            <p:cNvPr id="13" name="object 13"/>
            <p:cNvPicPr/>
            <p:nvPr/>
          </p:nvPicPr>
          <p:blipFill>
            <a:blip r:embed="rId7" cstate="print"/>
            <a:stretch>
              <a:fillRect/>
            </a:stretch>
          </p:blipFill>
          <p:spPr>
            <a:xfrm>
              <a:off x="9311640" y="47244"/>
              <a:ext cx="1390650" cy="1389126"/>
            </a:xfrm>
            <a:prstGeom prst="rect">
              <a:avLst/>
            </a:prstGeom>
          </p:spPr>
        </p:pic>
        <p:sp>
          <p:nvSpPr>
            <p:cNvPr id="14" name="object 14"/>
            <p:cNvSpPr/>
            <p:nvPr/>
          </p:nvSpPr>
          <p:spPr>
            <a:xfrm>
              <a:off x="9846425" y="269544"/>
              <a:ext cx="338455" cy="469900"/>
            </a:xfrm>
            <a:custGeom>
              <a:avLst/>
              <a:gdLst/>
              <a:ahLst/>
              <a:cxnLst/>
              <a:rect l="l" t="t" r="r" b="b"/>
              <a:pathLst>
                <a:path w="338454" h="469900">
                  <a:moveTo>
                    <a:pt x="207937" y="433387"/>
                  </a:moveTo>
                  <a:lnTo>
                    <a:pt x="129971" y="433387"/>
                  </a:lnTo>
                  <a:lnTo>
                    <a:pt x="133896" y="447573"/>
                  </a:lnTo>
                  <a:lnTo>
                    <a:pt x="142443" y="458978"/>
                  </a:lnTo>
                  <a:lnTo>
                    <a:pt x="154495" y="466598"/>
                  </a:lnTo>
                  <a:lnTo>
                    <a:pt x="168948" y="469379"/>
                  </a:lnTo>
                  <a:lnTo>
                    <a:pt x="183426" y="466598"/>
                  </a:lnTo>
                  <a:lnTo>
                    <a:pt x="195491" y="458990"/>
                  </a:lnTo>
                  <a:lnTo>
                    <a:pt x="204038" y="447573"/>
                  </a:lnTo>
                  <a:lnTo>
                    <a:pt x="207937" y="433387"/>
                  </a:lnTo>
                  <a:close/>
                </a:path>
                <a:path w="338454" h="469900">
                  <a:moveTo>
                    <a:pt x="246926" y="384276"/>
                  </a:moveTo>
                  <a:lnTo>
                    <a:pt x="241109" y="378472"/>
                  </a:lnTo>
                  <a:lnTo>
                    <a:pt x="96799" y="378472"/>
                  </a:lnTo>
                  <a:lnTo>
                    <a:pt x="90982" y="384276"/>
                  </a:lnTo>
                  <a:lnTo>
                    <a:pt x="90982" y="398627"/>
                  </a:lnTo>
                  <a:lnTo>
                    <a:pt x="96799" y="404444"/>
                  </a:lnTo>
                  <a:lnTo>
                    <a:pt x="241109" y="404444"/>
                  </a:lnTo>
                  <a:lnTo>
                    <a:pt x="246926" y="398627"/>
                  </a:lnTo>
                  <a:lnTo>
                    <a:pt x="246926" y="391452"/>
                  </a:lnTo>
                  <a:lnTo>
                    <a:pt x="246926" y="384276"/>
                  </a:lnTo>
                  <a:close/>
                </a:path>
                <a:path w="338454" h="469900">
                  <a:moveTo>
                    <a:pt x="337896" y="168897"/>
                  </a:moveTo>
                  <a:lnTo>
                    <a:pt x="331952" y="124663"/>
                  </a:lnTo>
                  <a:lnTo>
                    <a:pt x="331863" y="123990"/>
                  </a:lnTo>
                  <a:lnTo>
                    <a:pt x="314833" y="83654"/>
                  </a:lnTo>
                  <a:lnTo>
                    <a:pt x="311912" y="79883"/>
                  </a:lnTo>
                  <a:lnTo>
                    <a:pt x="311912" y="168897"/>
                  </a:lnTo>
                  <a:lnTo>
                    <a:pt x="311886" y="174675"/>
                  </a:lnTo>
                  <a:lnTo>
                    <a:pt x="301866" y="223850"/>
                  </a:lnTo>
                  <a:lnTo>
                    <a:pt x="277647" y="263613"/>
                  </a:lnTo>
                  <a:lnTo>
                    <a:pt x="266242" y="278434"/>
                  </a:lnTo>
                  <a:lnTo>
                    <a:pt x="255689" y="294005"/>
                  </a:lnTo>
                  <a:lnTo>
                    <a:pt x="246176" y="309981"/>
                  </a:lnTo>
                  <a:lnTo>
                    <a:pt x="237629" y="326517"/>
                  </a:lnTo>
                  <a:lnTo>
                    <a:pt x="100279" y="326517"/>
                  </a:lnTo>
                  <a:lnTo>
                    <a:pt x="71894" y="278638"/>
                  </a:lnTo>
                  <a:lnTo>
                    <a:pt x="53073" y="254749"/>
                  </a:lnTo>
                  <a:lnTo>
                    <a:pt x="46482" y="244983"/>
                  </a:lnTo>
                  <a:lnTo>
                    <a:pt x="28943" y="199478"/>
                  </a:lnTo>
                  <a:lnTo>
                    <a:pt x="26022" y="174675"/>
                  </a:lnTo>
                  <a:lnTo>
                    <a:pt x="26085" y="168897"/>
                  </a:lnTo>
                  <a:lnTo>
                    <a:pt x="33731" y="124663"/>
                  </a:lnTo>
                  <a:lnTo>
                    <a:pt x="54203" y="85890"/>
                  </a:lnTo>
                  <a:lnTo>
                    <a:pt x="85102" y="55346"/>
                  </a:lnTo>
                  <a:lnTo>
                    <a:pt x="124129" y="35331"/>
                  </a:lnTo>
                  <a:lnTo>
                    <a:pt x="168948" y="28092"/>
                  </a:lnTo>
                  <a:lnTo>
                    <a:pt x="214007" y="35331"/>
                  </a:lnTo>
                  <a:lnTo>
                    <a:pt x="213791" y="35331"/>
                  </a:lnTo>
                  <a:lnTo>
                    <a:pt x="252666" y="55219"/>
                  </a:lnTo>
                  <a:lnTo>
                    <a:pt x="283552" y="85648"/>
                  </a:lnTo>
                  <a:lnTo>
                    <a:pt x="304076" y="124294"/>
                  </a:lnTo>
                  <a:lnTo>
                    <a:pt x="311912" y="168897"/>
                  </a:lnTo>
                  <a:lnTo>
                    <a:pt x="311912" y="79883"/>
                  </a:lnTo>
                  <a:lnTo>
                    <a:pt x="288417" y="49466"/>
                  </a:lnTo>
                  <a:lnTo>
                    <a:pt x="260731" y="28092"/>
                  </a:lnTo>
                  <a:lnTo>
                    <a:pt x="254228" y="23063"/>
                  </a:lnTo>
                  <a:lnTo>
                    <a:pt x="213868" y="6032"/>
                  </a:lnTo>
                  <a:lnTo>
                    <a:pt x="168948" y="0"/>
                  </a:lnTo>
                  <a:lnTo>
                    <a:pt x="124040" y="6032"/>
                  </a:lnTo>
                  <a:lnTo>
                    <a:pt x="83680" y="23063"/>
                  </a:lnTo>
                  <a:lnTo>
                    <a:pt x="49491" y="49466"/>
                  </a:lnTo>
                  <a:lnTo>
                    <a:pt x="23075" y="83654"/>
                  </a:lnTo>
                  <a:lnTo>
                    <a:pt x="6045" y="123990"/>
                  </a:lnTo>
                  <a:lnTo>
                    <a:pt x="0" y="168897"/>
                  </a:lnTo>
                  <a:lnTo>
                    <a:pt x="0" y="174675"/>
                  </a:lnTo>
                  <a:lnTo>
                    <a:pt x="6997" y="218922"/>
                  </a:lnTo>
                  <a:lnTo>
                    <a:pt x="24282" y="258457"/>
                  </a:lnTo>
                  <a:lnTo>
                    <a:pt x="41097" y="281178"/>
                  </a:lnTo>
                  <a:lnTo>
                    <a:pt x="52374" y="296329"/>
                  </a:lnTo>
                  <a:lnTo>
                    <a:pt x="62738" y="312102"/>
                  </a:lnTo>
                  <a:lnTo>
                    <a:pt x="72148" y="328447"/>
                  </a:lnTo>
                  <a:lnTo>
                    <a:pt x="82753" y="349719"/>
                  </a:lnTo>
                  <a:lnTo>
                    <a:pt x="87236" y="352501"/>
                  </a:lnTo>
                  <a:lnTo>
                    <a:pt x="250621" y="352501"/>
                  </a:lnTo>
                  <a:lnTo>
                    <a:pt x="255092" y="349719"/>
                  </a:lnTo>
                  <a:lnTo>
                    <a:pt x="257276" y="345338"/>
                  </a:lnTo>
                  <a:lnTo>
                    <a:pt x="265734" y="328447"/>
                  </a:lnTo>
                  <a:lnTo>
                    <a:pt x="266852" y="326517"/>
                  </a:lnTo>
                  <a:lnTo>
                    <a:pt x="275158" y="312102"/>
                  </a:lnTo>
                  <a:lnTo>
                    <a:pt x="285534" y="296329"/>
                  </a:lnTo>
                  <a:lnTo>
                    <a:pt x="296811" y="281178"/>
                  </a:lnTo>
                  <a:lnTo>
                    <a:pt x="305739" y="270179"/>
                  </a:lnTo>
                  <a:lnTo>
                    <a:pt x="313626" y="258457"/>
                  </a:lnTo>
                  <a:lnTo>
                    <a:pt x="330923" y="218922"/>
                  </a:lnTo>
                  <a:lnTo>
                    <a:pt x="337896" y="174675"/>
                  </a:lnTo>
                  <a:lnTo>
                    <a:pt x="337896" y="168897"/>
                  </a:lnTo>
                  <a:close/>
                </a:path>
              </a:pathLst>
            </a:custGeom>
            <a:solidFill>
              <a:srgbClr val="000000"/>
            </a:solidFill>
          </p:spPr>
          <p:txBody>
            <a:bodyPr wrap="square" lIns="0" tIns="0" rIns="0" bIns="0" rtlCol="0"/>
            <a:lstStyle/>
            <a:p>
              <a:endParaRPr/>
            </a:p>
          </p:txBody>
        </p:sp>
        <p:pic>
          <p:nvPicPr>
            <p:cNvPr id="15" name="object 15"/>
            <p:cNvPicPr/>
            <p:nvPr/>
          </p:nvPicPr>
          <p:blipFill>
            <a:blip r:embed="rId8" cstate="print"/>
            <a:stretch>
              <a:fillRect/>
            </a:stretch>
          </p:blipFill>
          <p:spPr>
            <a:xfrm>
              <a:off x="9945336" y="349357"/>
              <a:ext cx="140097" cy="194872"/>
            </a:xfrm>
            <a:prstGeom prst="rect">
              <a:avLst/>
            </a:prstGeom>
          </p:spPr>
        </p:pic>
        <p:pic>
          <p:nvPicPr>
            <p:cNvPr id="16" name="object 16"/>
            <p:cNvPicPr/>
            <p:nvPr/>
          </p:nvPicPr>
          <p:blipFill>
            <a:blip r:embed="rId9" cstate="print"/>
            <a:stretch>
              <a:fillRect/>
            </a:stretch>
          </p:blipFill>
          <p:spPr>
            <a:xfrm>
              <a:off x="9641920" y="715595"/>
              <a:ext cx="201189" cy="201062"/>
            </a:xfrm>
            <a:prstGeom prst="rect">
              <a:avLst/>
            </a:prstGeom>
          </p:spPr>
        </p:pic>
        <p:pic>
          <p:nvPicPr>
            <p:cNvPr id="17" name="object 17"/>
            <p:cNvPicPr/>
            <p:nvPr/>
          </p:nvPicPr>
          <p:blipFill>
            <a:blip r:embed="rId10" cstate="print"/>
            <a:stretch>
              <a:fillRect/>
            </a:stretch>
          </p:blipFill>
          <p:spPr>
            <a:xfrm>
              <a:off x="10187742" y="712944"/>
              <a:ext cx="201169" cy="201041"/>
            </a:xfrm>
            <a:prstGeom prst="rect">
              <a:avLst/>
            </a:prstGeom>
          </p:spPr>
        </p:pic>
        <p:sp>
          <p:nvSpPr>
            <p:cNvPr id="18" name="object 18"/>
            <p:cNvSpPr/>
            <p:nvPr/>
          </p:nvSpPr>
          <p:spPr>
            <a:xfrm>
              <a:off x="9534525" y="932319"/>
              <a:ext cx="962025" cy="274320"/>
            </a:xfrm>
            <a:custGeom>
              <a:avLst/>
              <a:gdLst/>
              <a:ahLst/>
              <a:cxnLst/>
              <a:rect l="l" t="t" r="r" b="b"/>
              <a:pathLst>
                <a:path w="962025" h="274319">
                  <a:moveTo>
                    <a:pt x="394944" y="67068"/>
                  </a:moveTo>
                  <a:lnTo>
                    <a:pt x="344335" y="34734"/>
                  </a:lnTo>
                  <a:lnTo>
                    <a:pt x="292100" y="15443"/>
                  </a:lnTo>
                  <a:lnTo>
                    <a:pt x="250482" y="5969"/>
                  </a:lnTo>
                  <a:lnTo>
                    <a:pt x="207937" y="2705"/>
                  </a:lnTo>
                  <a:lnTo>
                    <a:pt x="186664" y="3771"/>
                  </a:lnTo>
                  <a:lnTo>
                    <a:pt x="144602" y="10121"/>
                  </a:lnTo>
                  <a:lnTo>
                    <a:pt x="97561" y="24295"/>
                  </a:lnTo>
                  <a:lnTo>
                    <a:pt x="47625" y="48679"/>
                  </a:lnTo>
                  <a:lnTo>
                    <a:pt x="14236" y="73990"/>
                  </a:lnTo>
                  <a:lnTo>
                    <a:pt x="0" y="113106"/>
                  </a:lnTo>
                  <a:lnTo>
                    <a:pt x="0" y="196215"/>
                  </a:lnTo>
                  <a:lnTo>
                    <a:pt x="25996" y="196215"/>
                  </a:lnTo>
                  <a:lnTo>
                    <a:pt x="25996" y="113106"/>
                  </a:lnTo>
                  <a:lnTo>
                    <a:pt x="27076" y="104940"/>
                  </a:lnTo>
                  <a:lnTo>
                    <a:pt x="61379" y="70726"/>
                  </a:lnTo>
                  <a:lnTo>
                    <a:pt x="106908" y="48539"/>
                  </a:lnTo>
                  <a:lnTo>
                    <a:pt x="149872" y="35534"/>
                  </a:lnTo>
                  <a:lnTo>
                    <a:pt x="188429" y="29679"/>
                  </a:lnTo>
                  <a:lnTo>
                    <a:pt x="207937" y="28689"/>
                  </a:lnTo>
                  <a:lnTo>
                    <a:pt x="227431" y="29476"/>
                  </a:lnTo>
                  <a:lnTo>
                    <a:pt x="265938" y="35331"/>
                  </a:lnTo>
                  <a:lnTo>
                    <a:pt x="305828" y="46951"/>
                  </a:lnTo>
                  <a:lnTo>
                    <a:pt x="345871" y="65176"/>
                  </a:lnTo>
                  <a:lnTo>
                    <a:pt x="364642" y="76733"/>
                  </a:lnTo>
                  <a:lnTo>
                    <a:pt x="394944" y="67068"/>
                  </a:lnTo>
                  <a:close/>
                </a:path>
                <a:path w="962025" h="274319">
                  <a:moveTo>
                    <a:pt x="688784" y="191020"/>
                  </a:moveTo>
                  <a:lnTo>
                    <a:pt x="674624" y="151968"/>
                  </a:lnTo>
                  <a:lnTo>
                    <a:pt x="641591" y="126098"/>
                  </a:lnTo>
                  <a:lnTo>
                    <a:pt x="591642" y="101663"/>
                  </a:lnTo>
                  <a:lnTo>
                    <a:pt x="544360" y="87820"/>
                  </a:lnTo>
                  <a:lnTo>
                    <a:pt x="502196" y="81457"/>
                  </a:lnTo>
                  <a:lnTo>
                    <a:pt x="480847" y="80632"/>
                  </a:lnTo>
                  <a:lnTo>
                    <a:pt x="459574" y="81699"/>
                  </a:lnTo>
                  <a:lnTo>
                    <a:pt x="417525" y="88036"/>
                  </a:lnTo>
                  <a:lnTo>
                    <a:pt x="370471" y="102222"/>
                  </a:lnTo>
                  <a:lnTo>
                    <a:pt x="320535" y="126593"/>
                  </a:lnTo>
                  <a:lnTo>
                    <a:pt x="287159" y="151917"/>
                  </a:lnTo>
                  <a:lnTo>
                    <a:pt x="272923" y="191020"/>
                  </a:lnTo>
                  <a:lnTo>
                    <a:pt x="272923" y="274142"/>
                  </a:lnTo>
                  <a:lnTo>
                    <a:pt x="298907" y="274142"/>
                  </a:lnTo>
                  <a:lnTo>
                    <a:pt x="298907" y="191020"/>
                  </a:lnTo>
                  <a:lnTo>
                    <a:pt x="299999" y="182854"/>
                  </a:lnTo>
                  <a:lnTo>
                    <a:pt x="334289" y="148653"/>
                  </a:lnTo>
                  <a:lnTo>
                    <a:pt x="379818" y="126466"/>
                  </a:lnTo>
                  <a:lnTo>
                    <a:pt x="422783" y="113461"/>
                  </a:lnTo>
                  <a:lnTo>
                    <a:pt x="461340" y="107607"/>
                  </a:lnTo>
                  <a:lnTo>
                    <a:pt x="480847" y="106603"/>
                  </a:lnTo>
                  <a:lnTo>
                    <a:pt x="500354" y="107391"/>
                  </a:lnTo>
                  <a:lnTo>
                    <a:pt x="538861" y="113245"/>
                  </a:lnTo>
                  <a:lnTo>
                    <a:pt x="581901" y="125806"/>
                  </a:lnTo>
                  <a:lnTo>
                    <a:pt x="627316" y="147853"/>
                  </a:lnTo>
                  <a:lnTo>
                    <a:pt x="658736" y="174980"/>
                  </a:lnTo>
                  <a:lnTo>
                    <a:pt x="662800" y="191020"/>
                  </a:lnTo>
                  <a:lnTo>
                    <a:pt x="662800" y="274142"/>
                  </a:lnTo>
                  <a:lnTo>
                    <a:pt x="688784" y="274142"/>
                  </a:lnTo>
                  <a:lnTo>
                    <a:pt x="688784" y="191020"/>
                  </a:lnTo>
                  <a:close/>
                </a:path>
                <a:path w="962025" h="274319">
                  <a:moveTo>
                    <a:pt x="961707" y="110528"/>
                  </a:moveTo>
                  <a:lnTo>
                    <a:pt x="947547" y="71399"/>
                  </a:lnTo>
                  <a:lnTo>
                    <a:pt x="914514" y="45504"/>
                  </a:lnTo>
                  <a:lnTo>
                    <a:pt x="864552" y="21094"/>
                  </a:lnTo>
                  <a:lnTo>
                    <a:pt x="817283" y="7239"/>
                  </a:lnTo>
                  <a:lnTo>
                    <a:pt x="775119" y="850"/>
                  </a:lnTo>
                  <a:lnTo>
                    <a:pt x="753770" y="0"/>
                  </a:lnTo>
                  <a:lnTo>
                    <a:pt x="732485" y="1066"/>
                  </a:lnTo>
                  <a:lnTo>
                    <a:pt x="690435" y="7416"/>
                  </a:lnTo>
                  <a:lnTo>
                    <a:pt x="643394" y="21615"/>
                  </a:lnTo>
                  <a:lnTo>
                    <a:pt x="593458" y="45974"/>
                  </a:lnTo>
                  <a:lnTo>
                    <a:pt x="564591" y="66370"/>
                  </a:lnTo>
                  <a:lnTo>
                    <a:pt x="595350" y="75806"/>
                  </a:lnTo>
                  <a:lnTo>
                    <a:pt x="614591" y="64033"/>
                  </a:lnTo>
                  <a:lnTo>
                    <a:pt x="634644" y="53746"/>
                  </a:lnTo>
                  <a:lnTo>
                    <a:pt x="676783" y="37782"/>
                  </a:lnTo>
                  <a:lnTo>
                    <a:pt x="714883" y="29375"/>
                  </a:lnTo>
                  <a:lnTo>
                    <a:pt x="753770" y="26085"/>
                  </a:lnTo>
                  <a:lnTo>
                    <a:pt x="773264" y="26873"/>
                  </a:lnTo>
                  <a:lnTo>
                    <a:pt x="811771" y="32727"/>
                  </a:lnTo>
                  <a:lnTo>
                    <a:pt x="854824" y="45288"/>
                  </a:lnTo>
                  <a:lnTo>
                    <a:pt x="900226" y="67322"/>
                  </a:lnTo>
                  <a:lnTo>
                    <a:pt x="931646" y="94462"/>
                  </a:lnTo>
                  <a:lnTo>
                    <a:pt x="935710" y="110528"/>
                  </a:lnTo>
                  <a:lnTo>
                    <a:pt x="935710" y="193649"/>
                  </a:lnTo>
                  <a:lnTo>
                    <a:pt x="961707" y="193649"/>
                  </a:lnTo>
                  <a:lnTo>
                    <a:pt x="961707" y="110528"/>
                  </a:lnTo>
                  <a:close/>
                </a:path>
              </a:pathLst>
            </a:custGeom>
            <a:solidFill>
              <a:srgbClr val="000000"/>
            </a:solidFill>
          </p:spPr>
          <p:txBody>
            <a:bodyPr wrap="square" lIns="0" tIns="0" rIns="0" bIns="0" rtlCol="0"/>
            <a:lstStyle/>
            <a:p>
              <a:endParaRPr/>
            </a:p>
          </p:txBody>
        </p:sp>
        <p:pic>
          <p:nvPicPr>
            <p:cNvPr id="19" name="object 19"/>
            <p:cNvPicPr/>
            <p:nvPr/>
          </p:nvPicPr>
          <p:blipFill>
            <a:blip r:embed="rId9" cstate="print"/>
            <a:stretch>
              <a:fillRect/>
            </a:stretch>
          </p:blipFill>
          <p:spPr>
            <a:xfrm>
              <a:off x="9914837" y="793518"/>
              <a:ext cx="201189" cy="201062"/>
            </a:xfrm>
            <a:prstGeom prst="rect">
              <a:avLst/>
            </a:prstGeom>
          </p:spPr>
        </p:pic>
      </p:grpSp>
      <p:sp>
        <p:nvSpPr>
          <p:cNvPr id="20" name="object 20"/>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50" dirty="0"/>
              <a:t>4</a:t>
            </a:fld>
            <a:endParaRPr spc="-50" dirty="0"/>
          </a:p>
        </p:txBody>
      </p:sp>
      <p:sp>
        <p:nvSpPr>
          <p:cNvPr id="25" name="TextBox 24">
            <a:extLst>
              <a:ext uri="{FF2B5EF4-FFF2-40B4-BE49-F238E27FC236}">
                <a16:creationId xmlns:a16="http://schemas.microsoft.com/office/drawing/2014/main" id="{A1334E81-DBC3-41A8-0F1C-85D605E1A61E}"/>
              </a:ext>
            </a:extLst>
          </p:cNvPr>
          <p:cNvSpPr txBox="1"/>
          <p:nvPr/>
        </p:nvSpPr>
        <p:spPr>
          <a:xfrm>
            <a:off x="1257214" y="2826365"/>
            <a:ext cx="10020386" cy="2431435"/>
          </a:xfrm>
          <a:prstGeom prst="rect">
            <a:avLst/>
          </a:prstGeom>
          <a:noFill/>
        </p:spPr>
        <p:txBody>
          <a:bodyPr wrap="square">
            <a:spAutoFit/>
          </a:bodyPr>
          <a:lstStyle/>
          <a:p>
            <a:pPr marL="12700" lvl="5">
              <a:spcBef>
                <a:spcPts val="1240"/>
              </a:spcBef>
            </a:pPr>
            <a:r>
              <a:rPr lang="en-US" sz="2200" dirty="0">
                <a:latin typeface="+mn-lt"/>
                <a:cs typeface="Arial MT"/>
              </a:rPr>
              <a:t>Take the phishing challenge on each simulator to determine if you can identify the phishing attacks.</a:t>
            </a:r>
          </a:p>
          <a:p>
            <a:pPr marL="12700" lvl="8">
              <a:spcBef>
                <a:spcPts val="1240"/>
              </a:spcBef>
            </a:pPr>
            <a:r>
              <a:rPr lang="en-US" sz="2200" dirty="0">
                <a:latin typeface="+mn-lt"/>
                <a:cs typeface="Arial MT"/>
              </a:rPr>
              <a:t>List the features of the phishing simulators, their ease of use, and how accurate you think they were.</a:t>
            </a:r>
          </a:p>
          <a:p>
            <a:pPr marL="12700" lvl="8">
              <a:spcBef>
                <a:spcPts val="1240"/>
              </a:spcBef>
            </a:pPr>
            <a:r>
              <a:rPr lang="en-US" sz="2200" dirty="0">
                <a:latin typeface="+mn-lt"/>
                <a:cs typeface="Arial MT"/>
              </a:rPr>
              <a:t>Would these simulators be helpful in training users about phishing? </a:t>
            </a:r>
            <a:r>
              <a:rPr lang="en-US" sz="2200" dirty="0">
                <a:solidFill>
                  <a:srgbClr val="C00000"/>
                </a:solidFill>
                <a:latin typeface="+mn-lt"/>
                <a:cs typeface="Arial MT"/>
              </a:rPr>
              <a:t>Share </a:t>
            </a:r>
            <a:r>
              <a:rPr lang="en-US" sz="2200" dirty="0">
                <a:latin typeface="+mn-lt"/>
                <a:cs typeface="Arial MT"/>
              </a:rPr>
              <a:t>interesting findings with your class on the respective discussion forum.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5207" y="2648839"/>
            <a:ext cx="6382347" cy="936154"/>
          </a:xfrm>
          <a:prstGeom prst="rect">
            <a:avLst/>
          </a:prstGeom>
        </p:spPr>
        <p:txBody>
          <a:bodyPr vert="horz" wrap="square" lIns="0" tIns="12700" rIns="0" bIns="0" rtlCol="0">
            <a:spAutoFit/>
          </a:bodyPr>
          <a:lstStyle/>
          <a:p>
            <a:pPr marL="12700">
              <a:lnSpc>
                <a:spcPct val="100000"/>
              </a:lnSpc>
              <a:spcBef>
                <a:spcPts val="100"/>
              </a:spcBef>
            </a:pPr>
            <a:r>
              <a:rPr sz="6000" dirty="0">
                <a:latin typeface="+mj-lt"/>
              </a:rPr>
              <a:t>MALWARE ATTACKS</a:t>
            </a:r>
          </a:p>
        </p:txBody>
      </p:sp>
      <p:sp>
        <p:nvSpPr>
          <p:cNvPr id="3" name="object 3"/>
          <p:cNvSpPr/>
          <p:nvPr/>
        </p:nvSpPr>
        <p:spPr>
          <a:xfrm>
            <a:off x="701801" y="3766565"/>
            <a:ext cx="4754880" cy="0"/>
          </a:xfrm>
          <a:custGeom>
            <a:avLst/>
            <a:gdLst/>
            <a:ahLst/>
            <a:cxnLst/>
            <a:rect l="l" t="t" r="r" b="b"/>
            <a:pathLst>
              <a:path w="4754880">
                <a:moveTo>
                  <a:pt x="0" y="0"/>
                </a:moveTo>
                <a:lnTo>
                  <a:pt x="4754880" y="0"/>
                </a:lnTo>
              </a:path>
            </a:pathLst>
          </a:custGeom>
          <a:ln w="19050">
            <a:solidFill>
              <a:srgbClr val="1382AC"/>
            </a:solidFill>
          </a:ln>
        </p:spPr>
        <p:txBody>
          <a:bodyPr wrap="square" lIns="0" tIns="0" rIns="0" bIns="0" rtlCol="0"/>
          <a:lstStyle/>
          <a:p>
            <a:endParaRPr/>
          </a:p>
        </p:txBody>
      </p:sp>
      <p:grpSp>
        <p:nvGrpSpPr>
          <p:cNvPr id="4" name="object 4"/>
          <p:cNvGrpSpPr/>
          <p:nvPr/>
        </p:nvGrpSpPr>
        <p:grpSpPr>
          <a:xfrm>
            <a:off x="7135583" y="1777909"/>
            <a:ext cx="3600450" cy="3783329"/>
            <a:chOff x="7135583" y="1777909"/>
            <a:chExt cx="3600450" cy="3783329"/>
          </a:xfrm>
        </p:grpSpPr>
        <p:sp>
          <p:nvSpPr>
            <p:cNvPr id="5" name="object 5"/>
            <p:cNvSpPr/>
            <p:nvPr/>
          </p:nvSpPr>
          <p:spPr>
            <a:xfrm>
              <a:off x="8228239" y="1802568"/>
              <a:ext cx="1412240" cy="1319530"/>
            </a:xfrm>
            <a:custGeom>
              <a:avLst/>
              <a:gdLst/>
              <a:ahLst/>
              <a:cxnLst/>
              <a:rect l="l" t="t" r="r" b="b"/>
              <a:pathLst>
                <a:path w="1412240" h="1319530">
                  <a:moveTo>
                    <a:pt x="1321671" y="0"/>
                  </a:moveTo>
                  <a:lnTo>
                    <a:pt x="1244518" y="34012"/>
                  </a:lnTo>
                  <a:lnTo>
                    <a:pt x="1201905" y="62139"/>
                  </a:lnTo>
                  <a:lnTo>
                    <a:pt x="1161436" y="93223"/>
                  </a:lnTo>
                  <a:lnTo>
                    <a:pt x="1123407" y="127192"/>
                  </a:lnTo>
                  <a:lnTo>
                    <a:pt x="1088114" y="163971"/>
                  </a:lnTo>
                  <a:lnTo>
                    <a:pt x="1055852" y="203487"/>
                  </a:lnTo>
                  <a:lnTo>
                    <a:pt x="997290" y="293930"/>
                  </a:lnTo>
                  <a:lnTo>
                    <a:pt x="971656" y="341491"/>
                  </a:lnTo>
                  <a:lnTo>
                    <a:pt x="949778" y="388347"/>
                  </a:lnTo>
                  <a:lnTo>
                    <a:pt x="931423" y="434499"/>
                  </a:lnTo>
                  <a:lnTo>
                    <a:pt x="904340" y="524688"/>
                  </a:lnTo>
                  <a:lnTo>
                    <a:pt x="852247" y="509413"/>
                  </a:lnTo>
                  <a:lnTo>
                    <a:pt x="800651" y="498398"/>
                  </a:lnTo>
                  <a:lnTo>
                    <a:pt x="749648" y="491544"/>
                  </a:lnTo>
                  <a:lnTo>
                    <a:pt x="699339" y="488753"/>
                  </a:lnTo>
                  <a:lnTo>
                    <a:pt x="649823" y="489926"/>
                  </a:lnTo>
                  <a:lnTo>
                    <a:pt x="601198" y="494963"/>
                  </a:lnTo>
                  <a:lnTo>
                    <a:pt x="553564" y="503765"/>
                  </a:lnTo>
                  <a:lnTo>
                    <a:pt x="507019" y="516233"/>
                  </a:lnTo>
                  <a:lnTo>
                    <a:pt x="494710" y="473291"/>
                  </a:lnTo>
                  <a:lnTo>
                    <a:pt x="459996" y="384120"/>
                  </a:lnTo>
                  <a:lnTo>
                    <a:pt x="412601" y="292129"/>
                  </a:lnTo>
                  <a:lnTo>
                    <a:pt x="384441" y="245665"/>
                  </a:lnTo>
                  <a:lnTo>
                    <a:pt x="355507" y="203265"/>
                  </a:lnTo>
                  <a:lnTo>
                    <a:pt x="323245" y="163232"/>
                  </a:lnTo>
                  <a:lnTo>
                    <a:pt x="287952" y="125861"/>
                  </a:lnTo>
                  <a:lnTo>
                    <a:pt x="249923" y="91448"/>
                  </a:lnTo>
                  <a:lnTo>
                    <a:pt x="209454" y="60290"/>
                  </a:lnTo>
                  <a:lnTo>
                    <a:pt x="166841" y="32681"/>
                  </a:lnTo>
                  <a:lnTo>
                    <a:pt x="122379" y="8917"/>
                  </a:lnTo>
                  <a:lnTo>
                    <a:pt x="89687" y="0"/>
                  </a:lnTo>
                  <a:lnTo>
                    <a:pt x="57392" y="4161"/>
                  </a:lnTo>
                  <a:lnTo>
                    <a:pt x="29059" y="20213"/>
                  </a:lnTo>
                  <a:lnTo>
                    <a:pt x="8255" y="46966"/>
                  </a:lnTo>
                  <a:lnTo>
                    <a:pt x="0" y="80919"/>
                  </a:lnTo>
                  <a:lnTo>
                    <a:pt x="5613" y="115665"/>
                  </a:lnTo>
                  <a:lnTo>
                    <a:pt x="23115" y="145655"/>
                  </a:lnTo>
                  <a:lnTo>
                    <a:pt x="50523" y="165340"/>
                  </a:lnTo>
                  <a:lnTo>
                    <a:pt x="97120" y="191111"/>
                  </a:lnTo>
                  <a:lnTo>
                    <a:pt x="140267" y="222362"/>
                  </a:lnTo>
                  <a:lnTo>
                    <a:pt x="179559" y="258483"/>
                  </a:lnTo>
                  <a:lnTo>
                    <a:pt x="214591" y="298865"/>
                  </a:lnTo>
                  <a:lnTo>
                    <a:pt x="244957" y="342900"/>
                  </a:lnTo>
                  <a:lnTo>
                    <a:pt x="275424" y="393632"/>
                  </a:lnTo>
                  <a:lnTo>
                    <a:pt x="301021" y="444363"/>
                  </a:lnTo>
                  <a:lnTo>
                    <a:pt x="321952" y="495095"/>
                  </a:lnTo>
                  <a:lnTo>
                    <a:pt x="338420" y="545826"/>
                  </a:lnTo>
                  <a:lnTo>
                    <a:pt x="350627" y="596558"/>
                  </a:lnTo>
                  <a:lnTo>
                    <a:pt x="312684" y="623325"/>
                  </a:lnTo>
                  <a:lnTo>
                    <a:pt x="276980" y="652793"/>
                  </a:lnTo>
                  <a:lnTo>
                    <a:pt x="243654" y="684813"/>
                  </a:lnTo>
                  <a:lnTo>
                    <a:pt x="212845" y="719234"/>
                  </a:lnTo>
                  <a:lnTo>
                    <a:pt x="184690" y="755907"/>
                  </a:lnTo>
                  <a:lnTo>
                    <a:pt x="159330" y="794681"/>
                  </a:lnTo>
                  <a:lnTo>
                    <a:pt x="136901" y="835407"/>
                  </a:lnTo>
                  <a:lnTo>
                    <a:pt x="117542" y="877933"/>
                  </a:lnTo>
                  <a:lnTo>
                    <a:pt x="101393" y="922111"/>
                  </a:lnTo>
                  <a:lnTo>
                    <a:pt x="88592" y="967789"/>
                  </a:lnTo>
                  <a:lnTo>
                    <a:pt x="79276" y="1014818"/>
                  </a:lnTo>
                  <a:lnTo>
                    <a:pt x="73585" y="1063048"/>
                  </a:lnTo>
                  <a:lnTo>
                    <a:pt x="71657" y="1112329"/>
                  </a:lnTo>
                  <a:lnTo>
                    <a:pt x="73969" y="1165505"/>
                  </a:lnTo>
                  <a:lnTo>
                    <a:pt x="80639" y="1217491"/>
                  </a:lnTo>
                  <a:lnTo>
                    <a:pt x="91272" y="1268685"/>
                  </a:lnTo>
                  <a:lnTo>
                    <a:pt x="105472" y="1319483"/>
                  </a:lnTo>
                  <a:lnTo>
                    <a:pt x="1272073" y="1319483"/>
                  </a:lnTo>
                  <a:lnTo>
                    <a:pt x="1285426" y="1276603"/>
                  </a:lnTo>
                  <a:lnTo>
                    <a:pt x="1295770" y="1232562"/>
                  </a:lnTo>
                  <a:lnTo>
                    <a:pt x="1302915" y="1187436"/>
                  </a:lnTo>
                  <a:lnTo>
                    <a:pt x="1306670" y="1141296"/>
                  </a:lnTo>
                  <a:lnTo>
                    <a:pt x="1306844" y="1094217"/>
                  </a:lnTo>
                  <a:lnTo>
                    <a:pt x="1303245" y="1046272"/>
                  </a:lnTo>
                  <a:lnTo>
                    <a:pt x="1295685" y="997535"/>
                  </a:lnTo>
                  <a:lnTo>
                    <a:pt x="1283970" y="948078"/>
                  </a:lnTo>
                  <a:lnTo>
                    <a:pt x="1267912" y="897975"/>
                  </a:lnTo>
                  <a:lnTo>
                    <a:pt x="1247318" y="847300"/>
                  </a:lnTo>
                  <a:lnTo>
                    <a:pt x="1221999" y="796125"/>
                  </a:lnTo>
                  <a:lnTo>
                    <a:pt x="1191763" y="744525"/>
                  </a:lnTo>
                  <a:lnTo>
                    <a:pt x="1164157" y="704891"/>
                  </a:lnTo>
                  <a:lnTo>
                    <a:pt x="1132588" y="668428"/>
                  </a:lnTo>
                  <a:lnTo>
                    <a:pt x="1097849" y="635135"/>
                  </a:lnTo>
                  <a:lnTo>
                    <a:pt x="1060732" y="605013"/>
                  </a:lnTo>
                  <a:lnTo>
                    <a:pt x="1070927" y="560623"/>
                  </a:lnTo>
                  <a:lnTo>
                    <a:pt x="1084527" y="516233"/>
                  </a:lnTo>
                  <a:lnTo>
                    <a:pt x="1101415" y="471843"/>
                  </a:lnTo>
                  <a:lnTo>
                    <a:pt x="1144583" y="383063"/>
                  </a:lnTo>
                  <a:lnTo>
                    <a:pt x="1170629" y="338672"/>
                  </a:lnTo>
                  <a:lnTo>
                    <a:pt x="1203023" y="294637"/>
                  </a:lnTo>
                  <a:lnTo>
                    <a:pt x="1239069" y="254255"/>
                  </a:lnTo>
                  <a:lnTo>
                    <a:pt x="1278362" y="218134"/>
                  </a:lnTo>
                  <a:lnTo>
                    <a:pt x="1320495" y="186884"/>
                  </a:lnTo>
                  <a:lnTo>
                    <a:pt x="1365062" y="161112"/>
                  </a:lnTo>
                  <a:lnTo>
                    <a:pt x="1391810" y="140304"/>
                  </a:lnTo>
                  <a:lnTo>
                    <a:pt x="1407859" y="111966"/>
                  </a:lnTo>
                  <a:lnTo>
                    <a:pt x="1412020" y="79664"/>
                  </a:lnTo>
                  <a:lnTo>
                    <a:pt x="1403104" y="46966"/>
                  </a:lnTo>
                  <a:lnTo>
                    <a:pt x="1382300" y="20213"/>
                  </a:lnTo>
                  <a:lnTo>
                    <a:pt x="1353967" y="4161"/>
                  </a:lnTo>
                  <a:lnTo>
                    <a:pt x="1321671" y="0"/>
                  </a:lnTo>
                  <a:close/>
                </a:path>
              </a:pathLst>
            </a:custGeom>
            <a:solidFill>
              <a:srgbClr val="F1F1F1"/>
            </a:solidFill>
          </p:spPr>
          <p:txBody>
            <a:bodyPr wrap="square" lIns="0" tIns="0" rIns="0" bIns="0" rtlCol="0"/>
            <a:lstStyle/>
            <a:p>
              <a:endParaRPr/>
            </a:p>
          </p:txBody>
        </p:sp>
        <p:sp>
          <p:nvSpPr>
            <p:cNvPr id="6" name="object 6"/>
            <p:cNvSpPr/>
            <p:nvPr/>
          </p:nvSpPr>
          <p:spPr>
            <a:xfrm>
              <a:off x="8228239" y="1802568"/>
              <a:ext cx="1412240" cy="1319530"/>
            </a:xfrm>
            <a:custGeom>
              <a:avLst/>
              <a:gdLst/>
              <a:ahLst/>
              <a:cxnLst/>
              <a:rect l="l" t="t" r="r" b="b"/>
              <a:pathLst>
                <a:path w="1412240" h="1319530">
                  <a:moveTo>
                    <a:pt x="50523" y="165340"/>
                  </a:moveTo>
                  <a:lnTo>
                    <a:pt x="97120" y="191111"/>
                  </a:lnTo>
                  <a:lnTo>
                    <a:pt x="140267" y="222362"/>
                  </a:lnTo>
                  <a:lnTo>
                    <a:pt x="179559" y="258483"/>
                  </a:lnTo>
                  <a:lnTo>
                    <a:pt x="214591" y="298865"/>
                  </a:lnTo>
                  <a:lnTo>
                    <a:pt x="244957" y="342900"/>
                  </a:lnTo>
                  <a:lnTo>
                    <a:pt x="275424" y="393632"/>
                  </a:lnTo>
                  <a:lnTo>
                    <a:pt x="301021" y="444363"/>
                  </a:lnTo>
                  <a:lnTo>
                    <a:pt x="321952" y="495095"/>
                  </a:lnTo>
                  <a:lnTo>
                    <a:pt x="338420" y="545826"/>
                  </a:lnTo>
                  <a:lnTo>
                    <a:pt x="350627" y="596558"/>
                  </a:lnTo>
                  <a:lnTo>
                    <a:pt x="312684" y="623325"/>
                  </a:lnTo>
                  <a:lnTo>
                    <a:pt x="276980" y="652793"/>
                  </a:lnTo>
                  <a:lnTo>
                    <a:pt x="243654" y="684813"/>
                  </a:lnTo>
                  <a:lnTo>
                    <a:pt x="212845" y="719234"/>
                  </a:lnTo>
                  <a:lnTo>
                    <a:pt x="184690" y="755907"/>
                  </a:lnTo>
                  <a:lnTo>
                    <a:pt x="159330" y="794681"/>
                  </a:lnTo>
                  <a:lnTo>
                    <a:pt x="136901" y="835407"/>
                  </a:lnTo>
                  <a:lnTo>
                    <a:pt x="117542" y="877933"/>
                  </a:lnTo>
                  <a:lnTo>
                    <a:pt x="101393" y="922111"/>
                  </a:lnTo>
                  <a:lnTo>
                    <a:pt x="88592" y="967789"/>
                  </a:lnTo>
                  <a:lnTo>
                    <a:pt x="79276" y="1014818"/>
                  </a:lnTo>
                  <a:lnTo>
                    <a:pt x="73585" y="1063048"/>
                  </a:lnTo>
                  <a:lnTo>
                    <a:pt x="71657" y="1112329"/>
                  </a:lnTo>
                  <a:lnTo>
                    <a:pt x="73969" y="1165505"/>
                  </a:lnTo>
                  <a:lnTo>
                    <a:pt x="80639" y="1217491"/>
                  </a:lnTo>
                  <a:lnTo>
                    <a:pt x="91272" y="1268685"/>
                  </a:lnTo>
                  <a:lnTo>
                    <a:pt x="105472" y="1319483"/>
                  </a:lnTo>
                  <a:lnTo>
                    <a:pt x="1272073" y="1319483"/>
                  </a:lnTo>
                  <a:lnTo>
                    <a:pt x="1285426" y="1276603"/>
                  </a:lnTo>
                  <a:lnTo>
                    <a:pt x="1295770" y="1232562"/>
                  </a:lnTo>
                  <a:lnTo>
                    <a:pt x="1302915" y="1187436"/>
                  </a:lnTo>
                  <a:lnTo>
                    <a:pt x="1306670" y="1141296"/>
                  </a:lnTo>
                  <a:lnTo>
                    <a:pt x="1306844" y="1094217"/>
                  </a:lnTo>
                  <a:lnTo>
                    <a:pt x="1303245" y="1046272"/>
                  </a:lnTo>
                  <a:lnTo>
                    <a:pt x="1295685" y="997535"/>
                  </a:lnTo>
                  <a:lnTo>
                    <a:pt x="1283970" y="948078"/>
                  </a:lnTo>
                  <a:lnTo>
                    <a:pt x="1267912" y="897975"/>
                  </a:lnTo>
                  <a:lnTo>
                    <a:pt x="1247318" y="847300"/>
                  </a:lnTo>
                  <a:lnTo>
                    <a:pt x="1221999" y="796125"/>
                  </a:lnTo>
                  <a:lnTo>
                    <a:pt x="1191763" y="744525"/>
                  </a:lnTo>
                  <a:lnTo>
                    <a:pt x="1164157" y="704891"/>
                  </a:lnTo>
                  <a:lnTo>
                    <a:pt x="1132588" y="668428"/>
                  </a:lnTo>
                  <a:lnTo>
                    <a:pt x="1097849" y="635135"/>
                  </a:lnTo>
                  <a:lnTo>
                    <a:pt x="1060732" y="605013"/>
                  </a:lnTo>
                  <a:lnTo>
                    <a:pt x="1070927" y="560623"/>
                  </a:lnTo>
                  <a:lnTo>
                    <a:pt x="1084527" y="516233"/>
                  </a:lnTo>
                  <a:lnTo>
                    <a:pt x="1101415" y="471843"/>
                  </a:lnTo>
                  <a:lnTo>
                    <a:pt x="1121473" y="427453"/>
                  </a:lnTo>
                  <a:lnTo>
                    <a:pt x="1144583" y="383063"/>
                  </a:lnTo>
                  <a:lnTo>
                    <a:pt x="1170629" y="338672"/>
                  </a:lnTo>
                  <a:lnTo>
                    <a:pt x="1203023" y="294637"/>
                  </a:lnTo>
                  <a:lnTo>
                    <a:pt x="1239069" y="254255"/>
                  </a:lnTo>
                  <a:lnTo>
                    <a:pt x="1278362" y="218134"/>
                  </a:lnTo>
                  <a:lnTo>
                    <a:pt x="1320495" y="186884"/>
                  </a:lnTo>
                  <a:lnTo>
                    <a:pt x="1365062" y="161112"/>
                  </a:lnTo>
                  <a:lnTo>
                    <a:pt x="1391810" y="140304"/>
                  </a:lnTo>
                  <a:lnTo>
                    <a:pt x="1407859" y="111966"/>
                  </a:lnTo>
                  <a:lnTo>
                    <a:pt x="1412020" y="79664"/>
                  </a:lnTo>
                  <a:lnTo>
                    <a:pt x="1403104" y="46966"/>
                  </a:lnTo>
                  <a:lnTo>
                    <a:pt x="1382300" y="20213"/>
                  </a:lnTo>
                  <a:lnTo>
                    <a:pt x="1353967" y="4161"/>
                  </a:lnTo>
                  <a:lnTo>
                    <a:pt x="1321671" y="0"/>
                  </a:lnTo>
                  <a:lnTo>
                    <a:pt x="1288980" y="8917"/>
                  </a:lnTo>
                  <a:lnTo>
                    <a:pt x="1244518" y="34012"/>
                  </a:lnTo>
                  <a:lnTo>
                    <a:pt x="1201905" y="62139"/>
                  </a:lnTo>
                  <a:lnTo>
                    <a:pt x="1161436" y="93223"/>
                  </a:lnTo>
                  <a:lnTo>
                    <a:pt x="1123407" y="127192"/>
                  </a:lnTo>
                  <a:lnTo>
                    <a:pt x="1088114" y="163971"/>
                  </a:lnTo>
                  <a:lnTo>
                    <a:pt x="1055852" y="203487"/>
                  </a:lnTo>
                  <a:lnTo>
                    <a:pt x="1026917" y="245665"/>
                  </a:lnTo>
                  <a:lnTo>
                    <a:pt x="997290" y="293930"/>
                  </a:lnTo>
                  <a:lnTo>
                    <a:pt x="971656" y="341491"/>
                  </a:lnTo>
                  <a:lnTo>
                    <a:pt x="949778" y="388347"/>
                  </a:lnTo>
                  <a:lnTo>
                    <a:pt x="931423" y="434499"/>
                  </a:lnTo>
                  <a:lnTo>
                    <a:pt x="916355" y="479946"/>
                  </a:lnTo>
                  <a:lnTo>
                    <a:pt x="904340" y="524688"/>
                  </a:lnTo>
                  <a:lnTo>
                    <a:pt x="852247" y="509413"/>
                  </a:lnTo>
                  <a:lnTo>
                    <a:pt x="800651" y="498398"/>
                  </a:lnTo>
                  <a:lnTo>
                    <a:pt x="749648" y="491544"/>
                  </a:lnTo>
                  <a:lnTo>
                    <a:pt x="699339" y="488753"/>
                  </a:lnTo>
                  <a:lnTo>
                    <a:pt x="649823" y="489926"/>
                  </a:lnTo>
                  <a:lnTo>
                    <a:pt x="601198" y="494963"/>
                  </a:lnTo>
                  <a:lnTo>
                    <a:pt x="553564" y="503765"/>
                  </a:lnTo>
                  <a:lnTo>
                    <a:pt x="507019" y="516233"/>
                  </a:lnTo>
                  <a:lnTo>
                    <a:pt x="494710" y="473291"/>
                  </a:lnTo>
                  <a:lnTo>
                    <a:pt x="478997" y="429175"/>
                  </a:lnTo>
                  <a:lnTo>
                    <a:pt x="459996" y="384120"/>
                  </a:lnTo>
                  <a:lnTo>
                    <a:pt x="437825" y="338359"/>
                  </a:lnTo>
                  <a:lnTo>
                    <a:pt x="412601" y="292129"/>
                  </a:lnTo>
                  <a:lnTo>
                    <a:pt x="384441" y="245665"/>
                  </a:lnTo>
                  <a:lnTo>
                    <a:pt x="355507" y="203265"/>
                  </a:lnTo>
                  <a:lnTo>
                    <a:pt x="323245" y="163232"/>
                  </a:lnTo>
                  <a:lnTo>
                    <a:pt x="287952" y="125861"/>
                  </a:lnTo>
                  <a:lnTo>
                    <a:pt x="249923" y="91448"/>
                  </a:lnTo>
                  <a:lnTo>
                    <a:pt x="209454" y="60290"/>
                  </a:lnTo>
                  <a:lnTo>
                    <a:pt x="166841" y="32681"/>
                  </a:lnTo>
                  <a:lnTo>
                    <a:pt x="122379" y="8917"/>
                  </a:lnTo>
                  <a:lnTo>
                    <a:pt x="89687" y="0"/>
                  </a:lnTo>
                  <a:lnTo>
                    <a:pt x="57392" y="4161"/>
                  </a:lnTo>
                  <a:lnTo>
                    <a:pt x="29059" y="20213"/>
                  </a:lnTo>
                  <a:lnTo>
                    <a:pt x="8255" y="46966"/>
                  </a:lnTo>
                  <a:lnTo>
                    <a:pt x="0" y="80919"/>
                  </a:lnTo>
                  <a:lnTo>
                    <a:pt x="5613" y="115665"/>
                  </a:lnTo>
                  <a:lnTo>
                    <a:pt x="23115" y="145655"/>
                  </a:lnTo>
                  <a:lnTo>
                    <a:pt x="50523" y="165340"/>
                  </a:lnTo>
                  <a:close/>
                </a:path>
              </a:pathLst>
            </a:custGeom>
            <a:ln w="49317">
              <a:solidFill>
                <a:srgbClr val="000000"/>
              </a:solidFill>
            </a:ln>
          </p:spPr>
          <p:txBody>
            <a:bodyPr wrap="square" lIns="0" tIns="0" rIns="0" bIns="0" rtlCol="0"/>
            <a:lstStyle/>
            <a:p>
              <a:endParaRPr/>
            </a:p>
          </p:txBody>
        </p:sp>
        <p:sp>
          <p:nvSpPr>
            <p:cNvPr id="7" name="object 7"/>
            <p:cNvSpPr/>
            <p:nvPr/>
          </p:nvSpPr>
          <p:spPr>
            <a:xfrm>
              <a:off x="7160243" y="2631647"/>
              <a:ext cx="3550920" cy="2900680"/>
            </a:xfrm>
            <a:custGeom>
              <a:avLst/>
              <a:gdLst/>
              <a:ahLst/>
              <a:cxnLst/>
              <a:rect l="l" t="t" r="r" b="b"/>
              <a:pathLst>
                <a:path w="3550920" h="2900679">
                  <a:moveTo>
                    <a:pt x="445664" y="330"/>
                  </a:moveTo>
                  <a:lnTo>
                    <a:pt x="395735" y="0"/>
                  </a:lnTo>
                  <a:lnTo>
                    <a:pt x="350230" y="21402"/>
                  </a:lnTo>
                  <a:lnTo>
                    <a:pt x="317010" y="57073"/>
                  </a:lnTo>
                  <a:lnTo>
                    <a:pt x="298848" y="102255"/>
                  </a:lnTo>
                  <a:lnTo>
                    <a:pt x="298518" y="152194"/>
                  </a:lnTo>
                  <a:lnTo>
                    <a:pt x="467591" y="921623"/>
                  </a:lnTo>
                  <a:lnTo>
                    <a:pt x="504047" y="986095"/>
                  </a:lnTo>
                  <a:lnTo>
                    <a:pt x="569034" y="1018859"/>
                  </a:lnTo>
                  <a:lnTo>
                    <a:pt x="974808" y="1094956"/>
                  </a:lnTo>
                  <a:lnTo>
                    <a:pt x="936767" y="1293655"/>
                  </a:lnTo>
                  <a:lnTo>
                    <a:pt x="619756" y="1293655"/>
                  </a:lnTo>
                  <a:lnTo>
                    <a:pt x="556354" y="1319021"/>
                  </a:lnTo>
                  <a:lnTo>
                    <a:pt x="16048" y="1859959"/>
                  </a:lnTo>
                  <a:lnTo>
                    <a:pt x="0" y="1906133"/>
                  </a:lnTo>
                  <a:lnTo>
                    <a:pt x="2179" y="1954685"/>
                  </a:lnTo>
                  <a:lnTo>
                    <a:pt x="23775" y="1999669"/>
                  </a:lnTo>
                  <a:lnTo>
                    <a:pt x="61619" y="2032764"/>
                  </a:lnTo>
                  <a:lnTo>
                    <a:pt x="107783" y="2048816"/>
                  </a:lnTo>
                  <a:lnTo>
                    <a:pt x="156326" y="2046636"/>
                  </a:lnTo>
                  <a:lnTo>
                    <a:pt x="201302" y="2025035"/>
                  </a:lnTo>
                  <a:lnTo>
                    <a:pt x="683158" y="1547313"/>
                  </a:lnTo>
                  <a:lnTo>
                    <a:pt x="907179" y="1547313"/>
                  </a:lnTo>
                  <a:lnTo>
                    <a:pt x="904538" y="1695214"/>
                  </a:lnTo>
                  <a:lnTo>
                    <a:pt x="928314" y="1843247"/>
                  </a:lnTo>
                  <a:lnTo>
                    <a:pt x="577752" y="1937972"/>
                  </a:lnTo>
                  <a:lnTo>
                    <a:pt x="553184" y="1955279"/>
                  </a:lnTo>
                  <a:lnTo>
                    <a:pt x="518313" y="2008125"/>
                  </a:lnTo>
                  <a:lnTo>
                    <a:pt x="252023" y="2731050"/>
                  </a:lnTo>
                  <a:lnTo>
                    <a:pt x="243702" y="2781715"/>
                  </a:lnTo>
                  <a:lnTo>
                    <a:pt x="255194" y="2828814"/>
                  </a:lnTo>
                  <a:lnTo>
                    <a:pt x="284121" y="2867193"/>
                  </a:lnTo>
                  <a:lnTo>
                    <a:pt x="370374" y="2900155"/>
                  </a:lnTo>
                  <a:lnTo>
                    <a:pt x="407887" y="2894078"/>
                  </a:lnTo>
                  <a:lnTo>
                    <a:pt x="442230" y="2876903"/>
                  </a:lnTo>
                  <a:lnTo>
                    <a:pt x="470233" y="2850216"/>
                  </a:lnTo>
                  <a:lnTo>
                    <a:pt x="488725" y="2815602"/>
                  </a:lnTo>
                  <a:lnTo>
                    <a:pt x="729653" y="2151864"/>
                  </a:lnTo>
                  <a:lnTo>
                    <a:pt x="1021303" y="2079994"/>
                  </a:lnTo>
                  <a:lnTo>
                    <a:pt x="1107666" y="2201784"/>
                  </a:lnTo>
                  <a:lnTo>
                    <a:pt x="1213099" y="2306528"/>
                  </a:lnTo>
                  <a:lnTo>
                    <a:pt x="1335373" y="2391385"/>
                  </a:lnTo>
                  <a:lnTo>
                    <a:pt x="1472254" y="2453514"/>
                  </a:lnTo>
                  <a:lnTo>
                    <a:pt x="1621511" y="2490075"/>
                  </a:lnTo>
                  <a:lnTo>
                    <a:pt x="1647466" y="2464907"/>
                  </a:lnTo>
                  <a:lnTo>
                    <a:pt x="1667478" y="2434587"/>
                  </a:lnTo>
                  <a:lnTo>
                    <a:pt x="1680356" y="2400304"/>
                  </a:lnTo>
                  <a:lnTo>
                    <a:pt x="1684913" y="2363246"/>
                  </a:lnTo>
                  <a:lnTo>
                    <a:pt x="1684913" y="1551540"/>
                  </a:lnTo>
                  <a:lnTo>
                    <a:pt x="1691518" y="1519371"/>
                  </a:lnTo>
                  <a:lnTo>
                    <a:pt x="1709217" y="1493939"/>
                  </a:lnTo>
                  <a:lnTo>
                    <a:pt x="1734842" y="1477227"/>
                  </a:lnTo>
                  <a:lnTo>
                    <a:pt x="1765223" y="1471215"/>
                  </a:lnTo>
                  <a:lnTo>
                    <a:pt x="1797386" y="1477821"/>
                  </a:lnTo>
                  <a:lnTo>
                    <a:pt x="1822813" y="1495524"/>
                  </a:lnTo>
                  <a:lnTo>
                    <a:pt x="1839522" y="1521154"/>
                  </a:lnTo>
                  <a:lnTo>
                    <a:pt x="1845532" y="1551540"/>
                  </a:lnTo>
                  <a:lnTo>
                    <a:pt x="1845532" y="2367473"/>
                  </a:lnTo>
                  <a:lnTo>
                    <a:pt x="1850023" y="2404531"/>
                  </a:lnTo>
                  <a:lnTo>
                    <a:pt x="1862440" y="2438815"/>
                  </a:lnTo>
                  <a:lnTo>
                    <a:pt x="1904708" y="2494302"/>
                  </a:lnTo>
                  <a:lnTo>
                    <a:pt x="2051902" y="2455645"/>
                  </a:lnTo>
                  <a:lnTo>
                    <a:pt x="2187532" y="2392028"/>
                  </a:lnTo>
                  <a:lnTo>
                    <a:pt x="2309163" y="2305885"/>
                  </a:lnTo>
                  <a:lnTo>
                    <a:pt x="2414360" y="2199653"/>
                  </a:lnTo>
                  <a:lnTo>
                    <a:pt x="2500688" y="2075767"/>
                  </a:lnTo>
                  <a:lnTo>
                    <a:pt x="2817699" y="2156092"/>
                  </a:lnTo>
                  <a:lnTo>
                    <a:pt x="3058628" y="2819830"/>
                  </a:lnTo>
                  <a:lnTo>
                    <a:pt x="3077120" y="2854444"/>
                  </a:lnTo>
                  <a:lnTo>
                    <a:pt x="3105123" y="2881131"/>
                  </a:lnTo>
                  <a:lnTo>
                    <a:pt x="3139466" y="2898306"/>
                  </a:lnTo>
                  <a:lnTo>
                    <a:pt x="3219247" y="2895928"/>
                  </a:lnTo>
                  <a:lnTo>
                    <a:pt x="3263232" y="2869042"/>
                  </a:lnTo>
                  <a:lnTo>
                    <a:pt x="3292159" y="2829871"/>
                  </a:lnTo>
                  <a:lnTo>
                    <a:pt x="3303651" y="2783565"/>
                  </a:lnTo>
                  <a:lnTo>
                    <a:pt x="3295330" y="2735278"/>
                  </a:lnTo>
                  <a:lnTo>
                    <a:pt x="3015765" y="1981306"/>
                  </a:lnTo>
                  <a:lnTo>
                    <a:pt x="2995754" y="1958450"/>
                  </a:lnTo>
                  <a:lnTo>
                    <a:pt x="2940277" y="1927800"/>
                  </a:lnTo>
                  <a:lnTo>
                    <a:pt x="2593678" y="1839019"/>
                  </a:lnTo>
                  <a:lnTo>
                    <a:pt x="2613293" y="1696337"/>
                  </a:lnTo>
                  <a:lnTo>
                    <a:pt x="2610585" y="1551541"/>
                  </a:lnTo>
                  <a:lnTo>
                    <a:pt x="2864194" y="1551541"/>
                  </a:lnTo>
                  <a:lnTo>
                    <a:pt x="3341824" y="2033491"/>
                  </a:lnTo>
                  <a:lnTo>
                    <a:pt x="3386800" y="2055091"/>
                  </a:lnTo>
                  <a:lnTo>
                    <a:pt x="3435343" y="2057271"/>
                  </a:lnTo>
                  <a:lnTo>
                    <a:pt x="3481507" y="2041219"/>
                  </a:lnTo>
                  <a:lnTo>
                    <a:pt x="3519351" y="2008125"/>
                  </a:lnTo>
                  <a:lnTo>
                    <a:pt x="3545834" y="1960696"/>
                  </a:lnTo>
                  <a:lnTo>
                    <a:pt x="3550523" y="1910889"/>
                  </a:lnTo>
                  <a:lnTo>
                    <a:pt x="3535399" y="1864253"/>
                  </a:lnTo>
                  <a:lnTo>
                    <a:pt x="3502443" y="1826337"/>
                  </a:lnTo>
                  <a:lnTo>
                    <a:pt x="2981753" y="1314529"/>
                  </a:lnTo>
                  <a:lnTo>
                    <a:pt x="2931823" y="1297883"/>
                  </a:lnTo>
                  <a:lnTo>
                    <a:pt x="2589451" y="1297883"/>
                  </a:lnTo>
                  <a:lnTo>
                    <a:pt x="2551410" y="1090729"/>
                  </a:lnTo>
                  <a:lnTo>
                    <a:pt x="2902236" y="1018859"/>
                  </a:lnTo>
                  <a:lnTo>
                    <a:pt x="2963524" y="987152"/>
                  </a:lnTo>
                  <a:lnTo>
                    <a:pt x="2999452" y="930079"/>
                  </a:lnTo>
                  <a:lnTo>
                    <a:pt x="3210793" y="160650"/>
                  </a:lnTo>
                  <a:lnTo>
                    <a:pt x="3213567" y="110645"/>
                  </a:lnTo>
                  <a:lnTo>
                    <a:pt x="3198112" y="64999"/>
                  </a:lnTo>
                  <a:lnTo>
                    <a:pt x="3166808" y="28074"/>
                  </a:lnTo>
                  <a:lnTo>
                    <a:pt x="3122030" y="4227"/>
                  </a:lnTo>
                  <a:lnTo>
                    <a:pt x="3072034" y="1453"/>
                  </a:lnTo>
                  <a:lnTo>
                    <a:pt x="3026398" y="16910"/>
                  </a:lnTo>
                  <a:lnTo>
                    <a:pt x="2989479" y="48221"/>
                  </a:lnTo>
                  <a:lnTo>
                    <a:pt x="2965638" y="93007"/>
                  </a:lnTo>
                  <a:lnTo>
                    <a:pt x="2775431" y="786339"/>
                  </a:lnTo>
                  <a:lnTo>
                    <a:pt x="2483781" y="845526"/>
                  </a:lnTo>
                  <a:lnTo>
                    <a:pt x="2424936" y="726029"/>
                  </a:lnTo>
                  <a:lnTo>
                    <a:pt x="2403471" y="697559"/>
                  </a:lnTo>
                  <a:lnTo>
                    <a:pt x="1126974" y="697559"/>
                  </a:lnTo>
                  <a:lnTo>
                    <a:pt x="1083649" y="760973"/>
                  </a:lnTo>
                  <a:lnTo>
                    <a:pt x="1046664" y="849754"/>
                  </a:lnTo>
                  <a:lnTo>
                    <a:pt x="700065" y="782111"/>
                  </a:lnTo>
                  <a:lnTo>
                    <a:pt x="547900" y="97235"/>
                  </a:lnTo>
                  <a:lnTo>
                    <a:pt x="526502" y="51722"/>
                  </a:lnTo>
                  <a:lnTo>
                    <a:pt x="490838" y="18495"/>
                  </a:lnTo>
                  <a:lnTo>
                    <a:pt x="445664" y="330"/>
                  </a:lnTo>
                  <a:close/>
                </a:path>
              </a:pathLst>
            </a:custGeom>
            <a:solidFill>
              <a:srgbClr val="F1F1F1"/>
            </a:solidFill>
          </p:spPr>
          <p:txBody>
            <a:bodyPr wrap="square" lIns="0" tIns="0" rIns="0" bIns="0" rtlCol="0"/>
            <a:lstStyle/>
            <a:p>
              <a:endParaRPr/>
            </a:p>
          </p:txBody>
        </p:sp>
        <p:sp>
          <p:nvSpPr>
            <p:cNvPr id="8" name="object 8"/>
            <p:cNvSpPr/>
            <p:nvPr/>
          </p:nvSpPr>
          <p:spPr>
            <a:xfrm>
              <a:off x="7160243" y="2631647"/>
              <a:ext cx="3550920" cy="2904490"/>
            </a:xfrm>
            <a:custGeom>
              <a:avLst/>
              <a:gdLst/>
              <a:ahLst/>
              <a:cxnLst/>
              <a:rect l="l" t="t" r="r" b="b"/>
              <a:pathLst>
                <a:path w="3550920" h="2904490">
                  <a:moveTo>
                    <a:pt x="3502443" y="1826337"/>
                  </a:moveTo>
                  <a:lnTo>
                    <a:pt x="2995226" y="1323248"/>
                  </a:lnTo>
                  <a:lnTo>
                    <a:pt x="2950051" y="1301846"/>
                  </a:lnTo>
                  <a:lnTo>
                    <a:pt x="2589451" y="1297883"/>
                  </a:lnTo>
                  <a:lnTo>
                    <a:pt x="2582319" y="1246490"/>
                  </a:lnTo>
                  <a:lnTo>
                    <a:pt x="2573601" y="1194306"/>
                  </a:lnTo>
                  <a:lnTo>
                    <a:pt x="2563298" y="1142121"/>
                  </a:lnTo>
                  <a:lnTo>
                    <a:pt x="2551410" y="1090729"/>
                  </a:lnTo>
                  <a:lnTo>
                    <a:pt x="2902236" y="1018859"/>
                  </a:lnTo>
                  <a:lnTo>
                    <a:pt x="2963524" y="987152"/>
                  </a:lnTo>
                  <a:lnTo>
                    <a:pt x="2999452" y="930079"/>
                  </a:lnTo>
                  <a:lnTo>
                    <a:pt x="3210793" y="160650"/>
                  </a:lnTo>
                  <a:lnTo>
                    <a:pt x="3213567" y="110645"/>
                  </a:lnTo>
                  <a:lnTo>
                    <a:pt x="3198112" y="64999"/>
                  </a:lnTo>
                  <a:lnTo>
                    <a:pt x="3166808" y="28074"/>
                  </a:lnTo>
                  <a:lnTo>
                    <a:pt x="3122030" y="4227"/>
                  </a:lnTo>
                  <a:lnTo>
                    <a:pt x="3072034" y="1453"/>
                  </a:lnTo>
                  <a:lnTo>
                    <a:pt x="3026398" y="16910"/>
                  </a:lnTo>
                  <a:lnTo>
                    <a:pt x="2989479" y="48221"/>
                  </a:lnTo>
                  <a:lnTo>
                    <a:pt x="2965638" y="93007"/>
                  </a:lnTo>
                  <a:lnTo>
                    <a:pt x="2775431" y="786339"/>
                  </a:lnTo>
                  <a:lnTo>
                    <a:pt x="2483781" y="845526"/>
                  </a:lnTo>
                  <a:lnTo>
                    <a:pt x="2464694" y="800409"/>
                  </a:lnTo>
                  <a:lnTo>
                    <a:pt x="2445211" y="760445"/>
                  </a:lnTo>
                  <a:lnTo>
                    <a:pt x="2424936" y="726029"/>
                  </a:lnTo>
                  <a:lnTo>
                    <a:pt x="1126974" y="697559"/>
                  </a:lnTo>
                  <a:lnTo>
                    <a:pt x="1104915" y="726095"/>
                  </a:lnTo>
                  <a:lnTo>
                    <a:pt x="1083649" y="760973"/>
                  </a:lnTo>
                  <a:lnTo>
                    <a:pt x="1063968" y="802193"/>
                  </a:lnTo>
                  <a:lnTo>
                    <a:pt x="1046664" y="849754"/>
                  </a:lnTo>
                  <a:lnTo>
                    <a:pt x="700065" y="782111"/>
                  </a:lnTo>
                  <a:lnTo>
                    <a:pt x="547900" y="97235"/>
                  </a:lnTo>
                  <a:lnTo>
                    <a:pt x="526502" y="51722"/>
                  </a:lnTo>
                  <a:lnTo>
                    <a:pt x="490838" y="18495"/>
                  </a:lnTo>
                  <a:lnTo>
                    <a:pt x="445664" y="330"/>
                  </a:lnTo>
                  <a:lnTo>
                    <a:pt x="395735" y="0"/>
                  </a:lnTo>
                  <a:lnTo>
                    <a:pt x="350230" y="21402"/>
                  </a:lnTo>
                  <a:lnTo>
                    <a:pt x="317010" y="57073"/>
                  </a:lnTo>
                  <a:lnTo>
                    <a:pt x="298848" y="102255"/>
                  </a:lnTo>
                  <a:lnTo>
                    <a:pt x="298518" y="152194"/>
                  </a:lnTo>
                  <a:lnTo>
                    <a:pt x="467591" y="921623"/>
                  </a:lnTo>
                  <a:lnTo>
                    <a:pt x="504047" y="986095"/>
                  </a:lnTo>
                  <a:lnTo>
                    <a:pt x="569034" y="1018859"/>
                  </a:lnTo>
                  <a:lnTo>
                    <a:pt x="974808" y="1094956"/>
                  </a:lnTo>
                  <a:lnTo>
                    <a:pt x="965298" y="1145622"/>
                  </a:lnTo>
                  <a:lnTo>
                    <a:pt x="955788" y="1195891"/>
                  </a:lnTo>
                  <a:lnTo>
                    <a:pt x="946277" y="1245367"/>
                  </a:lnTo>
                  <a:lnTo>
                    <a:pt x="936767" y="1293655"/>
                  </a:lnTo>
                  <a:lnTo>
                    <a:pt x="619756" y="1293655"/>
                  </a:lnTo>
                  <a:lnTo>
                    <a:pt x="603905" y="1297618"/>
                  </a:lnTo>
                  <a:lnTo>
                    <a:pt x="556354" y="1319021"/>
                  </a:lnTo>
                  <a:lnTo>
                    <a:pt x="49136" y="1822109"/>
                  </a:lnTo>
                  <a:lnTo>
                    <a:pt x="16048" y="1859959"/>
                  </a:lnTo>
                  <a:lnTo>
                    <a:pt x="0" y="1906133"/>
                  </a:lnTo>
                  <a:lnTo>
                    <a:pt x="2179" y="1954685"/>
                  </a:lnTo>
                  <a:lnTo>
                    <a:pt x="23775" y="1999669"/>
                  </a:lnTo>
                  <a:lnTo>
                    <a:pt x="61619" y="2032764"/>
                  </a:lnTo>
                  <a:lnTo>
                    <a:pt x="107783" y="2048816"/>
                  </a:lnTo>
                  <a:lnTo>
                    <a:pt x="156326" y="2046636"/>
                  </a:lnTo>
                  <a:lnTo>
                    <a:pt x="201302" y="2025035"/>
                  </a:lnTo>
                  <a:lnTo>
                    <a:pt x="683158" y="1547313"/>
                  </a:lnTo>
                  <a:lnTo>
                    <a:pt x="907179" y="1547313"/>
                  </a:lnTo>
                  <a:lnTo>
                    <a:pt x="904736" y="1574991"/>
                  </a:lnTo>
                  <a:lnTo>
                    <a:pt x="903481" y="1600687"/>
                  </a:lnTo>
                  <a:lnTo>
                    <a:pt x="903019" y="1624005"/>
                  </a:lnTo>
                  <a:lnTo>
                    <a:pt x="902953" y="1644548"/>
                  </a:lnTo>
                  <a:lnTo>
                    <a:pt x="904538" y="1695214"/>
                  </a:lnTo>
                  <a:lnTo>
                    <a:pt x="909293" y="1745483"/>
                  </a:lnTo>
                  <a:lnTo>
                    <a:pt x="917218" y="1794960"/>
                  </a:lnTo>
                  <a:lnTo>
                    <a:pt x="928314" y="1843247"/>
                  </a:lnTo>
                  <a:lnTo>
                    <a:pt x="607076" y="1927800"/>
                  </a:lnTo>
                  <a:lnTo>
                    <a:pt x="553184" y="1955279"/>
                  </a:lnTo>
                  <a:lnTo>
                    <a:pt x="518313" y="2008125"/>
                  </a:lnTo>
                  <a:lnTo>
                    <a:pt x="252023" y="2731050"/>
                  </a:lnTo>
                  <a:lnTo>
                    <a:pt x="243702" y="2781715"/>
                  </a:lnTo>
                  <a:lnTo>
                    <a:pt x="255194" y="2828814"/>
                  </a:lnTo>
                  <a:lnTo>
                    <a:pt x="284121" y="2867193"/>
                  </a:lnTo>
                  <a:lnTo>
                    <a:pt x="328106" y="2891700"/>
                  </a:lnTo>
                  <a:lnTo>
                    <a:pt x="370374" y="2900155"/>
                  </a:lnTo>
                  <a:lnTo>
                    <a:pt x="407887" y="2894078"/>
                  </a:lnTo>
                  <a:lnTo>
                    <a:pt x="442230" y="2876903"/>
                  </a:lnTo>
                  <a:lnTo>
                    <a:pt x="470233" y="2850216"/>
                  </a:lnTo>
                  <a:lnTo>
                    <a:pt x="488725" y="2815602"/>
                  </a:lnTo>
                  <a:lnTo>
                    <a:pt x="729653" y="2151864"/>
                  </a:lnTo>
                  <a:lnTo>
                    <a:pt x="1021303" y="2079994"/>
                  </a:lnTo>
                  <a:lnTo>
                    <a:pt x="1047834" y="2122310"/>
                  </a:lnTo>
                  <a:lnTo>
                    <a:pt x="1076649" y="2162941"/>
                  </a:lnTo>
                  <a:lnTo>
                    <a:pt x="1107666" y="2201784"/>
                  </a:lnTo>
                  <a:lnTo>
                    <a:pt x="1140801" y="2238733"/>
                  </a:lnTo>
                  <a:lnTo>
                    <a:pt x="1175974" y="2273683"/>
                  </a:lnTo>
                  <a:lnTo>
                    <a:pt x="1213099" y="2306528"/>
                  </a:lnTo>
                  <a:lnTo>
                    <a:pt x="1252096" y="2337164"/>
                  </a:lnTo>
                  <a:lnTo>
                    <a:pt x="1292882" y="2365484"/>
                  </a:lnTo>
                  <a:lnTo>
                    <a:pt x="1335373" y="2391385"/>
                  </a:lnTo>
                  <a:lnTo>
                    <a:pt x="1379487" y="2414760"/>
                  </a:lnTo>
                  <a:lnTo>
                    <a:pt x="1425142" y="2435505"/>
                  </a:lnTo>
                  <a:lnTo>
                    <a:pt x="1472254" y="2453514"/>
                  </a:lnTo>
                  <a:lnTo>
                    <a:pt x="1520741" y="2468682"/>
                  </a:lnTo>
                  <a:lnTo>
                    <a:pt x="1570521" y="2480904"/>
                  </a:lnTo>
                  <a:lnTo>
                    <a:pt x="1621511" y="2490075"/>
                  </a:lnTo>
                  <a:lnTo>
                    <a:pt x="1647466" y="2464907"/>
                  </a:lnTo>
                  <a:lnTo>
                    <a:pt x="1667478" y="2434587"/>
                  </a:lnTo>
                  <a:lnTo>
                    <a:pt x="1680356" y="2400304"/>
                  </a:lnTo>
                  <a:lnTo>
                    <a:pt x="1684913" y="2363246"/>
                  </a:lnTo>
                  <a:lnTo>
                    <a:pt x="1684913" y="1551540"/>
                  </a:lnTo>
                  <a:lnTo>
                    <a:pt x="1691518" y="1519371"/>
                  </a:lnTo>
                  <a:lnTo>
                    <a:pt x="1709217" y="1493939"/>
                  </a:lnTo>
                  <a:lnTo>
                    <a:pt x="1734842" y="1477227"/>
                  </a:lnTo>
                  <a:lnTo>
                    <a:pt x="1765223" y="1471215"/>
                  </a:lnTo>
                  <a:lnTo>
                    <a:pt x="1797386" y="1477821"/>
                  </a:lnTo>
                  <a:lnTo>
                    <a:pt x="1822813" y="1495524"/>
                  </a:lnTo>
                  <a:lnTo>
                    <a:pt x="1839522" y="1521154"/>
                  </a:lnTo>
                  <a:lnTo>
                    <a:pt x="1845532" y="1551540"/>
                  </a:lnTo>
                  <a:lnTo>
                    <a:pt x="1845532" y="2367473"/>
                  </a:lnTo>
                  <a:lnTo>
                    <a:pt x="1850023" y="2404531"/>
                  </a:lnTo>
                  <a:lnTo>
                    <a:pt x="1862440" y="2438815"/>
                  </a:lnTo>
                  <a:lnTo>
                    <a:pt x="1881196" y="2469135"/>
                  </a:lnTo>
                  <a:lnTo>
                    <a:pt x="1904708" y="2494302"/>
                  </a:lnTo>
                  <a:lnTo>
                    <a:pt x="1954907" y="2484340"/>
                  </a:lnTo>
                  <a:lnTo>
                    <a:pt x="2004002" y="2471424"/>
                  </a:lnTo>
                  <a:lnTo>
                    <a:pt x="2051902" y="2455645"/>
                  </a:lnTo>
                  <a:lnTo>
                    <a:pt x="2098517" y="2437092"/>
                  </a:lnTo>
                  <a:lnTo>
                    <a:pt x="2143758" y="2415856"/>
                  </a:lnTo>
                  <a:lnTo>
                    <a:pt x="2187532" y="2392028"/>
                  </a:lnTo>
                  <a:lnTo>
                    <a:pt x="2229752" y="2365696"/>
                  </a:lnTo>
                  <a:lnTo>
                    <a:pt x="2270325" y="2336952"/>
                  </a:lnTo>
                  <a:lnTo>
                    <a:pt x="2309163" y="2305885"/>
                  </a:lnTo>
                  <a:lnTo>
                    <a:pt x="2346175" y="2272587"/>
                  </a:lnTo>
                  <a:lnTo>
                    <a:pt x="2381271" y="2237146"/>
                  </a:lnTo>
                  <a:lnTo>
                    <a:pt x="2414360" y="2199653"/>
                  </a:lnTo>
                  <a:lnTo>
                    <a:pt x="2445353" y="2160199"/>
                  </a:lnTo>
                  <a:lnTo>
                    <a:pt x="2474159" y="2118874"/>
                  </a:lnTo>
                  <a:lnTo>
                    <a:pt x="2500688" y="2075767"/>
                  </a:lnTo>
                  <a:lnTo>
                    <a:pt x="2817699" y="2156092"/>
                  </a:lnTo>
                  <a:lnTo>
                    <a:pt x="3058628" y="2819830"/>
                  </a:lnTo>
                  <a:lnTo>
                    <a:pt x="3077120" y="2854444"/>
                  </a:lnTo>
                  <a:lnTo>
                    <a:pt x="3105123" y="2881131"/>
                  </a:lnTo>
                  <a:lnTo>
                    <a:pt x="3139466" y="2898306"/>
                  </a:lnTo>
                  <a:lnTo>
                    <a:pt x="3176979" y="2904383"/>
                  </a:lnTo>
                  <a:lnTo>
                    <a:pt x="3187150" y="2903656"/>
                  </a:lnTo>
                  <a:lnTo>
                    <a:pt x="3263232" y="2869042"/>
                  </a:lnTo>
                  <a:lnTo>
                    <a:pt x="3292159" y="2829871"/>
                  </a:lnTo>
                  <a:lnTo>
                    <a:pt x="3303651" y="2783565"/>
                  </a:lnTo>
                  <a:lnTo>
                    <a:pt x="3295330" y="2735278"/>
                  </a:lnTo>
                  <a:lnTo>
                    <a:pt x="3029040" y="2008125"/>
                  </a:lnTo>
                  <a:lnTo>
                    <a:pt x="2995754" y="1958450"/>
                  </a:lnTo>
                  <a:lnTo>
                    <a:pt x="2940277" y="1927800"/>
                  </a:lnTo>
                  <a:lnTo>
                    <a:pt x="2593678" y="1839019"/>
                  </a:lnTo>
                  <a:lnTo>
                    <a:pt x="2602330" y="1791459"/>
                  </a:lnTo>
                  <a:lnTo>
                    <a:pt x="2609000" y="1743898"/>
                  </a:lnTo>
                  <a:lnTo>
                    <a:pt x="2613293" y="1696337"/>
                  </a:lnTo>
                  <a:lnTo>
                    <a:pt x="2614812" y="1648776"/>
                  </a:lnTo>
                  <a:lnTo>
                    <a:pt x="2614746" y="1625854"/>
                  </a:lnTo>
                  <a:lnTo>
                    <a:pt x="2614284" y="1601744"/>
                  </a:lnTo>
                  <a:lnTo>
                    <a:pt x="2613029" y="1576840"/>
                  </a:lnTo>
                  <a:lnTo>
                    <a:pt x="2610585" y="1551541"/>
                  </a:lnTo>
                  <a:lnTo>
                    <a:pt x="2864194" y="1551541"/>
                  </a:lnTo>
                  <a:lnTo>
                    <a:pt x="3341824" y="2033491"/>
                  </a:lnTo>
                  <a:lnTo>
                    <a:pt x="3386800" y="2055091"/>
                  </a:lnTo>
                  <a:lnTo>
                    <a:pt x="3435343" y="2057271"/>
                  </a:lnTo>
                  <a:lnTo>
                    <a:pt x="3481507" y="2041219"/>
                  </a:lnTo>
                  <a:lnTo>
                    <a:pt x="3519351" y="2008125"/>
                  </a:lnTo>
                  <a:lnTo>
                    <a:pt x="3545834" y="1960696"/>
                  </a:lnTo>
                  <a:lnTo>
                    <a:pt x="3550523" y="1910889"/>
                  </a:lnTo>
                  <a:lnTo>
                    <a:pt x="3535399" y="1864253"/>
                  </a:lnTo>
                  <a:lnTo>
                    <a:pt x="3502443" y="1826337"/>
                  </a:lnTo>
                  <a:close/>
                </a:path>
              </a:pathLst>
            </a:custGeom>
            <a:ln w="49318">
              <a:solidFill>
                <a:srgbClr val="000000"/>
              </a:solidFill>
            </a:ln>
          </p:spPr>
          <p:txBody>
            <a:bodyPr wrap="square" lIns="0" tIns="0" rIns="0" bIns="0" rtlCol="0"/>
            <a:lstStyle/>
            <a:p>
              <a:endParaRPr/>
            </a:p>
          </p:txBody>
        </p:sp>
      </p:grpSp>
      <p:sp>
        <p:nvSpPr>
          <p:cNvPr id="9" name="object 9"/>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50" dirty="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latin typeface="+mn-lt"/>
              </a:rPr>
              <a:t>ATTACKS USING MALWARE</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50" dirty="0"/>
              <a:t>6</a:t>
            </a:fld>
            <a:endParaRPr spc="-50" dirty="0"/>
          </a:p>
        </p:txBody>
      </p:sp>
      <p:sp>
        <p:nvSpPr>
          <p:cNvPr id="3" name="object 3"/>
          <p:cNvSpPr txBox="1"/>
          <p:nvPr/>
        </p:nvSpPr>
        <p:spPr>
          <a:xfrm>
            <a:off x="1148892" y="2065146"/>
            <a:ext cx="9491345" cy="3165610"/>
          </a:xfrm>
          <a:prstGeom prst="rect">
            <a:avLst/>
          </a:prstGeom>
        </p:spPr>
        <p:txBody>
          <a:bodyPr vert="horz" wrap="square" lIns="0" tIns="53975" rIns="0" bIns="0" rtlCol="0">
            <a:spAutoFit/>
          </a:bodyPr>
          <a:lstStyle/>
          <a:p>
            <a:pPr marL="12700" marR="5080">
              <a:lnSpc>
                <a:spcPts val="2590"/>
              </a:lnSpc>
              <a:spcBef>
                <a:spcPts val="425"/>
              </a:spcBef>
            </a:pPr>
            <a:r>
              <a:rPr sz="2400" dirty="0">
                <a:solidFill>
                  <a:srgbClr val="C00000"/>
                </a:solidFill>
                <a:latin typeface="+mn-lt"/>
                <a:cs typeface="Arial MT"/>
              </a:rPr>
              <a:t>Malware </a:t>
            </a:r>
            <a:r>
              <a:rPr sz="2400" dirty="0">
                <a:latin typeface="+mn-lt"/>
                <a:cs typeface="Arial MT"/>
              </a:rPr>
              <a:t>is a collective term for any malicious software that enters a computer system without </a:t>
            </a:r>
            <a:r>
              <a:rPr sz="2400" dirty="0">
                <a:solidFill>
                  <a:srgbClr val="0000FF"/>
                </a:solidFill>
                <a:latin typeface="+mn-lt"/>
                <a:cs typeface="Arial MT"/>
              </a:rPr>
              <a:t>user’s knowledge </a:t>
            </a:r>
            <a:r>
              <a:rPr sz="2400" dirty="0">
                <a:latin typeface="+mn-lt"/>
                <a:cs typeface="Arial MT"/>
              </a:rPr>
              <a:t>or consent and then perform an unwanted and </a:t>
            </a:r>
            <a:r>
              <a:rPr sz="2400" dirty="0">
                <a:solidFill>
                  <a:srgbClr val="0000FF"/>
                </a:solidFill>
                <a:latin typeface="+mn-lt"/>
                <a:cs typeface="Arial MT"/>
              </a:rPr>
              <a:t>harmful action</a:t>
            </a:r>
            <a:r>
              <a:rPr sz="2400" dirty="0">
                <a:latin typeface="+mn-lt"/>
                <a:cs typeface="Arial MT"/>
              </a:rPr>
              <a:t>.</a:t>
            </a:r>
          </a:p>
          <a:p>
            <a:pPr>
              <a:lnSpc>
                <a:spcPct val="100000"/>
              </a:lnSpc>
              <a:spcBef>
                <a:spcPts val="2635"/>
              </a:spcBef>
            </a:pPr>
            <a:endParaRPr sz="2400" dirty="0">
              <a:latin typeface="+mn-lt"/>
              <a:cs typeface="Arial MT"/>
            </a:endParaRPr>
          </a:p>
          <a:p>
            <a:pPr marL="12700" marR="979805">
              <a:lnSpc>
                <a:spcPts val="2590"/>
              </a:lnSpc>
              <a:spcBef>
                <a:spcPts val="5"/>
              </a:spcBef>
            </a:pPr>
            <a:r>
              <a:rPr sz="2400" dirty="0">
                <a:latin typeface="+mn-lt"/>
                <a:cs typeface="Arial MT"/>
              </a:rPr>
              <a:t>One way to </a:t>
            </a:r>
            <a:r>
              <a:rPr sz="2400" dirty="0">
                <a:solidFill>
                  <a:srgbClr val="C00000"/>
                </a:solidFill>
                <a:latin typeface="+mn-lt"/>
                <a:cs typeface="Arial MT"/>
              </a:rPr>
              <a:t>classify </a:t>
            </a:r>
            <a:r>
              <a:rPr sz="2400" dirty="0">
                <a:latin typeface="+mn-lt"/>
                <a:cs typeface="Arial MT"/>
              </a:rPr>
              <a:t>malware is to examine their </a:t>
            </a:r>
            <a:r>
              <a:rPr sz="2400" dirty="0">
                <a:solidFill>
                  <a:srgbClr val="C00000"/>
                </a:solidFill>
                <a:latin typeface="+mn-lt"/>
                <a:cs typeface="Arial MT"/>
              </a:rPr>
              <a:t>primary action</a:t>
            </a:r>
            <a:r>
              <a:rPr sz="2400" dirty="0">
                <a:latin typeface="+mn-lt"/>
                <a:cs typeface="Arial MT"/>
              </a:rPr>
              <a:t>, which includes:</a:t>
            </a:r>
          </a:p>
          <a:p>
            <a:pPr marL="48895">
              <a:lnSpc>
                <a:spcPct val="100000"/>
              </a:lnSpc>
              <a:spcBef>
                <a:spcPts val="70"/>
              </a:spcBef>
            </a:pPr>
            <a:r>
              <a:rPr sz="2400" dirty="0">
                <a:latin typeface="+mn-lt"/>
                <a:cs typeface="Arial MT"/>
              </a:rPr>
              <a:t>Imprison, launch, snoop, deceive, and evade.</a:t>
            </a:r>
          </a:p>
          <a:p>
            <a:pPr marL="231775">
              <a:lnSpc>
                <a:spcPct val="100000"/>
              </a:lnSpc>
              <a:spcBef>
                <a:spcPts val="390"/>
              </a:spcBef>
            </a:pPr>
            <a:r>
              <a:rPr sz="2000" dirty="0">
                <a:latin typeface="+mn-lt"/>
                <a:cs typeface="Arial MT"/>
              </a:rPr>
              <a:t>Note: Some malwares have more than one primary action.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6212028" cy="1408719"/>
          </a:xfrm>
          <a:prstGeom prst="rect">
            <a:avLst/>
          </a:prstGeom>
        </p:spPr>
        <p:txBody>
          <a:bodyPr vert="horz" wrap="square" lIns="0" tIns="160655" rIns="0" bIns="0" rtlCol="0">
            <a:spAutoFit/>
          </a:bodyPr>
          <a:lstStyle/>
          <a:p>
            <a:pPr marL="12700" marR="5080">
              <a:lnSpc>
                <a:spcPts val="4800"/>
              </a:lnSpc>
              <a:spcBef>
                <a:spcPts val="1265"/>
              </a:spcBef>
            </a:pPr>
            <a:r>
              <a:rPr dirty="0">
                <a:latin typeface="+mn-lt"/>
              </a:rPr>
              <a:t>MALWARE CATEGORY - IMPRISON</a:t>
            </a:r>
          </a:p>
        </p:txBody>
      </p:sp>
      <p:sp>
        <p:nvSpPr>
          <p:cNvPr id="3" name="object 3"/>
          <p:cNvSpPr txBox="1"/>
          <p:nvPr/>
        </p:nvSpPr>
        <p:spPr>
          <a:xfrm>
            <a:off x="962660" y="2120265"/>
            <a:ext cx="6833870" cy="75692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mn-lt"/>
                <a:cs typeface="Arial MT"/>
              </a:rPr>
              <a:t>Some malware types are designed to restrict or </a:t>
            </a:r>
            <a:r>
              <a:rPr sz="2400" dirty="0">
                <a:solidFill>
                  <a:srgbClr val="0000FF"/>
                </a:solidFill>
                <a:latin typeface="+mn-lt"/>
                <a:cs typeface="Arial MT"/>
              </a:rPr>
              <a:t>deprive </a:t>
            </a:r>
            <a:r>
              <a:rPr sz="2400" dirty="0">
                <a:latin typeface="+mn-lt"/>
                <a:cs typeface="Arial MT"/>
              </a:rPr>
              <a:t>users from using their computing devices.</a:t>
            </a:r>
            <a:endParaRPr sz="2400">
              <a:latin typeface="+mn-lt"/>
              <a:cs typeface="Arial MT"/>
            </a:endParaRPr>
          </a:p>
        </p:txBody>
      </p:sp>
      <p:sp>
        <p:nvSpPr>
          <p:cNvPr id="4" name="object 4"/>
          <p:cNvSpPr txBox="1"/>
          <p:nvPr/>
        </p:nvSpPr>
        <p:spPr>
          <a:xfrm>
            <a:off x="962660" y="3188588"/>
            <a:ext cx="6796405" cy="2043508"/>
          </a:xfrm>
          <a:prstGeom prst="rect">
            <a:avLst/>
          </a:prstGeom>
        </p:spPr>
        <p:txBody>
          <a:bodyPr vert="horz" wrap="square" lIns="0" tIns="12065" rIns="0" bIns="0" rtlCol="0">
            <a:spAutoFit/>
          </a:bodyPr>
          <a:lstStyle/>
          <a:p>
            <a:pPr marL="12700">
              <a:lnSpc>
                <a:spcPct val="100000"/>
              </a:lnSpc>
              <a:spcBef>
                <a:spcPts val="95"/>
              </a:spcBef>
            </a:pPr>
            <a:r>
              <a:rPr sz="2200" dirty="0">
                <a:solidFill>
                  <a:srgbClr val="C00000"/>
                </a:solidFill>
                <a:latin typeface="+mn-lt"/>
                <a:cs typeface="Arial MT"/>
              </a:rPr>
              <a:t>Lockerware</a:t>
            </a:r>
            <a:endParaRPr sz="2200" dirty="0">
              <a:latin typeface="+mn-lt"/>
              <a:cs typeface="Arial MT"/>
            </a:endParaRPr>
          </a:p>
          <a:p>
            <a:pPr marL="48895">
              <a:lnSpc>
                <a:spcPct val="100000"/>
              </a:lnSpc>
            </a:pPr>
            <a:r>
              <a:rPr sz="2200" dirty="0">
                <a:latin typeface="+mn-lt"/>
                <a:cs typeface="Arial MT"/>
              </a:rPr>
              <a:t>Locks the entire system, preventing any use until a ransom is</a:t>
            </a:r>
            <a:r>
              <a:rPr lang="en-CA" sz="2200" dirty="0">
                <a:latin typeface="+mn-lt"/>
                <a:cs typeface="Arial MT"/>
              </a:rPr>
              <a:t> </a:t>
            </a:r>
            <a:r>
              <a:rPr sz="2200" dirty="0">
                <a:latin typeface="+mn-lt"/>
                <a:cs typeface="Arial MT"/>
              </a:rPr>
              <a:t>paid (e.g., Reveton).</a:t>
            </a:r>
          </a:p>
          <a:p>
            <a:pPr marL="12700">
              <a:lnSpc>
                <a:spcPct val="100000"/>
              </a:lnSpc>
            </a:pPr>
            <a:r>
              <a:rPr sz="2200" dirty="0">
                <a:solidFill>
                  <a:srgbClr val="C00000"/>
                </a:solidFill>
                <a:latin typeface="+mn-lt"/>
                <a:cs typeface="Arial MT"/>
              </a:rPr>
              <a:t>Ransomware</a:t>
            </a:r>
            <a:endParaRPr sz="2200" dirty="0">
              <a:latin typeface="+mn-lt"/>
              <a:cs typeface="Arial MT"/>
            </a:endParaRPr>
          </a:p>
          <a:p>
            <a:pPr marL="186690" marR="244475" indent="-137795">
              <a:lnSpc>
                <a:spcPct val="100000"/>
              </a:lnSpc>
            </a:pPr>
            <a:r>
              <a:rPr sz="2200" dirty="0">
                <a:solidFill>
                  <a:srgbClr val="1CACE3"/>
                </a:solidFill>
                <a:latin typeface="+mn-lt"/>
                <a:cs typeface="Microsoft Sans Serif"/>
              </a:rPr>
              <a:t> </a:t>
            </a:r>
            <a:r>
              <a:rPr sz="2200" dirty="0">
                <a:latin typeface="+mn-lt"/>
                <a:cs typeface="Arial MT"/>
              </a:rPr>
              <a:t>Encrypts files and demands payment for decryption (e.g., WannaCry, CryptoLocker).</a:t>
            </a:r>
          </a:p>
        </p:txBody>
      </p:sp>
      <p:pic>
        <p:nvPicPr>
          <p:cNvPr id="5" name="object 5"/>
          <p:cNvPicPr/>
          <p:nvPr/>
        </p:nvPicPr>
        <p:blipFill>
          <a:blip r:embed="rId2" cstate="print"/>
          <a:stretch>
            <a:fillRect/>
          </a:stretch>
        </p:blipFill>
        <p:spPr>
          <a:xfrm>
            <a:off x="8317992" y="312420"/>
            <a:ext cx="3564636" cy="2005583"/>
          </a:xfrm>
          <a:prstGeom prst="rect">
            <a:avLst/>
          </a:prstGeom>
        </p:spPr>
      </p:pic>
      <p:sp>
        <p:nvSpPr>
          <p:cNvPr id="6" name="object 6"/>
          <p:cNvSpPr txBox="1"/>
          <p:nvPr/>
        </p:nvSpPr>
        <p:spPr>
          <a:xfrm>
            <a:off x="8779256" y="2427859"/>
            <a:ext cx="2474595" cy="2898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mn-lt"/>
                <a:cs typeface="Arial MT"/>
              </a:rPr>
              <a:t>This Photo</a:t>
            </a:r>
            <a:r>
              <a:rPr sz="900" dirty="0">
                <a:solidFill>
                  <a:srgbClr val="6B9F24"/>
                </a:solidFill>
                <a:latin typeface="+mn-lt"/>
                <a:cs typeface="Arial MT"/>
              </a:rPr>
              <a:t> </a:t>
            </a:r>
            <a:r>
              <a:rPr sz="900" dirty="0">
                <a:latin typeface="+mn-lt"/>
                <a:cs typeface="Arial MT"/>
              </a:rPr>
              <a:t>by Motormille2 is licensed under </a:t>
            </a:r>
            <a:r>
              <a:rPr sz="900" u="sng" dirty="0">
                <a:solidFill>
                  <a:srgbClr val="6B9F24"/>
                </a:solidFill>
                <a:uFill>
                  <a:solidFill>
                    <a:srgbClr val="6B9F24"/>
                  </a:solidFill>
                </a:uFill>
                <a:latin typeface="+mn-lt"/>
                <a:cs typeface="Arial MT"/>
                <a:hlinkClick r:id="rId3"/>
              </a:rPr>
              <a:t>CC BY-SA</a:t>
            </a:r>
            <a:endParaRPr sz="900">
              <a:latin typeface="+mn-lt"/>
              <a:cs typeface="Arial MT"/>
            </a:endParaRPr>
          </a:p>
        </p:txBody>
      </p:sp>
      <p:pic>
        <p:nvPicPr>
          <p:cNvPr id="7" name="object 7"/>
          <p:cNvPicPr/>
          <p:nvPr/>
        </p:nvPicPr>
        <p:blipFill>
          <a:blip r:embed="rId4" cstate="print"/>
          <a:stretch>
            <a:fillRect/>
          </a:stretch>
        </p:blipFill>
        <p:spPr>
          <a:xfrm>
            <a:off x="8235695" y="3214116"/>
            <a:ext cx="3646932" cy="2752344"/>
          </a:xfrm>
          <a:prstGeom prst="rect">
            <a:avLst/>
          </a:prstGeom>
        </p:spPr>
      </p:pic>
      <p:sp>
        <p:nvSpPr>
          <p:cNvPr id="8" name="object 8"/>
          <p:cNvSpPr txBox="1"/>
          <p:nvPr/>
        </p:nvSpPr>
        <p:spPr>
          <a:xfrm>
            <a:off x="8674100" y="6029655"/>
            <a:ext cx="2661920" cy="2898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mn-lt"/>
                <a:cs typeface="Arial MT"/>
                <a:hlinkClick r:id="rId5"/>
              </a:rPr>
              <a:t>This Photo</a:t>
            </a:r>
            <a:r>
              <a:rPr sz="900" dirty="0">
                <a:solidFill>
                  <a:srgbClr val="6B9F24"/>
                </a:solidFill>
                <a:latin typeface="+mn-lt"/>
                <a:cs typeface="Arial MT"/>
              </a:rPr>
              <a:t> </a:t>
            </a:r>
            <a:r>
              <a:rPr sz="900" dirty="0">
                <a:latin typeface="+mn-lt"/>
                <a:cs typeface="Arial MT"/>
              </a:rPr>
              <a:t>by Unknown Author is licensed under </a:t>
            </a:r>
            <a:r>
              <a:rPr sz="900" u="sng" dirty="0">
                <a:solidFill>
                  <a:srgbClr val="6B9F24"/>
                </a:solidFill>
                <a:uFill>
                  <a:solidFill>
                    <a:srgbClr val="6B9F24"/>
                  </a:solidFill>
                </a:uFill>
                <a:latin typeface="+mn-lt"/>
                <a:cs typeface="Arial MT"/>
                <a:hlinkClick r:id="rId3"/>
              </a:rPr>
              <a:t>CC BY-SA</a:t>
            </a:r>
            <a:endParaRPr sz="900">
              <a:latin typeface="+mn-lt"/>
              <a:cs typeface="Arial MT"/>
            </a:endParaRPr>
          </a:p>
        </p:txBody>
      </p:sp>
      <p:sp>
        <p:nvSpPr>
          <p:cNvPr id="10" name="object 10"/>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latin typeface="+mn-lt"/>
              </a:rPr>
              <a:t>ALI HASSAN</a:t>
            </a:r>
          </a:p>
        </p:txBody>
      </p:sp>
      <p:sp>
        <p:nvSpPr>
          <p:cNvPr id="11" name="object 11"/>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latin typeface="+mn-lt"/>
              </a:rPr>
              <a:t>7</a:t>
            </a:fld>
            <a:endParaRPr dirty="0">
              <a:latin typeface="+mn-lt"/>
            </a:endParaRPr>
          </a:p>
        </p:txBody>
      </p:sp>
      <p:sp>
        <p:nvSpPr>
          <p:cNvPr id="9" name="object 9"/>
          <p:cNvSpPr txBox="1"/>
          <p:nvPr/>
        </p:nvSpPr>
        <p:spPr>
          <a:xfrm>
            <a:off x="1112519" y="5736335"/>
            <a:ext cx="4523740" cy="398186"/>
          </a:xfrm>
          <a:prstGeom prst="rect">
            <a:avLst/>
          </a:prstGeom>
          <a:solidFill>
            <a:srgbClr val="F1F1F1"/>
          </a:solidFill>
        </p:spPr>
        <p:txBody>
          <a:bodyPr vert="horz" wrap="square" lIns="0" tIns="28575" rIns="0" bIns="0" rtlCol="0">
            <a:spAutoFit/>
          </a:bodyPr>
          <a:lstStyle/>
          <a:p>
            <a:pPr marL="219710">
              <a:lnSpc>
                <a:spcPct val="100000"/>
              </a:lnSpc>
              <a:spcBef>
                <a:spcPts val="225"/>
              </a:spcBef>
            </a:pPr>
            <a:r>
              <a:rPr sz="2400" b="1" dirty="0">
                <a:latin typeface="+mn-lt"/>
                <a:cs typeface="Arial"/>
              </a:rPr>
              <a:t>Suggest Mitigation Strategies</a:t>
            </a:r>
            <a:endParaRPr sz="2400" dirty="0">
              <a:latin typeface="+mn-lt"/>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41597"/>
            <a:ext cx="6745428" cy="1860125"/>
          </a:xfrm>
          <a:prstGeom prst="rect">
            <a:avLst/>
          </a:prstGeom>
        </p:spPr>
        <p:txBody>
          <a:bodyPr vert="horz" wrap="square" lIns="0" tIns="318135" rIns="0" bIns="0" rtlCol="0">
            <a:spAutoFit/>
          </a:bodyPr>
          <a:lstStyle/>
          <a:p>
            <a:pPr marL="12700">
              <a:lnSpc>
                <a:spcPct val="100000"/>
              </a:lnSpc>
              <a:spcBef>
                <a:spcPts val="105"/>
              </a:spcBef>
            </a:pPr>
            <a:r>
              <a:rPr dirty="0">
                <a:latin typeface="+mj-lt"/>
              </a:rPr>
              <a:t>MALWARE CATEGORY - LAUNCH</a:t>
            </a:r>
          </a:p>
        </p:txBody>
      </p:sp>
      <p:sp>
        <p:nvSpPr>
          <p:cNvPr id="3" name="object 3"/>
          <p:cNvSpPr txBox="1"/>
          <p:nvPr/>
        </p:nvSpPr>
        <p:spPr>
          <a:xfrm>
            <a:off x="943762" y="2101722"/>
            <a:ext cx="6335395" cy="1122680"/>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mj-lt"/>
                <a:cs typeface="Arial MT"/>
              </a:rPr>
              <a:t>Another category of malwares infects a computer to </a:t>
            </a:r>
            <a:r>
              <a:rPr sz="2400" dirty="0">
                <a:solidFill>
                  <a:srgbClr val="C00000"/>
                </a:solidFill>
                <a:latin typeface="+mj-lt"/>
                <a:cs typeface="Arial MT"/>
              </a:rPr>
              <a:t>launch </a:t>
            </a:r>
            <a:r>
              <a:rPr sz="2400" dirty="0">
                <a:latin typeface="+mj-lt"/>
                <a:cs typeface="Arial MT"/>
              </a:rPr>
              <a:t>attacks on other devices. This type</a:t>
            </a:r>
            <a:r>
              <a:rPr lang="en-CA" sz="2400" dirty="0">
                <a:latin typeface="+mj-lt"/>
                <a:cs typeface="Arial MT"/>
              </a:rPr>
              <a:t> </a:t>
            </a:r>
            <a:r>
              <a:rPr sz="2400" dirty="0">
                <a:latin typeface="+mj-lt"/>
                <a:cs typeface="Arial MT"/>
              </a:rPr>
              <a:t>includes </a:t>
            </a:r>
            <a:r>
              <a:rPr sz="2400" dirty="0">
                <a:solidFill>
                  <a:srgbClr val="0000FF"/>
                </a:solidFill>
                <a:latin typeface="+mj-lt"/>
                <a:cs typeface="Arial MT"/>
              </a:rPr>
              <a:t>viruses</a:t>
            </a:r>
            <a:r>
              <a:rPr sz="2400" dirty="0">
                <a:latin typeface="+mj-lt"/>
                <a:cs typeface="Arial MT"/>
              </a:rPr>
              <a:t>, </a:t>
            </a:r>
            <a:r>
              <a:rPr sz="2400" dirty="0">
                <a:solidFill>
                  <a:srgbClr val="0000FF"/>
                </a:solidFill>
                <a:latin typeface="+mj-lt"/>
                <a:cs typeface="Arial MT"/>
              </a:rPr>
              <a:t>worms </a:t>
            </a:r>
            <a:r>
              <a:rPr sz="2400" dirty="0">
                <a:latin typeface="+mj-lt"/>
                <a:cs typeface="Arial MT"/>
              </a:rPr>
              <a:t>and </a:t>
            </a:r>
            <a:r>
              <a:rPr sz="2400" dirty="0">
                <a:solidFill>
                  <a:srgbClr val="0000FF"/>
                </a:solidFill>
                <a:latin typeface="+mj-lt"/>
                <a:cs typeface="Arial MT"/>
              </a:rPr>
              <a:t>bots</a:t>
            </a:r>
            <a:r>
              <a:rPr sz="2400" dirty="0">
                <a:latin typeface="+mj-lt"/>
                <a:cs typeface="Arial MT"/>
              </a:rPr>
              <a:t>.</a:t>
            </a:r>
          </a:p>
        </p:txBody>
      </p:sp>
      <p:sp>
        <p:nvSpPr>
          <p:cNvPr id="4" name="object 4"/>
          <p:cNvSpPr txBox="1"/>
          <p:nvPr/>
        </p:nvSpPr>
        <p:spPr>
          <a:xfrm>
            <a:off x="943762" y="3565017"/>
            <a:ext cx="5959475" cy="2241639"/>
          </a:xfrm>
          <a:prstGeom prst="rect">
            <a:avLst/>
          </a:prstGeom>
        </p:spPr>
        <p:txBody>
          <a:bodyPr vert="horz" wrap="square" lIns="0" tIns="12700" rIns="0" bIns="0" rtlCol="0">
            <a:spAutoFit/>
          </a:bodyPr>
          <a:lstStyle/>
          <a:p>
            <a:pPr marL="12700" marR="62230" algn="just">
              <a:lnSpc>
                <a:spcPct val="100000"/>
              </a:lnSpc>
              <a:spcBef>
                <a:spcPts val="100"/>
              </a:spcBef>
            </a:pPr>
            <a:r>
              <a:rPr sz="2400" dirty="0">
                <a:latin typeface="+mj-lt"/>
                <a:cs typeface="Arial MT"/>
              </a:rPr>
              <a:t>A </a:t>
            </a:r>
            <a:r>
              <a:rPr sz="2400" dirty="0">
                <a:solidFill>
                  <a:srgbClr val="C00000"/>
                </a:solidFill>
                <a:latin typeface="+mj-lt"/>
                <a:cs typeface="Arial MT"/>
              </a:rPr>
              <a:t>file-based virus </a:t>
            </a:r>
            <a:r>
              <a:rPr sz="2400" dirty="0">
                <a:latin typeface="+mj-lt"/>
                <a:cs typeface="Arial MT"/>
              </a:rPr>
              <a:t>is malicious source code that is attached to a </a:t>
            </a:r>
            <a:r>
              <a:rPr sz="2400" dirty="0">
                <a:solidFill>
                  <a:srgbClr val="0000FF"/>
                </a:solidFill>
                <a:latin typeface="+mj-lt"/>
                <a:cs typeface="Arial MT"/>
              </a:rPr>
              <a:t>host </a:t>
            </a:r>
            <a:r>
              <a:rPr sz="2400" dirty="0">
                <a:latin typeface="+mj-lt"/>
                <a:cs typeface="Arial MT"/>
              </a:rPr>
              <a:t>program – When executed, it </a:t>
            </a:r>
            <a:r>
              <a:rPr sz="2400" dirty="0">
                <a:solidFill>
                  <a:srgbClr val="0000FF"/>
                </a:solidFill>
                <a:latin typeface="+mj-lt"/>
                <a:cs typeface="Arial MT"/>
              </a:rPr>
              <a:t>replicates</a:t>
            </a:r>
            <a:endParaRPr sz="2400" dirty="0">
              <a:latin typeface="+mj-lt"/>
              <a:cs typeface="Arial MT"/>
            </a:endParaRPr>
          </a:p>
          <a:p>
            <a:pPr>
              <a:lnSpc>
                <a:spcPct val="100000"/>
              </a:lnSpc>
              <a:spcBef>
                <a:spcPts val="120"/>
              </a:spcBef>
            </a:pPr>
            <a:endParaRPr sz="2400" dirty="0">
              <a:latin typeface="+mj-lt"/>
              <a:cs typeface="Arial MT"/>
            </a:endParaRPr>
          </a:p>
          <a:p>
            <a:pPr marL="12700">
              <a:lnSpc>
                <a:spcPct val="100000"/>
              </a:lnSpc>
            </a:pPr>
            <a:r>
              <a:rPr sz="2400" dirty="0">
                <a:latin typeface="+mj-lt"/>
                <a:cs typeface="Arial MT"/>
              </a:rPr>
              <a:t>Anti-virus detection is possible due to known virus</a:t>
            </a:r>
            <a:r>
              <a:rPr lang="en-CA" sz="2400" dirty="0">
                <a:latin typeface="+mj-lt"/>
                <a:cs typeface="Arial MT"/>
              </a:rPr>
              <a:t> </a:t>
            </a:r>
            <a:r>
              <a:rPr sz="2400" dirty="0">
                <a:solidFill>
                  <a:srgbClr val="0000FF"/>
                </a:solidFill>
                <a:latin typeface="+mj-lt"/>
                <a:cs typeface="Arial MT"/>
              </a:rPr>
              <a:t>signature</a:t>
            </a:r>
            <a:endParaRPr sz="2400" dirty="0">
              <a:latin typeface="+mj-lt"/>
              <a:cs typeface="Arial MT"/>
            </a:endParaRPr>
          </a:p>
        </p:txBody>
      </p:sp>
      <p:grpSp>
        <p:nvGrpSpPr>
          <p:cNvPr id="5" name="object 5"/>
          <p:cNvGrpSpPr/>
          <p:nvPr/>
        </p:nvGrpSpPr>
        <p:grpSpPr>
          <a:xfrm>
            <a:off x="7977695" y="3780663"/>
            <a:ext cx="3882390" cy="2383155"/>
            <a:chOff x="7977695" y="3780663"/>
            <a:chExt cx="3882390" cy="2383155"/>
          </a:xfrm>
        </p:grpSpPr>
        <p:pic>
          <p:nvPicPr>
            <p:cNvPr id="6" name="object 6"/>
            <p:cNvPicPr/>
            <p:nvPr/>
          </p:nvPicPr>
          <p:blipFill>
            <a:blip r:embed="rId2" cstate="print"/>
            <a:stretch>
              <a:fillRect/>
            </a:stretch>
          </p:blipFill>
          <p:spPr>
            <a:xfrm>
              <a:off x="7987283" y="3790188"/>
              <a:ext cx="3863339" cy="2363724"/>
            </a:xfrm>
            <a:prstGeom prst="rect">
              <a:avLst/>
            </a:prstGeom>
          </p:spPr>
        </p:pic>
        <p:sp>
          <p:nvSpPr>
            <p:cNvPr id="7" name="object 7"/>
            <p:cNvSpPr/>
            <p:nvPr/>
          </p:nvSpPr>
          <p:spPr>
            <a:xfrm>
              <a:off x="7982457" y="3785425"/>
              <a:ext cx="3872865" cy="2373630"/>
            </a:xfrm>
            <a:custGeom>
              <a:avLst/>
              <a:gdLst/>
              <a:ahLst/>
              <a:cxnLst/>
              <a:rect l="l" t="t" r="r" b="b"/>
              <a:pathLst>
                <a:path w="3872865" h="2373629">
                  <a:moveTo>
                    <a:pt x="0" y="2373249"/>
                  </a:moveTo>
                  <a:lnTo>
                    <a:pt x="3872865" y="2373249"/>
                  </a:lnTo>
                  <a:lnTo>
                    <a:pt x="3872865" y="0"/>
                  </a:lnTo>
                  <a:lnTo>
                    <a:pt x="0" y="0"/>
                  </a:lnTo>
                  <a:lnTo>
                    <a:pt x="0" y="2373249"/>
                  </a:lnTo>
                  <a:close/>
                </a:path>
              </a:pathLst>
            </a:custGeom>
            <a:ln w="9525">
              <a:solidFill>
                <a:srgbClr val="000000"/>
              </a:solidFill>
            </a:ln>
          </p:spPr>
          <p:txBody>
            <a:bodyPr wrap="square" lIns="0" tIns="0" rIns="0" bIns="0" rtlCol="0"/>
            <a:lstStyle/>
            <a:p>
              <a:endParaRPr>
                <a:latin typeface="+mj-lt"/>
              </a:endParaRPr>
            </a:p>
          </p:txBody>
        </p:sp>
      </p:grpSp>
      <p:sp>
        <p:nvSpPr>
          <p:cNvPr id="8" name="object 8"/>
          <p:cNvSpPr txBox="1"/>
          <p:nvPr/>
        </p:nvSpPr>
        <p:spPr>
          <a:xfrm>
            <a:off x="8740902" y="6236309"/>
            <a:ext cx="2496820" cy="2898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mj-lt"/>
                <a:cs typeface="Arial MT"/>
                <a:hlinkClick r:id="rId3"/>
              </a:rPr>
              <a:t>This Photo</a:t>
            </a:r>
            <a:r>
              <a:rPr sz="900" dirty="0">
                <a:solidFill>
                  <a:srgbClr val="6B9F24"/>
                </a:solidFill>
                <a:latin typeface="+mj-lt"/>
                <a:cs typeface="Arial MT"/>
              </a:rPr>
              <a:t> </a:t>
            </a:r>
            <a:r>
              <a:rPr sz="900" dirty="0">
                <a:latin typeface="+mj-lt"/>
                <a:cs typeface="Arial MT"/>
              </a:rPr>
              <a:t>by Unknown Author is licensed under </a:t>
            </a:r>
            <a:r>
              <a:rPr sz="900" u="sng" dirty="0">
                <a:solidFill>
                  <a:srgbClr val="6B9F24"/>
                </a:solidFill>
                <a:uFill>
                  <a:solidFill>
                    <a:srgbClr val="6B9F24"/>
                  </a:solidFill>
                </a:uFill>
                <a:latin typeface="+mj-lt"/>
                <a:cs typeface="Arial MT"/>
                <a:hlinkClick r:id="rId4"/>
              </a:rPr>
              <a:t>CC BY</a:t>
            </a:r>
            <a:endParaRPr sz="900">
              <a:latin typeface="+mj-lt"/>
              <a:cs typeface="Arial MT"/>
            </a:endParaRPr>
          </a:p>
        </p:txBody>
      </p:sp>
      <p:pic>
        <p:nvPicPr>
          <p:cNvPr id="9" name="object 9"/>
          <p:cNvPicPr/>
          <p:nvPr/>
        </p:nvPicPr>
        <p:blipFill>
          <a:blip r:embed="rId5" cstate="print"/>
          <a:stretch>
            <a:fillRect/>
          </a:stretch>
        </p:blipFill>
        <p:spPr>
          <a:xfrm>
            <a:off x="8660892" y="365759"/>
            <a:ext cx="2253996" cy="2994660"/>
          </a:xfrm>
          <a:prstGeom prst="rect">
            <a:avLst/>
          </a:prstGeom>
        </p:spPr>
      </p:pic>
      <p:sp>
        <p:nvSpPr>
          <p:cNvPr id="10" name="object 10"/>
          <p:cNvSpPr txBox="1"/>
          <p:nvPr/>
        </p:nvSpPr>
        <p:spPr>
          <a:xfrm>
            <a:off x="8854567" y="3401059"/>
            <a:ext cx="2221865" cy="258404"/>
          </a:xfrm>
          <a:prstGeom prst="rect">
            <a:avLst/>
          </a:prstGeom>
        </p:spPr>
        <p:txBody>
          <a:bodyPr vert="horz" wrap="square" lIns="0" tIns="12065" rIns="0" bIns="0" rtlCol="0">
            <a:spAutoFit/>
          </a:bodyPr>
          <a:lstStyle/>
          <a:p>
            <a:pPr marL="12700">
              <a:lnSpc>
                <a:spcPct val="100000"/>
              </a:lnSpc>
              <a:spcBef>
                <a:spcPts val="95"/>
              </a:spcBef>
            </a:pPr>
            <a:r>
              <a:rPr sz="1600" b="1" dirty="0">
                <a:latin typeface="+mj-lt"/>
                <a:cs typeface="Courier New"/>
              </a:rPr>
              <a:t>Appender infection</a:t>
            </a:r>
            <a:endParaRPr sz="1600">
              <a:latin typeface="+mj-lt"/>
              <a:cs typeface="Courier New"/>
            </a:endParaRPr>
          </a:p>
        </p:txBody>
      </p:sp>
      <p:sp>
        <p:nvSpPr>
          <p:cNvPr id="11" name="object 11"/>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latin typeface="+mj-lt"/>
              </a:rPr>
              <a:t>ALI HASSAN</a:t>
            </a:r>
          </a:p>
        </p:txBody>
      </p:sp>
      <p:sp>
        <p:nvSpPr>
          <p:cNvPr id="12" name="object 12"/>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latin typeface="+mj-lt"/>
              </a:rPr>
              <a:t>8</a:t>
            </a:fld>
            <a:endParaRPr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8498028" cy="1090683"/>
          </a:xfrm>
          <a:prstGeom prst="rect">
            <a:avLst/>
          </a:prstGeom>
        </p:spPr>
        <p:txBody>
          <a:bodyPr vert="horz" wrap="square" lIns="0" tIns="318135" rIns="0" bIns="0" rtlCol="0">
            <a:spAutoFit/>
          </a:bodyPr>
          <a:lstStyle/>
          <a:p>
            <a:pPr marL="12700">
              <a:lnSpc>
                <a:spcPct val="100000"/>
              </a:lnSpc>
              <a:spcBef>
                <a:spcPts val="105"/>
              </a:spcBef>
            </a:pPr>
            <a:r>
              <a:rPr dirty="0">
                <a:latin typeface="+mj-lt"/>
              </a:rPr>
              <a:t>MALWARE CATEGORY - LAUNCH</a:t>
            </a:r>
          </a:p>
        </p:txBody>
      </p:sp>
      <p:sp>
        <p:nvSpPr>
          <p:cNvPr id="3" name="object 3"/>
          <p:cNvSpPr txBox="1"/>
          <p:nvPr/>
        </p:nvSpPr>
        <p:spPr>
          <a:xfrm>
            <a:off x="1002842" y="2713607"/>
            <a:ext cx="9448800" cy="2600712"/>
          </a:xfrm>
          <a:prstGeom prst="rect">
            <a:avLst/>
          </a:prstGeom>
        </p:spPr>
        <p:txBody>
          <a:bodyPr vert="horz" wrap="square" lIns="0" tIns="12700" rIns="0" bIns="0" rtlCol="0">
            <a:spAutoFit/>
          </a:bodyPr>
          <a:lstStyle/>
          <a:p>
            <a:pPr marL="149860" marR="415290" indent="-137160">
              <a:lnSpc>
                <a:spcPct val="100000"/>
              </a:lnSpc>
              <a:spcBef>
                <a:spcPts val="100"/>
              </a:spcBef>
            </a:pPr>
            <a:r>
              <a:rPr sz="2400" dirty="0">
                <a:solidFill>
                  <a:srgbClr val="C00000"/>
                </a:solidFill>
                <a:latin typeface="+mj-lt"/>
                <a:cs typeface="Arial MT"/>
              </a:rPr>
              <a:t>Armored </a:t>
            </a:r>
            <a:r>
              <a:rPr sz="2400" dirty="0">
                <a:latin typeface="+mj-lt"/>
                <a:cs typeface="Arial MT"/>
              </a:rPr>
              <a:t>file-based viruses use different mechanisms to</a:t>
            </a:r>
            <a:r>
              <a:rPr lang="en-CA" sz="2400" dirty="0">
                <a:latin typeface="+mj-lt"/>
                <a:cs typeface="Arial MT"/>
              </a:rPr>
              <a:t> </a:t>
            </a:r>
            <a:r>
              <a:rPr sz="2400" dirty="0">
                <a:latin typeface="+mj-lt"/>
                <a:cs typeface="Arial MT"/>
              </a:rPr>
              <a:t>avoid</a:t>
            </a:r>
            <a:r>
              <a:rPr lang="en-CA" sz="2400" dirty="0">
                <a:latin typeface="+mj-lt"/>
                <a:cs typeface="Arial MT"/>
              </a:rPr>
              <a:t> </a:t>
            </a:r>
            <a:r>
              <a:rPr sz="2400" dirty="0">
                <a:latin typeface="+mj-lt"/>
                <a:cs typeface="Arial MT"/>
              </a:rPr>
              <a:t>detection.</a:t>
            </a:r>
            <a:endParaRPr lang="en-CA" sz="2400" dirty="0">
              <a:latin typeface="+mj-lt"/>
              <a:cs typeface="Arial MT"/>
            </a:endParaRPr>
          </a:p>
          <a:p>
            <a:pPr marL="149860" marR="415290" lvl="6" indent="-137160" algn="l">
              <a:spcBef>
                <a:spcPts val="100"/>
              </a:spcBef>
            </a:pPr>
            <a:r>
              <a:rPr lang="en-CA" sz="2000" dirty="0">
                <a:solidFill>
                  <a:srgbClr val="0000FF"/>
                </a:solidFill>
                <a:latin typeface="+mj-lt"/>
                <a:cs typeface="Arial MT"/>
              </a:rPr>
              <a:t>  </a:t>
            </a:r>
          </a:p>
          <a:p>
            <a:pPr marL="355600" marR="415290" lvl="6" indent="-342900" algn="l">
              <a:spcBef>
                <a:spcPts val="100"/>
              </a:spcBef>
              <a:buFont typeface="Arial" panose="020B0604020202020204" pitchFamily="34" charset="0"/>
              <a:buChar char="•"/>
            </a:pPr>
            <a:r>
              <a:rPr sz="2000" dirty="0">
                <a:solidFill>
                  <a:srgbClr val="0000FF"/>
                </a:solidFill>
                <a:latin typeface="+mj-lt"/>
                <a:cs typeface="Arial MT"/>
              </a:rPr>
              <a:t>Obfuscation </a:t>
            </a:r>
            <a:r>
              <a:rPr sz="2000" dirty="0">
                <a:latin typeface="+mj-lt"/>
                <a:cs typeface="Arial MT"/>
              </a:rPr>
              <a:t>– Uses complex and confusing code structures to hide its</a:t>
            </a:r>
            <a:r>
              <a:rPr lang="en-CA" sz="2000" dirty="0">
                <a:latin typeface="+mj-lt"/>
                <a:cs typeface="Arial MT"/>
              </a:rPr>
              <a:t> </a:t>
            </a:r>
            <a:r>
              <a:rPr sz="2000" dirty="0">
                <a:latin typeface="+mj-lt"/>
                <a:cs typeface="Arial MT"/>
              </a:rPr>
              <a:t>true purpose.</a:t>
            </a:r>
            <a:endParaRPr lang="en-CA" sz="2000" dirty="0">
              <a:latin typeface="+mj-lt"/>
              <a:cs typeface="Arial MT"/>
            </a:endParaRPr>
          </a:p>
          <a:p>
            <a:pPr marL="355600" marR="415290" lvl="6" indent="-342900" algn="l">
              <a:spcBef>
                <a:spcPts val="100"/>
              </a:spcBef>
              <a:buFont typeface="Arial" panose="020B0604020202020204" pitchFamily="34" charset="0"/>
              <a:buChar char="•"/>
            </a:pPr>
            <a:r>
              <a:rPr sz="2000" dirty="0">
                <a:solidFill>
                  <a:srgbClr val="0000FF"/>
                </a:solidFill>
                <a:latin typeface="+mj-lt"/>
                <a:cs typeface="Arial MT"/>
              </a:rPr>
              <a:t>Split infection </a:t>
            </a:r>
            <a:r>
              <a:rPr sz="2000" dirty="0">
                <a:latin typeface="+mj-lt"/>
                <a:cs typeface="Arial MT"/>
              </a:rPr>
              <a:t>– split malicious code into multiple parts and then place them</a:t>
            </a:r>
            <a:r>
              <a:rPr lang="en-CA" sz="2000" dirty="0">
                <a:latin typeface="+mj-lt"/>
                <a:cs typeface="Arial MT"/>
              </a:rPr>
              <a:t> </a:t>
            </a:r>
            <a:r>
              <a:rPr sz="2000" dirty="0">
                <a:latin typeface="+mj-lt"/>
                <a:cs typeface="Arial MT"/>
              </a:rPr>
              <a:t>at random</a:t>
            </a:r>
            <a:r>
              <a:rPr lang="en-CA" sz="2000" dirty="0">
                <a:latin typeface="+mj-lt"/>
                <a:cs typeface="Arial MT"/>
              </a:rPr>
              <a:t> </a:t>
            </a:r>
            <a:r>
              <a:rPr sz="2000" dirty="0">
                <a:latin typeface="+mj-lt"/>
                <a:cs typeface="Arial MT"/>
              </a:rPr>
              <a:t>positions through-out the program code</a:t>
            </a:r>
            <a:endParaRPr lang="en-CA" sz="2000" dirty="0">
              <a:latin typeface="+mj-lt"/>
              <a:cs typeface="Arial MT"/>
            </a:endParaRPr>
          </a:p>
          <a:p>
            <a:pPr marL="355600" marR="415290" lvl="6" indent="-342900" algn="l">
              <a:spcBef>
                <a:spcPts val="100"/>
              </a:spcBef>
              <a:buFont typeface="Arial" panose="020B0604020202020204" pitchFamily="34" charset="0"/>
              <a:buChar char="•"/>
            </a:pPr>
            <a:r>
              <a:rPr sz="2000" dirty="0">
                <a:solidFill>
                  <a:srgbClr val="0000FF"/>
                </a:solidFill>
                <a:latin typeface="+mj-lt"/>
                <a:cs typeface="Arial MT"/>
              </a:rPr>
              <a:t>Polymorphism </a:t>
            </a:r>
            <a:r>
              <a:rPr sz="2000" dirty="0">
                <a:latin typeface="+mj-lt"/>
                <a:cs typeface="Arial MT"/>
              </a:rPr>
              <a:t>– Changes its code with each infection, making it difficult</a:t>
            </a:r>
            <a:r>
              <a:rPr lang="en-CA" sz="2000" dirty="0">
                <a:latin typeface="+mj-lt"/>
                <a:cs typeface="Arial MT"/>
              </a:rPr>
              <a:t> </a:t>
            </a:r>
            <a:r>
              <a:rPr sz="2000" dirty="0">
                <a:latin typeface="+mj-lt"/>
                <a:cs typeface="Arial MT"/>
              </a:rPr>
              <a:t>for </a:t>
            </a:r>
            <a:r>
              <a:rPr lang="en-CA" sz="2000" dirty="0">
                <a:latin typeface="+mj-lt"/>
                <a:cs typeface="Arial MT"/>
              </a:rPr>
              <a:t>signature-based</a:t>
            </a:r>
            <a:r>
              <a:rPr sz="2000" dirty="0">
                <a:latin typeface="+mj-lt"/>
                <a:cs typeface="Arial MT"/>
              </a:rPr>
              <a:t> detection.</a:t>
            </a:r>
            <a:r>
              <a:rPr lang="en-CA" sz="2000" dirty="0">
                <a:latin typeface="+mj-lt"/>
                <a:cs typeface="Arial MT"/>
              </a:rPr>
              <a:t> (Encryption -&gt; Decryption Routine -&gt; Garbage Code) </a:t>
            </a:r>
          </a:p>
          <a:p>
            <a:pPr marL="355600" marR="415290" lvl="6" indent="-342900" algn="l">
              <a:spcBef>
                <a:spcPts val="100"/>
              </a:spcBef>
              <a:buFont typeface="Arial" panose="020B0604020202020204" pitchFamily="34" charset="0"/>
              <a:buChar char="•"/>
            </a:pPr>
            <a:r>
              <a:rPr sz="2000" dirty="0">
                <a:solidFill>
                  <a:srgbClr val="0000FF"/>
                </a:solidFill>
                <a:latin typeface="+mj-lt"/>
                <a:cs typeface="Arial MT"/>
              </a:rPr>
              <a:t>Code injection </a:t>
            </a:r>
            <a:r>
              <a:rPr sz="2000" dirty="0">
                <a:latin typeface="+mj-lt"/>
                <a:cs typeface="Arial MT"/>
              </a:rPr>
              <a:t>- Injects its code into legitimate processes to hide its</a:t>
            </a:r>
            <a:r>
              <a:rPr lang="en-CA" sz="2000" dirty="0">
                <a:latin typeface="+mj-lt"/>
                <a:cs typeface="Arial MT"/>
              </a:rPr>
              <a:t> </a:t>
            </a:r>
            <a:r>
              <a:rPr sz="2000" dirty="0">
                <a:latin typeface="+mj-lt"/>
                <a:cs typeface="Arial MT"/>
              </a:rPr>
              <a:t>presence.</a:t>
            </a:r>
          </a:p>
        </p:txBody>
      </p:sp>
      <p:pic>
        <p:nvPicPr>
          <p:cNvPr id="4" name="object 4"/>
          <p:cNvPicPr/>
          <p:nvPr/>
        </p:nvPicPr>
        <p:blipFill>
          <a:blip r:embed="rId2" cstate="print"/>
          <a:stretch>
            <a:fillRect/>
          </a:stretch>
        </p:blipFill>
        <p:spPr>
          <a:xfrm>
            <a:off x="9978327" y="741039"/>
            <a:ext cx="2056635" cy="1972568"/>
          </a:xfrm>
          <a:prstGeom prst="rect">
            <a:avLst/>
          </a:prstGeom>
        </p:spPr>
      </p:pic>
      <p:sp>
        <p:nvSpPr>
          <p:cNvPr id="5" name="object 5"/>
          <p:cNvSpPr txBox="1"/>
          <p:nvPr/>
        </p:nvSpPr>
        <p:spPr>
          <a:xfrm>
            <a:off x="10262741" y="2846277"/>
            <a:ext cx="1487805" cy="428322"/>
          </a:xfrm>
          <a:prstGeom prst="rect">
            <a:avLst/>
          </a:prstGeom>
        </p:spPr>
        <p:txBody>
          <a:bodyPr vert="horz" wrap="square" lIns="0" tIns="12700" rIns="0" bIns="0" rtlCol="0">
            <a:spAutoFit/>
          </a:bodyPr>
          <a:lstStyle/>
          <a:p>
            <a:pPr algn="ctr">
              <a:lnSpc>
                <a:spcPct val="100000"/>
              </a:lnSpc>
              <a:spcBef>
                <a:spcPts val="100"/>
              </a:spcBef>
            </a:pPr>
            <a:r>
              <a:rPr sz="900" u="sng" dirty="0">
                <a:solidFill>
                  <a:srgbClr val="6B9F24"/>
                </a:solidFill>
                <a:uFill>
                  <a:solidFill>
                    <a:srgbClr val="6B9F24"/>
                  </a:solidFill>
                </a:uFill>
                <a:latin typeface="+mj-lt"/>
                <a:cs typeface="Arial MT"/>
                <a:hlinkClick r:id="rId3"/>
              </a:rPr>
              <a:t>This Photo</a:t>
            </a:r>
            <a:r>
              <a:rPr sz="900" dirty="0">
                <a:solidFill>
                  <a:srgbClr val="6B9F24"/>
                </a:solidFill>
                <a:latin typeface="+mj-lt"/>
                <a:cs typeface="Arial MT"/>
              </a:rPr>
              <a:t> </a:t>
            </a:r>
            <a:r>
              <a:rPr sz="900" dirty="0">
                <a:latin typeface="+mj-lt"/>
                <a:cs typeface="Arial MT"/>
              </a:rPr>
              <a:t>by Unknown Author is</a:t>
            </a:r>
          </a:p>
          <a:p>
            <a:pPr algn="ctr">
              <a:lnSpc>
                <a:spcPct val="100000"/>
              </a:lnSpc>
            </a:pPr>
            <a:r>
              <a:rPr sz="900" dirty="0">
                <a:latin typeface="+mj-lt"/>
                <a:cs typeface="Arial MT"/>
              </a:rPr>
              <a:t>licensed under </a:t>
            </a:r>
            <a:r>
              <a:rPr sz="900" u="sng" dirty="0">
                <a:solidFill>
                  <a:srgbClr val="6B9F24"/>
                </a:solidFill>
                <a:uFill>
                  <a:solidFill>
                    <a:srgbClr val="6B9F24"/>
                  </a:solidFill>
                </a:uFill>
                <a:latin typeface="+mj-lt"/>
                <a:cs typeface="Arial MT"/>
                <a:hlinkClick r:id="rId4"/>
              </a:rPr>
              <a:t>CC BY-NC</a:t>
            </a:r>
            <a:endParaRPr sz="900" dirty="0">
              <a:latin typeface="+mj-lt"/>
              <a:cs typeface="Arial MT"/>
            </a:endParaRPr>
          </a:p>
        </p:txBody>
      </p:sp>
      <p:sp>
        <p:nvSpPr>
          <p:cNvPr id="6" name="object 6"/>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latin typeface="+mj-lt"/>
              </a:rPr>
              <a:t>9</a:t>
            </a:fld>
            <a:endParaRPr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latin typeface="+mj-lt"/>
              </a:rPr>
              <a:t>MALWARE CATEGORY - LAUNCH</a:t>
            </a:r>
          </a:p>
        </p:txBody>
      </p:sp>
      <p:sp>
        <p:nvSpPr>
          <p:cNvPr id="3" name="object 3"/>
          <p:cNvSpPr txBox="1"/>
          <p:nvPr/>
        </p:nvSpPr>
        <p:spPr>
          <a:xfrm>
            <a:off x="805992" y="2069718"/>
            <a:ext cx="6055988" cy="3391954"/>
          </a:xfrm>
          <a:prstGeom prst="rect">
            <a:avLst/>
          </a:prstGeom>
        </p:spPr>
        <p:txBody>
          <a:bodyPr vert="horz" wrap="square" lIns="0" tIns="49530" rIns="0" bIns="0" rtlCol="0">
            <a:spAutoFit/>
          </a:bodyPr>
          <a:lstStyle/>
          <a:p>
            <a:pPr marL="12700" marR="221615">
              <a:lnSpc>
                <a:spcPts val="2380"/>
              </a:lnSpc>
              <a:spcBef>
                <a:spcPts val="390"/>
              </a:spcBef>
            </a:pPr>
            <a:r>
              <a:rPr sz="2200" dirty="0">
                <a:latin typeface="+mj-lt"/>
                <a:cs typeface="Arial MT"/>
              </a:rPr>
              <a:t>A </a:t>
            </a:r>
            <a:r>
              <a:rPr sz="2200" dirty="0">
                <a:solidFill>
                  <a:srgbClr val="C00000"/>
                </a:solidFill>
                <a:latin typeface="+mj-lt"/>
                <a:cs typeface="Arial MT"/>
              </a:rPr>
              <a:t>worm </a:t>
            </a:r>
            <a:r>
              <a:rPr sz="2200" dirty="0">
                <a:latin typeface="+mj-lt"/>
                <a:cs typeface="Arial MT"/>
              </a:rPr>
              <a:t>is a malicious program that uses a computer network to </a:t>
            </a:r>
            <a:r>
              <a:rPr sz="2200" dirty="0">
                <a:solidFill>
                  <a:srgbClr val="0000FF"/>
                </a:solidFill>
                <a:latin typeface="+mj-lt"/>
                <a:cs typeface="Arial MT"/>
              </a:rPr>
              <a:t>replicate</a:t>
            </a:r>
            <a:r>
              <a:rPr sz="2200" dirty="0">
                <a:latin typeface="+mj-lt"/>
                <a:cs typeface="Arial MT"/>
              </a:rPr>
              <a:t>.</a:t>
            </a:r>
            <a:endParaRPr lang="en-CA" sz="2200" dirty="0">
              <a:latin typeface="+mj-lt"/>
              <a:cs typeface="Arial MT"/>
            </a:endParaRPr>
          </a:p>
          <a:p>
            <a:pPr marL="298450" marR="221615" indent="-285750">
              <a:lnSpc>
                <a:spcPts val="2380"/>
              </a:lnSpc>
              <a:spcBef>
                <a:spcPts val="390"/>
              </a:spcBef>
              <a:buFont typeface="Arial" panose="020B0604020202020204" pitchFamily="34" charset="0"/>
              <a:buChar char="•"/>
            </a:pPr>
            <a:r>
              <a:rPr sz="1800" dirty="0">
                <a:latin typeface="+mj-lt"/>
                <a:cs typeface="Arial MT"/>
              </a:rPr>
              <a:t>Uses application or OS vulnerability to </a:t>
            </a:r>
            <a:r>
              <a:rPr sz="1800" dirty="0">
                <a:solidFill>
                  <a:srgbClr val="0000FF"/>
                </a:solidFill>
                <a:latin typeface="+mj-lt"/>
                <a:cs typeface="Arial MT"/>
              </a:rPr>
              <a:t>infect the network</a:t>
            </a:r>
            <a:r>
              <a:rPr sz="1800" dirty="0">
                <a:latin typeface="+mj-lt"/>
                <a:cs typeface="Arial MT"/>
              </a:rPr>
              <a:t>.</a:t>
            </a:r>
            <a:endParaRPr lang="en-CA" dirty="0">
              <a:latin typeface="+mj-lt"/>
              <a:cs typeface="Arial MT"/>
            </a:endParaRPr>
          </a:p>
          <a:p>
            <a:pPr marL="298450" marR="221615" indent="-285750">
              <a:lnSpc>
                <a:spcPts val="2380"/>
              </a:lnSpc>
              <a:spcBef>
                <a:spcPts val="390"/>
              </a:spcBef>
              <a:buFont typeface="Arial" panose="020B0604020202020204" pitchFamily="34" charset="0"/>
              <a:buChar char="•"/>
            </a:pPr>
            <a:r>
              <a:rPr sz="1800" dirty="0">
                <a:solidFill>
                  <a:srgbClr val="0000FF"/>
                </a:solidFill>
                <a:latin typeface="+mj-lt"/>
                <a:cs typeface="Arial MT"/>
              </a:rPr>
              <a:t>Searches </a:t>
            </a:r>
            <a:r>
              <a:rPr sz="1800" dirty="0">
                <a:latin typeface="+mj-lt"/>
                <a:cs typeface="Arial MT"/>
              </a:rPr>
              <a:t>other network nodes having the same</a:t>
            </a:r>
            <a:r>
              <a:rPr lang="en-CA" sz="1800" dirty="0">
                <a:latin typeface="+mj-lt"/>
                <a:cs typeface="Arial MT"/>
              </a:rPr>
              <a:t> </a:t>
            </a:r>
            <a:r>
              <a:rPr sz="1800" dirty="0">
                <a:latin typeface="+mj-lt"/>
                <a:cs typeface="Arial MT"/>
              </a:rPr>
              <a:t>vulnerability.</a:t>
            </a:r>
            <a:endParaRPr lang="en-CA" dirty="0">
              <a:latin typeface="+mj-lt"/>
              <a:cs typeface="Arial MT"/>
            </a:endParaRPr>
          </a:p>
          <a:p>
            <a:pPr marL="298450" marR="221615" indent="-285750">
              <a:lnSpc>
                <a:spcPts val="2380"/>
              </a:lnSpc>
              <a:spcBef>
                <a:spcPts val="390"/>
              </a:spcBef>
              <a:buFont typeface="Arial" panose="020B0604020202020204" pitchFamily="34" charset="0"/>
              <a:buChar char="•"/>
            </a:pPr>
            <a:r>
              <a:rPr sz="1800" dirty="0">
                <a:latin typeface="+mj-lt"/>
                <a:cs typeface="Arial MT"/>
              </a:rPr>
              <a:t>Leaves a </a:t>
            </a:r>
            <a:r>
              <a:rPr sz="1800" dirty="0">
                <a:solidFill>
                  <a:srgbClr val="0000FF"/>
                </a:solidFill>
                <a:latin typeface="+mj-lt"/>
                <a:cs typeface="Arial MT"/>
              </a:rPr>
              <a:t>payload </a:t>
            </a:r>
            <a:r>
              <a:rPr sz="1800" dirty="0">
                <a:latin typeface="+mj-lt"/>
                <a:cs typeface="Arial MT"/>
              </a:rPr>
              <a:t>on systems that might delete files, create a bot, encrypt files or exfiltrate data.</a:t>
            </a:r>
          </a:p>
          <a:p>
            <a:pPr>
              <a:lnSpc>
                <a:spcPct val="100000"/>
              </a:lnSpc>
              <a:spcBef>
                <a:spcPts val="919"/>
              </a:spcBef>
            </a:pPr>
            <a:endParaRPr sz="1800" dirty="0">
              <a:latin typeface="+mj-lt"/>
              <a:cs typeface="Arial MT"/>
            </a:endParaRPr>
          </a:p>
          <a:p>
            <a:pPr marL="12700">
              <a:lnSpc>
                <a:spcPts val="2510"/>
              </a:lnSpc>
            </a:pPr>
            <a:r>
              <a:rPr sz="2200" dirty="0">
                <a:latin typeface="+mj-lt"/>
                <a:cs typeface="Arial MT"/>
              </a:rPr>
              <a:t>Both viruses and worms self-replicate, what</a:t>
            </a:r>
          </a:p>
          <a:p>
            <a:pPr marL="12700">
              <a:lnSpc>
                <a:spcPts val="2510"/>
              </a:lnSpc>
            </a:pPr>
            <a:r>
              <a:rPr sz="2200" dirty="0">
                <a:latin typeface="+mj-lt"/>
                <a:cs typeface="Arial MT"/>
              </a:rPr>
              <a:t>the </a:t>
            </a:r>
            <a:r>
              <a:rPr sz="2200" dirty="0">
                <a:solidFill>
                  <a:srgbClr val="C00000"/>
                </a:solidFill>
                <a:latin typeface="+mj-lt"/>
                <a:cs typeface="Arial MT"/>
              </a:rPr>
              <a:t>difference </a:t>
            </a:r>
            <a:r>
              <a:rPr sz="2200" dirty="0">
                <a:latin typeface="+mj-lt"/>
                <a:cs typeface="Arial MT"/>
              </a:rPr>
              <a:t>then?</a:t>
            </a:r>
          </a:p>
        </p:txBody>
      </p:sp>
      <p:grpSp>
        <p:nvGrpSpPr>
          <p:cNvPr id="4" name="object 4"/>
          <p:cNvGrpSpPr/>
          <p:nvPr/>
        </p:nvGrpSpPr>
        <p:grpSpPr>
          <a:xfrm>
            <a:off x="6858000" y="1752600"/>
            <a:ext cx="4865179" cy="3810000"/>
            <a:chOff x="5902134" y="1651635"/>
            <a:chExt cx="5821045" cy="4124960"/>
          </a:xfrm>
        </p:grpSpPr>
        <p:pic>
          <p:nvPicPr>
            <p:cNvPr id="5" name="object 5"/>
            <p:cNvPicPr/>
            <p:nvPr/>
          </p:nvPicPr>
          <p:blipFill>
            <a:blip r:embed="rId2" cstate="print"/>
            <a:stretch>
              <a:fillRect/>
            </a:stretch>
          </p:blipFill>
          <p:spPr>
            <a:xfrm>
              <a:off x="6066312" y="1767549"/>
              <a:ext cx="5458590" cy="3941236"/>
            </a:xfrm>
            <a:prstGeom prst="rect">
              <a:avLst/>
            </a:prstGeom>
          </p:spPr>
        </p:pic>
        <p:sp>
          <p:nvSpPr>
            <p:cNvPr id="6" name="object 6"/>
            <p:cNvSpPr/>
            <p:nvPr/>
          </p:nvSpPr>
          <p:spPr>
            <a:xfrm>
              <a:off x="5906896" y="1656397"/>
              <a:ext cx="5811520" cy="4115435"/>
            </a:xfrm>
            <a:custGeom>
              <a:avLst/>
              <a:gdLst/>
              <a:ahLst/>
              <a:cxnLst/>
              <a:rect l="l" t="t" r="r" b="b"/>
              <a:pathLst>
                <a:path w="5811520" h="4115435">
                  <a:moveTo>
                    <a:pt x="0" y="4115180"/>
                  </a:moveTo>
                  <a:lnTo>
                    <a:pt x="5811393" y="4115180"/>
                  </a:lnTo>
                  <a:lnTo>
                    <a:pt x="5811393" y="0"/>
                  </a:lnTo>
                  <a:lnTo>
                    <a:pt x="0" y="0"/>
                  </a:lnTo>
                  <a:lnTo>
                    <a:pt x="0" y="4115180"/>
                  </a:lnTo>
                  <a:close/>
                </a:path>
              </a:pathLst>
            </a:custGeom>
            <a:ln w="9525">
              <a:solidFill>
                <a:srgbClr val="000000"/>
              </a:solidFill>
            </a:ln>
          </p:spPr>
          <p:txBody>
            <a:bodyPr wrap="square" lIns="0" tIns="0" rIns="0" bIns="0" rtlCol="0"/>
            <a:lstStyle/>
            <a:p>
              <a:endParaRPr>
                <a:latin typeface="+mj-lt"/>
              </a:endParaRPr>
            </a:p>
          </p:txBody>
        </p:sp>
      </p:grpSp>
      <p:sp>
        <p:nvSpPr>
          <p:cNvPr id="7" name="object 7"/>
          <p:cNvSpPr txBox="1"/>
          <p:nvPr/>
        </p:nvSpPr>
        <p:spPr>
          <a:xfrm>
            <a:off x="8087680" y="5697883"/>
            <a:ext cx="2378710" cy="1513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mj-lt"/>
                <a:cs typeface="Arial MT"/>
                <a:hlinkClick r:id="rId3"/>
              </a:rPr>
              <a:t>This Photo</a:t>
            </a:r>
            <a:r>
              <a:rPr sz="900" dirty="0">
                <a:solidFill>
                  <a:srgbClr val="6B9F24"/>
                </a:solidFill>
                <a:latin typeface="+mj-lt"/>
                <a:cs typeface="Arial MT"/>
              </a:rPr>
              <a:t> </a:t>
            </a:r>
            <a:r>
              <a:rPr sz="900" dirty="0">
                <a:latin typeface="+mj-lt"/>
                <a:cs typeface="Arial MT"/>
              </a:rPr>
              <a:t>by Gppande is licensed under </a:t>
            </a:r>
            <a:r>
              <a:rPr sz="900" u="sng" dirty="0">
                <a:solidFill>
                  <a:srgbClr val="6B9F24"/>
                </a:solidFill>
                <a:uFill>
                  <a:solidFill>
                    <a:srgbClr val="6B9F24"/>
                  </a:solidFill>
                </a:uFill>
                <a:latin typeface="+mj-lt"/>
                <a:cs typeface="Arial MT"/>
                <a:hlinkClick r:id="rId4"/>
              </a:rPr>
              <a:t>CC BY-SA</a:t>
            </a:r>
            <a:endParaRPr sz="900" dirty="0">
              <a:latin typeface="+mj-lt"/>
              <a:cs typeface="Arial MT"/>
            </a:endParaRPr>
          </a:p>
        </p:txBody>
      </p:sp>
      <p:sp>
        <p:nvSpPr>
          <p:cNvPr id="8" name="object 8"/>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latin typeface="+mj-lt"/>
              </a:rPr>
              <a:t>ALI HASSAN</a:t>
            </a:r>
          </a:p>
        </p:txBody>
      </p:sp>
      <p:sp>
        <p:nvSpPr>
          <p:cNvPr id="9" name="object 9"/>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latin typeface="+mj-lt"/>
              </a:rPr>
              <a:t>10</a:t>
            </a:fld>
            <a:endParaRPr dirty="0">
              <a:latin typeface="+mj-lt"/>
            </a:endParaRPr>
          </a:p>
        </p:txBody>
      </p:sp>
      <p:sp>
        <p:nvSpPr>
          <p:cNvPr id="11" name="TextBox 10">
            <a:extLst>
              <a:ext uri="{FF2B5EF4-FFF2-40B4-BE49-F238E27FC236}">
                <a16:creationId xmlns:a16="http://schemas.microsoft.com/office/drawing/2014/main" id="{6AD9B795-03AD-33E5-74D7-627501D7F880}"/>
              </a:ext>
            </a:extLst>
          </p:cNvPr>
          <p:cNvSpPr txBox="1"/>
          <p:nvPr/>
        </p:nvSpPr>
        <p:spPr>
          <a:xfrm>
            <a:off x="805992" y="5786350"/>
            <a:ext cx="6229239" cy="646331"/>
          </a:xfrm>
          <a:prstGeom prst="rect">
            <a:avLst/>
          </a:prstGeom>
          <a:noFill/>
        </p:spPr>
        <p:txBody>
          <a:bodyPr wrap="square">
            <a:spAutoFit/>
          </a:bodyPr>
          <a:lstStyle/>
          <a:p>
            <a:r>
              <a:rPr lang="en-US" dirty="0"/>
              <a:t>Viruses: host file or program required – Executed to spread.</a:t>
            </a:r>
          </a:p>
          <a:p>
            <a:r>
              <a:rPr lang="en-US" dirty="0"/>
              <a:t>Worm: Standalone malware that propagate independently</a:t>
            </a:r>
            <a:endParaRPr lang="en-CA"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MALWARE CATEGORY - LAUNCH</a:t>
            </a:r>
          </a:p>
        </p:txBody>
      </p:sp>
      <p:sp>
        <p:nvSpPr>
          <p:cNvPr id="3" name="object 3"/>
          <p:cNvSpPr txBox="1"/>
          <p:nvPr/>
        </p:nvSpPr>
        <p:spPr>
          <a:xfrm>
            <a:off x="962660" y="2230881"/>
            <a:ext cx="5581650" cy="2894382"/>
          </a:xfrm>
          <a:prstGeom prst="rect">
            <a:avLst/>
          </a:prstGeom>
        </p:spPr>
        <p:txBody>
          <a:bodyPr vert="horz" wrap="square" lIns="0" tIns="49530" rIns="0" bIns="0" rtlCol="0">
            <a:spAutoFit/>
          </a:bodyPr>
          <a:lstStyle/>
          <a:p>
            <a:pPr marL="12700" marR="5080">
              <a:lnSpc>
                <a:spcPts val="2380"/>
              </a:lnSpc>
              <a:spcBef>
                <a:spcPts val="390"/>
              </a:spcBef>
            </a:pPr>
            <a:r>
              <a:rPr sz="2200" dirty="0">
                <a:solidFill>
                  <a:srgbClr val="C00000"/>
                </a:solidFill>
                <a:latin typeface="Arial MT"/>
                <a:cs typeface="Arial MT"/>
              </a:rPr>
              <a:t>Bot </a:t>
            </a:r>
            <a:r>
              <a:rPr sz="2200" dirty="0">
                <a:latin typeface="Arial MT"/>
                <a:cs typeface="Arial MT"/>
              </a:rPr>
              <a:t>(a.k.a. zombie) is a </a:t>
            </a:r>
            <a:r>
              <a:rPr sz="2200" dirty="0">
                <a:solidFill>
                  <a:srgbClr val="0000FF"/>
                </a:solidFill>
                <a:latin typeface="Arial MT"/>
                <a:cs typeface="Arial MT"/>
              </a:rPr>
              <a:t>self-propagating malware </a:t>
            </a:r>
            <a:r>
              <a:rPr sz="2200" dirty="0">
                <a:latin typeface="Arial MT"/>
                <a:cs typeface="Arial MT"/>
              </a:rPr>
              <a:t>that infects its host system and allows the threat actor to </a:t>
            </a:r>
            <a:r>
              <a:rPr sz="2200" dirty="0">
                <a:solidFill>
                  <a:srgbClr val="0000FF"/>
                </a:solidFill>
                <a:latin typeface="Arial MT"/>
                <a:cs typeface="Arial MT"/>
              </a:rPr>
              <a:t>control </a:t>
            </a:r>
            <a:r>
              <a:rPr sz="2200" dirty="0">
                <a:latin typeface="Arial MT"/>
                <a:cs typeface="Arial MT"/>
              </a:rPr>
              <a:t>the machine remotely.</a:t>
            </a:r>
          </a:p>
          <a:p>
            <a:pPr>
              <a:lnSpc>
                <a:spcPct val="100000"/>
              </a:lnSpc>
            </a:pPr>
            <a:endParaRPr sz="2200" dirty="0">
              <a:latin typeface="Arial MT"/>
              <a:cs typeface="Arial MT"/>
            </a:endParaRPr>
          </a:p>
          <a:p>
            <a:pPr>
              <a:lnSpc>
                <a:spcPct val="100000"/>
              </a:lnSpc>
              <a:spcBef>
                <a:spcPts val="105"/>
              </a:spcBef>
            </a:pPr>
            <a:endParaRPr sz="2200" dirty="0">
              <a:latin typeface="Arial MT"/>
              <a:cs typeface="Arial MT"/>
            </a:endParaRPr>
          </a:p>
          <a:p>
            <a:pPr marL="12700" marR="111760" algn="just">
              <a:lnSpc>
                <a:spcPts val="2380"/>
              </a:lnSpc>
            </a:pPr>
            <a:r>
              <a:rPr sz="2200" dirty="0">
                <a:latin typeface="Arial MT"/>
                <a:cs typeface="Arial MT"/>
              </a:rPr>
              <a:t>Million of infected bot machines create a logical network (a.k.a. botnet) under the control of a </a:t>
            </a:r>
            <a:r>
              <a:rPr sz="2200" dirty="0">
                <a:solidFill>
                  <a:srgbClr val="0000FF"/>
                </a:solidFill>
                <a:latin typeface="Arial MT"/>
                <a:cs typeface="Arial MT"/>
              </a:rPr>
              <a:t>bot herder</a:t>
            </a:r>
            <a:r>
              <a:rPr sz="2200" dirty="0">
                <a:latin typeface="Arial MT"/>
                <a:cs typeface="Arial MT"/>
              </a:rPr>
              <a:t>.</a:t>
            </a:r>
          </a:p>
        </p:txBody>
      </p:sp>
      <p:pic>
        <p:nvPicPr>
          <p:cNvPr id="4" name="object 4"/>
          <p:cNvPicPr/>
          <p:nvPr/>
        </p:nvPicPr>
        <p:blipFill>
          <a:blip r:embed="rId2" cstate="print"/>
          <a:stretch>
            <a:fillRect/>
          </a:stretch>
        </p:blipFill>
        <p:spPr>
          <a:xfrm>
            <a:off x="6621780" y="1455419"/>
            <a:ext cx="5189220" cy="3174491"/>
          </a:xfrm>
          <a:prstGeom prst="rect">
            <a:avLst/>
          </a:prstGeom>
        </p:spPr>
      </p:pic>
      <p:sp>
        <p:nvSpPr>
          <p:cNvPr id="5" name="object 5"/>
          <p:cNvSpPr txBox="1"/>
          <p:nvPr/>
        </p:nvSpPr>
        <p:spPr>
          <a:xfrm>
            <a:off x="8121522" y="4821173"/>
            <a:ext cx="2496820" cy="2898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Arial MT"/>
                <a:cs typeface="Arial MT"/>
                <a:hlinkClick r:id="rId3"/>
              </a:rPr>
              <a:t>This Photo</a:t>
            </a:r>
            <a:r>
              <a:rPr sz="900" dirty="0">
                <a:solidFill>
                  <a:srgbClr val="6B9F24"/>
                </a:solidFill>
                <a:latin typeface="Arial MT"/>
                <a:cs typeface="Arial MT"/>
              </a:rPr>
              <a:t> </a:t>
            </a:r>
            <a:r>
              <a:rPr sz="900" dirty="0">
                <a:latin typeface="Arial MT"/>
                <a:cs typeface="Arial MT"/>
              </a:rPr>
              <a:t>by Unknown Author is licensed under </a:t>
            </a:r>
            <a:r>
              <a:rPr sz="900" u="sng" dirty="0">
                <a:solidFill>
                  <a:srgbClr val="6B9F24"/>
                </a:solidFill>
                <a:uFill>
                  <a:solidFill>
                    <a:srgbClr val="6B9F24"/>
                  </a:solidFill>
                </a:uFill>
                <a:latin typeface="Arial MT"/>
                <a:cs typeface="Arial MT"/>
                <a:hlinkClick r:id="rId4"/>
              </a:rPr>
              <a:t>CC BY</a:t>
            </a:r>
            <a:endParaRPr sz="900">
              <a:latin typeface="Arial MT"/>
              <a:cs typeface="Arial MT"/>
            </a:endParaRPr>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dirty="0"/>
              <a:t>ALI HASSAN</a:t>
            </a:r>
          </a:p>
        </p:txBody>
      </p:sp>
      <p:sp>
        <p:nvSpPr>
          <p:cNvPr id="8" name="object 8"/>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11</a:t>
            </a:fld>
            <a:endParaRPr dirty="0"/>
          </a:p>
        </p:txBody>
      </p:sp>
      <p:sp>
        <p:nvSpPr>
          <p:cNvPr id="6" name="object 6"/>
          <p:cNvSpPr txBox="1"/>
          <p:nvPr/>
        </p:nvSpPr>
        <p:spPr>
          <a:xfrm>
            <a:off x="1024127" y="5285232"/>
            <a:ext cx="4523740" cy="764440"/>
          </a:xfrm>
          <a:prstGeom prst="rect">
            <a:avLst/>
          </a:prstGeom>
          <a:solidFill>
            <a:srgbClr val="F1F1F1"/>
          </a:solidFill>
        </p:spPr>
        <p:txBody>
          <a:bodyPr vert="horz" wrap="square" lIns="0" tIns="43180" rIns="0" bIns="0" rtlCol="0">
            <a:spAutoFit/>
          </a:bodyPr>
          <a:lstStyle/>
          <a:p>
            <a:pPr marL="219710" marR="203200">
              <a:lnSpc>
                <a:spcPts val="2870"/>
              </a:lnSpc>
              <a:spcBef>
                <a:spcPts val="340"/>
              </a:spcBef>
            </a:pPr>
            <a:r>
              <a:rPr sz="2400" b="1" dirty="0">
                <a:latin typeface="Arial"/>
                <a:cs typeface="Arial"/>
              </a:rPr>
              <a:t>Suggest mitigation strategies for this category</a:t>
            </a:r>
            <a:endParaRPr sz="2400" dirty="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A6579-BCB8-2D65-C132-B5502CDC5B77}"/>
              </a:ext>
            </a:extLst>
          </p:cNvPr>
          <p:cNvSpPr>
            <a:spLocks noGrp="1"/>
          </p:cNvSpPr>
          <p:nvPr>
            <p:ph type="title"/>
          </p:nvPr>
        </p:nvSpPr>
        <p:spPr>
          <a:xfrm>
            <a:off x="1103172" y="525018"/>
            <a:ext cx="9348470" cy="1661993"/>
          </a:xfrm>
        </p:spPr>
        <p:txBody>
          <a:bodyPr/>
          <a:lstStyle/>
          <a:p>
            <a:r>
              <a:rPr lang="en-CA" dirty="0"/>
              <a:t>Few </a:t>
            </a:r>
            <a:r>
              <a:rPr lang="en-US" sz="5400" dirty="0">
                <a:cs typeface="Arial"/>
              </a:rPr>
              <a:t>mitigation strategies for this category</a:t>
            </a:r>
            <a:endParaRPr lang="en-CA" dirty="0"/>
          </a:p>
        </p:txBody>
      </p:sp>
      <p:sp>
        <p:nvSpPr>
          <p:cNvPr id="10" name="Text Placeholder 9">
            <a:extLst>
              <a:ext uri="{FF2B5EF4-FFF2-40B4-BE49-F238E27FC236}">
                <a16:creationId xmlns:a16="http://schemas.microsoft.com/office/drawing/2014/main" id="{7B89A14D-00E8-C2F9-1305-C7910D1A3905}"/>
              </a:ext>
            </a:extLst>
          </p:cNvPr>
          <p:cNvSpPr txBox="1">
            <a:spLocks noGrp="1"/>
          </p:cNvSpPr>
          <p:nvPr>
            <p:ph type="body" idx="1"/>
          </p:nvPr>
        </p:nvSpPr>
        <p:spPr>
          <a:xfrm>
            <a:off x="1103172" y="2819400"/>
            <a:ext cx="9534525" cy="1846659"/>
          </a:xfrm>
          <a:prstGeom prst="rect">
            <a:avLst/>
          </a:prstGeom>
          <a:noFill/>
        </p:spPr>
        <p:txBody>
          <a:bodyPr wrap="square">
            <a:spAutoFit/>
          </a:bodyPr>
          <a:lstStyle/>
          <a:p>
            <a:pPr marL="342900" indent="-342900">
              <a:buFont typeface="Arial" panose="020B0604020202020204" pitchFamily="34" charset="0"/>
              <a:buChar char="•"/>
            </a:pPr>
            <a:r>
              <a:rPr lang="en-CA" dirty="0"/>
              <a:t>Strengthen Endpoint Security</a:t>
            </a:r>
          </a:p>
          <a:p>
            <a:pPr marL="342900" indent="-342900">
              <a:buFont typeface="Arial" panose="020B0604020202020204" pitchFamily="34" charset="0"/>
              <a:buChar char="•"/>
            </a:pPr>
            <a:r>
              <a:rPr lang="en-CA" dirty="0"/>
              <a:t>Network Security Measures</a:t>
            </a:r>
          </a:p>
          <a:p>
            <a:pPr marL="342900" indent="-342900">
              <a:buFont typeface="Arial" panose="020B0604020202020204" pitchFamily="34" charset="0"/>
              <a:buChar char="•"/>
            </a:pPr>
            <a:r>
              <a:rPr lang="en-CA" dirty="0"/>
              <a:t>Patch and Update Systems</a:t>
            </a:r>
          </a:p>
          <a:p>
            <a:pPr marL="342900" indent="-342900">
              <a:buFont typeface="Arial" panose="020B0604020202020204" pitchFamily="34" charset="0"/>
              <a:buChar char="•"/>
            </a:pPr>
            <a:r>
              <a:rPr lang="en-CA" dirty="0"/>
              <a:t>Enhance Access Control</a:t>
            </a:r>
          </a:p>
          <a:p>
            <a:pPr marL="342900" indent="-342900">
              <a:buFont typeface="Arial" panose="020B0604020202020204" pitchFamily="34" charset="0"/>
              <a:buChar char="•"/>
            </a:pPr>
            <a:r>
              <a:rPr lang="en-CA" dirty="0"/>
              <a:t>DNS Filtering and Blacklisting</a:t>
            </a:r>
          </a:p>
        </p:txBody>
      </p:sp>
    </p:spTree>
    <p:extLst>
      <p:ext uri="{BB962C8B-B14F-4D97-AF65-F5344CB8AC3E}">
        <p14:creationId xmlns:p14="http://schemas.microsoft.com/office/powerpoint/2010/main" val="2168490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7526" y="543205"/>
            <a:ext cx="9348470" cy="1090683"/>
          </a:xfrm>
          <a:prstGeom prst="rect">
            <a:avLst/>
          </a:prstGeom>
        </p:spPr>
        <p:txBody>
          <a:bodyPr vert="horz" wrap="square" lIns="0" tIns="318135" rIns="0" bIns="0" rtlCol="0">
            <a:spAutoFit/>
          </a:bodyPr>
          <a:lstStyle/>
          <a:p>
            <a:pPr marL="12700">
              <a:lnSpc>
                <a:spcPct val="100000"/>
              </a:lnSpc>
              <a:spcBef>
                <a:spcPts val="105"/>
              </a:spcBef>
            </a:pPr>
            <a:r>
              <a:rPr dirty="0"/>
              <a:t>MALWARE CATEGORY - SNOOP</a:t>
            </a:r>
          </a:p>
        </p:txBody>
      </p:sp>
      <p:sp>
        <p:nvSpPr>
          <p:cNvPr id="3" name="object 3"/>
          <p:cNvSpPr txBox="1"/>
          <p:nvPr/>
        </p:nvSpPr>
        <p:spPr>
          <a:xfrm>
            <a:off x="762000" y="2087905"/>
            <a:ext cx="5577205" cy="1525418"/>
          </a:xfrm>
          <a:prstGeom prst="rect">
            <a:avLst/>
          </a:prstGeom>
        </p:spPr>
        <p:txBody>
          <a:bodyPr vert="horz" wrap="square" lIns="0" tIns="12065" rIns="0" bIns="0" rtlCol="0">
            <a:spAutoFit/>
          </a:bodyPr>
          <a:lstStyle/>
          <a:p>
            <a:pPr marL="12700">
              <a:lnSpc>
                <a:spcPts val="2510"/>
              </a:lnSpc>
              <a:spcBef>
                <a:spcPts val="95"/>
              </a:spcBef>
            </a:pPr>
            <a:r>
              <a:rPr sz="2200" dirty="0">
                <a:solidFill>
                  <a:srgbClr val="C00000"/>
                </a:solidFill>
                <a:latin typeface="+mj-lt"/>
                <a:cs typeface="Arial MT"/>
              </a:rPr>
              <a:t>Keylogger </a:t>
            </a:r>
            <a:r>
              <a:rPr sz="2200" dirty="0">
                <a:latin typeface="+mj-lt"/>
                <a:cs typeface="Arial MT"/>
              </a:rPr>
              <a:t>secretly captures and stores each</a:t>
            </a:r>
          </a:p>
          <a:p>
            <a:pPr marL="12700">
              <a:lnSpc>
                <a:spcPts val="2510"/>
              </a:lnSpc>
            </a:pPr>
            <a:r>
              <a:rPr sz="2200" dirty="0">
                <a:latin typeface="+mj-lt"/>
                <a:cs typeface="Arial MT"/>
              </a:rPr>
              <a:t>keystroke that a user types on the user’s computer.</a:t>
            </a:r>
          </a:p>
          <a:p>
            <a:pPr marL="334645" marR="266065" indent="-285750">
              <a:lnSpc>
                <a:spcPts val="1939"/>
              </a:lnSpc>
              <a:spcBef>
                <a:spcPts val="455"/>
              </a:spcBef>
              <a:buFont typeface="Arial" panose="020B0604020202020204" pitchFamily="34" charset="0"/>
              <a:buChar char="•"/>
            </a:pPr>
            <a:r>
              <a:rPr sz="1800" dirty="0">
                <a:latin typeface="+mj-lt"/>
                <a:cs typeface="Arial MT"/>
              </a:rPr>
              <a:t>Could be a </a:t>
            </a:r>
            <a:r>
              <a:rPr sz="1800" dirty="0">
                <a:solidFill>
                  <a:srgbClr val="0000FF"/>
                </a:solidFill>
                <a:latin typeface="+mj-lt"/>
                <a:cs typeface="Arial MT"/>
              </a:rPr>
              <a:t>software </a:t>
            </a:r>
            <a:r>
              <a:rPr sz="1800" dirty="0">
                <a:latin typeface="+mj-lt"/>
                <a:cs typeface="Arial MT"/>
              </a:rPr>
              <a:t>that is installed remotely or a small </a:t>
            </a:r>
            <a:r>
              <a:rPr sz="1800" dirty="0">
                <a:solidFill>
                  <a:srgbClr val="0000FF"/>
                </a:solidFill>
                <a:latin typeface="+mj-lt"/>
                <a:cs typeface="Arial MT"/>
              </a:rPr>
              <a:t>hardware </a:t>
            </a:r>
            <a:r>
              <a:rPr sz="1800" dirty="0">
                <a:latin typeface="+mj-lt"/>
                <a:cs typeface="Arial MT"/>
              </a:rPr>
              <a:t>device.</a:t>
            </a:r>
          </a:p>
        </p:txBody>
      </p:sp>
      <p:sp>
        <p:nvSpPr>
          <p:cNvPr id="4" name="object 4"/>
          <p:cNvSpPr txBox="1"/>
          <p:nvPr/>
        </p:nvSpPr>
        <p:spPr>
          <a:xfrm>
            <a:off x="762000" y="3763035"/>
            <a:ext cx="5845175" cy="1755609"/>
          </a:xfrm>
          <a:prstGeom prst="rect">
            <a:avLst/>
          </a:prstGeom>
        </p:spPr>
        <p:txBody>
          <a:bodyPr vert="horz" wrap="square" lIns="0" tIns="49530" rIns="0" bIns="0" rtlCol="0">
            <a:spAutoFit/>
          </a:bodyPr>
          <a:lstStyle/>
          <a:p>
            <a:pPr marL="12700" marR="5080">
              <a:lnSpc>
                <a:spcPts val="2380"/>
              </a:lnSpc>
              <a:spcBef>
                <a:spcPts val="390"/>
              </a:spcBef>
            </a:pPr>
            <a:r>
              <a:rPr sz="2200" dirty="0">
                <a:solidFill>
                  <a:srgbClr val="C00000"/>
                </a:solidFill>
                <a:latin typeface="+mj-lt"/>
                <a:cs typeface="Arial MT"/>
              </a:rPr>
              <a:t>Spyware </a:t>
            </a:r>
            <a:r>
              <a:rPr sz="2200" dirty="0">
                <a:latin typeface="+mj-lt"/>
                <a:cs typeface="Arial MT"/>
              </a:rPr>
              <a:t>is a malicious software that is designed to infect the system, </a:t>
            </a:r>
            <a:r>
              <a:rPr sz="2200" dirty="0">
                <a:solidFill>
                  <a:srgbClr val="0000FF"/>
                </a:solidFill>
                <a:latin typeface="+mj-lt"/>
                <a:cs typeface="Arial MT"/>
              </a:rPr>
              <a:t>collect data </a:t>
            </a:r>
            <a:r>
              <a:rPr sz="2200" dirty="0">
                <a:latin typeface="+mj-lt"/>
                <a:cs typeface="Arial MT"/>
              </a:rPr>
              <a:t>and </a:t>
            </a:r>
            <a:r>
              <a:rPr sz="2200" dirty="0">
                <a:solidFill>
                  <a:srgbClr val="0000FF"/>
                </a:solidFill>
                <a:latin typeface="+mj-lt"/>
                <a:cs typeface="Arial MT"/>
              </a:rPr>
              <a:t>distribute </a:t>
            </a:r>
            <a:r>
              <a:rPr sz="2200" dirty="0">
                <a:latin typeface="+mj-lt"/>
                <a:cs typeface="Arial MT"/>
              </a:rPr>
              <a:t>it to the threat actor without consent.</a:t>
            </a:r>
          </a:p>
          <a:p>
            <a:pPr marL="334645" marR="160655" indent="-285750">
              <a:lnSpc>
                <a:spcPts val="1939"/>
              </a:lnSpc>
              <a:spcBef>
                <a:spcPts val="409"/>
              </a:spcBef>
              <a:buFont typeface="Arial" panose="020B0604020202020204" pitchFamily="34" charset="0"/>
              <a:buChar char="•"/>
            </a:pPr>
            <a:r>
              <a:rPr sz="1800" dirty="0">
                <a:latin typeface="+mj-lt"/>
                <a:cs typeface="Arial MT"/>
              </a:rPr>
              <a:t>Spywares usually download and install malicious/tracking software, track user activities, modify user configurations etc.</a:t>
            </a:r>
          </a:p>
        </p:txBody>
      </p:sp>
      <p:pic>
        <p:nvPicPr>
          <p:cNvPr id="5" name="object 5"/>
          <p:cNvPicPr/>
          <p:nvPr/>
        </p:nvPicPr>
        <p:blipFill>
          <a:blip r:embed="rId2" cstate="print"/>
          <a:stretch>
            <a:fillRect/>
          </a:stretch>
        </p:blipFill>
        <p:spPr>
          <a:xfrm>
            <a:off x="7391399" y="1633888"/>
            <a:ext cx="4498441" cy="1813297"/>
          </a:xfrm>
          <a:prstGeom prst="rect">
            <a:avLst/>
          </a:prstGeom>
        </p:spPr>
      </p:pic>
      <p:sp>
        <p:nvSpPr>
          <p:cNvPr id="6" name="object 6"/>
          <p:cNvSpPr txBox="1"/>
          <p:nvPr/>
        </p:nvSpPr>
        <p:spPr>
          <a:xfrm>
            <a:off x="7984592" y="3597301"/>
            <a:ext cx="2661920" cy="2898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mj-lt"/>
                <a:cs typeface="Arial MT"/>
                <a:hlinkClick r:id="rId3"/>
              </a:rPr>
              <a:t>This Photo</a:t>
            </a:r>
            <a:r>
              <a:rPr sz="900" dirty="0">
                <a:solidFill>
                  <a:srgbClr val="6B9F24"/>
                </a:solidFill>
                <a:latin typeface="+mj-lt"/>
                <a:cs typeface="Arial MT"/>
              </a:rPr>
              <a:t> </a:t>
            </a:r>
            <a:r>
              <a:rPr sz="900" dirty="0">
                <a:latin typeface="+mj-lt"/>
                <a:cs typeface="Arial MT"/>
              </a:rPr>
              <a:t>by Unknown Author is licensed under </a:t>
            </a:r>
            <a:r>
              <a:rPr sz="900" u="sng" dirty="0">
                <a:solidFill>
                  <a:srgbClr val="6B9F24"/>
                </a:solidFill>
                <a:uFill>
                  <a:solidFill>
                    <a:srgbClr val="6B9F24"/>
                  </a:solidFill>
                </a:uFill>
                <a:latin typeface="+mj-lt"/>
                <a:cs typeface="Arial MT"/>
                <a:hlinkClick r:id="rId4"/>
              </a:rPr>
              <a:t>CC BY-SA</a:t>
            </a:r>
            <a:endParaRPr sz="900">
              <a:latin typeface="+mj-lt"/>
              <a:cs typeface="Arial MT"/>
            </a:endParaRPr>
          </a:p>
        </p:txBody>
      </p:sp>
      <p:pic>
        <p:nvPicPr>
          <p:cNvPr id="7" name="object 7"/>
          <p:cNvPicPr/>
          <p:nvPr/>
        </p:nvPicPr>
        <p:blipFill>
          <a:blip r:embed="rId5" cstate="print"/>
          <a:stretch>
            <a:fillRect/>
          </a:stretch>
        </p:blipFill>
        <p:spPr>
          <a:xfrm>
            <a:off x="7782661" y="3893719"/>
            <a:ext cx="3450336" cy="2226564"/>
          </a:xfrm>
          <a:prstGeom prst="rect">
            <a:avLst/>
          </a:prstGeom>
        </p:spPr>
      </p:pic>
      <p:sp>
        <p:nvSpPr>
          <p:cNvPr id="8" name="object 8"/>
          <p:cNvSpPr txBox="1"/>
          <p:nvPr/>
        </p:nvSpPr>
        <p:spPr>
          <a:xfrm>
            <a:off x="8081111" y="6209690"/>
            <a:ext cx="2662555" cy="289823"/>
          </a:xfrm>
          <a:prstGeom prst="rect">
            <a:avLst/>
          </a:prstGeom>
        </p:spPr>
        <p:txBody>
          <a:bodyPr vert="horz" wrap="square" lIns="0" tIns="12700" rIns="0" bIns="0" rtlCol="0">
            <a:spAutoFit/>
          </a:bodyPr>
          <a:lstStyle/>
          <a:p>
            <a:pPr marL="12700">
              <a:lnSpc>
                <a:spcPct val="100000"/>
              </a:lnSpc>
              <a:spcBef>
                <a:spcPts val="100"/>
              </a:spcBef>
            </a:pPr>
            <a:r>
              <a:rPr sz="900" u="sng" dirty="0">
                <a:solidFill>
                  <a:srgbClr val="6B9F24"/>
                </a:solidFill>
                <a:uFill>
                  <a:solidFill>
                    <a:srgbClr val="6B9F24"/>
                  </a:solidFill>
                </a:uFill>
                <a:latin typeface="+mj-lt"/>
                <a:cs typeface="Arial MT"/>
                <a:hlinkClick r:id="rId6"/>
              </a:rPr>
              <a:t>This Photo</a:t>
            </a:r>
            <a:r>
              <a:rPr sz="900" dirty="0">
                <a:solidFill>
                  <a:srgbClr val="6B9F24"/>
                </a:solidFill>
                <a:latin typeface="+mj-lt"/>
                <a:cs typeface="Arial MT"/>
              </a:rPr>
              <a:t> </a:t>
            </a:r>
            <a:r>
              <a:rPr sz="900" dirty="0">
                <a:latin typeface="+mj-lt"/>
                <a:cs typeface="Arial MT"/>
              </a:rPr>
              <a:t>by Unknown Author is licensed under </a:t>
            </a:r>
            <a:r>
              <a:rPr sz="900" u="sng" dirty="0">
                <a:solidFill>
                  <a:srgbClr val="6B9F24"/>
                </a:solidFill>
                <a:uFill>
                  <a:solidFill>
                    <a:srgbClr val="6B9F24"/>
                  </a:solidFill>
                </a:uFill>
                <a:latin typeface="+mj-lt"/>
                <a:cs typeface="Arial MT"/>
                <a:hlinkClick r:id="rId4"/>
              </a:rPr>
              <a:t>CC BY-SA</a:t>
            </a:r>
            <a:endParaRPr sz="900">
              <a:latin typeface="+mj-lt"/>
              <a:cs typeface="Arial MT"/>
            </a:endParaRPr>
          </a:p>
        </p:txBody>
      </p:sp>
      <p:sp>
        <p:nvSpPr>
          <p:cNvPr id="9" name="object 9"/>
          <p:cNvSpPr txBox="1">
            <a:spLocks noGrp="1"/>
          </p:cNvSpPr>
          <p:nvPr>
            <p:ph type="ftr" sz="quarter" idx="5"/>
          </p:nvPr>
        </p:nvSpPr>
        <p:spPr>
          <a:xfrm>
            <a:off x="10183343" y="6551290"/>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10" name="object 10"/>
          <p:cNvSpPr txBox="1">
            <a:spLocks noGrp="1"/>
          </p:cNvSpPr>
          <p:nvPr>
            <p:ph type="sldNum" sz="quarter" idx="7"/>
          </p:nvPr>
        </p:nvSpPr>
        <p:spPr>
          <a:xfrm>
            <a:off x="10876382" y="6541822"/>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MALWARE CATEGORY - DECEIVE</a:t>
            </a:r>
          </a:p>
        </p:txBody>
      </p:sp>
      <p:sp>
        <p:nvSpPr>
          <p:cNvPr id="3" name="object 3"/>
          <p:cNvSpPr txBox="1"/>
          <p:nvPr/>
        </p:nvSpPr>
        <p:spPr>
          <a:xfrm>
            <a:off x="962660" y="2069718"/>
            <a:ext cx="6696709" cy="4003404"/>
          </a:xfrm>
          <a:prstGeom prst="rect">
            <a:avLst/>
          </a:prstGeom>
        </p:spPr>
        <p:txBody>
          <a:bodyPr vert="horz" wrap="square" lIns="0" tIns="49530" rIns="0" bIns="0" rtlCol="0">
            <a:spAutoFit/>
          </a:bodyPr>
          <a:lstStyle/>
          <a:p>
            <a:pPr marL="12700" marR="32384">
              <a:lnSpc>
                <a:spcPts val="2380"/>
              </a:lnSpc>
              <a:spcBef>
                <a:spcPts val="390"/>
              </a:spcBef>
            </a:pPr>
            <a:r>
              <a:rPr sz="2200" dirty="0">
                <a:latin typeface="+mj-lt"/>
                <a:cs typeface="Arial MT"/>
              </a:rPr>
              <a:t>A </a:t>
            </a:r>
            <a:r>
              <a:rPr sz="2200" dirty="0">
                <a:solidFill>
                  <a:srgbClr val="C00000"/>
                </a:solidFill>
                <a:latin typeface="+mj-lt"/>
                <a:cs typeface="Arial MT"/>
              </a:rPr>
              <a:t>PUP </a:t>
            </a:r>
            <a:r>
              <a:rPr sz="2200" dirty="0">
                <a:latin typeface="+mj-lt"/>
                <a:cs typeface="Arial MT"/>
              </a:rPr>
              <a:t>(Potentially Unwanted Program) is an annoying unwanted program that user does not want on their devices.</a:t>
            </a:r>
          </a:p>
          <a:p>
            <a:pPr marL="12700" marR="443230">
              <a:lnSpc>
                <a:spcPts val="2380"/>
              </a:lnSpc>
              <a:spcBef>
                <a:spcPts val="1395"/>
              </a:spcBef>
            </a:pPr>
            <a:r>
              <a:rPr sz="2200" dirty="0">
                <a:latin typeface="+mj-lt"/>
                <a:cs typeface="Arial MT"/>
              </a:rPr>
              <a:t>A </a:t>
            </a:r>
            <a:r>
              <a:rPr sz="2200" dirty="0">
                <a:solidFill>
                  <a:srgbClr val="C00000"/>
                </a:solidFill>
                <a:latin typeface="+mj-lt"/>
                <a:cs typeface="Arial MT"/>
              </a:rPr>
              <a:t>Trojan </a:t>
            </a:r>
            <a:r>
              <a:rPr sz="2200" dirty="0">
                <a:latin typeface="+mj-lt"/>
                <a:cs typeface="Arial MT"/>
              </a:rPr>
              <a:t>horse (or Trojan) is an executable malware that often disguised as legitimate software.</a:t>
            </a:r>
          </a:p>
          <a:p>
            <a:pPr marL="334645" indent="-285750">
              <a:lnSpc>
                <a:spcPts val="2055"/>
              </a:lnSpc>
              <a:spcBef>
                <a:spcPts val="170"/>
              </a:spcBef>
              <a:buFont typeface="Arial" panose="020B0604020202020204" pitchFamily="34" charset="0"/>
              <a:buChar char="•"/>
            </a:pPr>
            <a:r>
              <a:rPr sz="1800" dirty="0">
                <a:latin typeface="+mj-lt"/>
                <a:cs typeface="Arial MT"/>
              </a:rPr>
              <a:t>Users are typically tricked by </a:t>
            </a:r>
            <a:r>
              <a:rPr sz="1800" dirty="0">
                <a:solidFill>
                  <a:srgbClr val="0000FF"/>
                </a:solidFill>
                <a:latin typeface="+mj-lt"/>
                <a:cs typeface="Arial MT"/>
              </a:rPr>
              <a:t>social engineering </a:t>
            </a:r>
            <a:r>
              <a:rPr sz="1800" dirty="0">
                <a:latin typeface="+mj-lt"/>
                <a:cs typeface="Arial MT"/>
              </a:rPr>
              <a:t>into loading and</a:t>
            </a:r>
            <a:r>
              <a:rPr lang="en-CA" sz="1800" dirty="0">
                <a:latin typeface="+mj-lt"/>
                <a:cs typeface="Arial MT"/>
              </a:rPr>
              <a:t> </a:t>
            </a:r>
            <a:r>
              <a:rPr sz="1800" dirty="0">
                <a:latin typeface="+mj-lt"/>
                <a:cs typeface="Arial MT"/>
              </a:rPr>
              <a:t>executing Trojans on their systems.</a:t>
            </a:r>
            <a:endParaRPr lang="en-CA" dirty="0">
              <a:latin typeface="+mj-lt"/>
              <a:cs typeface="Arial MT"/>
            </a:endParaRPr>
          </a:p>
          <a:p>
            <a:pPr marL="334645" indent="-285750">
              <a:lnSpc>
                <a:spcPts val="2055"/>
              </a:lnSpc>
              <a:spcBef>
                <a:spcPts val="170"/>
              </a:spcBef>
              <a:buFont typeface="Arial" panose="020B0604020202020204" pitchFamily="34" charset="0"/>
              <a:buChar char="•"/>
            </a:pPr>
            <a:r>
              <a:rPr sz="1800" dirty="0">
                <a:latin typeface="+mj-lt"/>
                <a:cs typeface="Arial MT"/>
              </a:rPr>
              <a:t>Once activated, gain </a:t>
            </a:r>
            <a:r>
              <a:rPr sz="1800" dirty="0">
                <a:solidFill>
                  <a:srgbClr val="0000FF"/>
                </a:solidFill>
                <a:latin typeface="+mj-lt"/>
                <a:cs typeface="Arial MT"/>
              </a:rPr>
              <a:t>backdoor access </a:t>
            </a:r>
            <a:r>
              <a:rPr sz="1800" dirty="0">
                <a:latin typeface="+mj-lt"/>
                <a:cs typeface="Arial MT"/>
              </a:rPr>
              <a:t>to the system and steals sensitive data.</a:t>
            </a:r>
          </a:p>
          <a:p>
            <a:pPr marL="12700" marR="5080">
              <a:lnSpc>
                <a:spcPct val="90000"/>
              </a:lnSpc>
              <a:spcBef>
                <a:spcPts val="1545"/>
              </a:spcBef>
            </a:pPr>
            <a:r>
              <a:rPr sz="2200" dirty="0">
                <a:latin typeface="+mj-lt"/>
                <a:cs typeface="Arial MT"/>
              </a:rPr>
              <a:t>A </a:t>
            </a:r>
            <a:r>
              <a:rPr sz="2200" dirty="0">
                <a:solidFill>
                  <a:srgbClr val="C00000"/>
                </a:solidFill>
                <a:latin typeface="+mj-lt"/>
                <a:cs typeface="Arial MT"/>
              </a:rPr>
              <a:t>RAT </a:t>
            </a:r>
            <a:r>
              <a:rPr sz="2200" dirty="0">
                <a:latin typeface="+mj-lt"/>
                <a:cs typeface="Arial MT"/>
              </a:rPr>
              <a:t>(Remote Access Trojan a.k.a. creepware) is a tool that gives the threat actor unauthorized remote access to the victim’s system.</a:t>
            </a:r>
          </a:p>
        </p:txBody>
      </p:sp>
      <p:pic>
        <p:nvPicPr>
          <p:cNvPr id="4" name="object 4"/>
          <p:cNvPicPr/>
          <p:nvPr/>
        </p:nvPicPr>
        <p:blipFill>
          <a:blip r:embed="rId2" cstate="print"/>
          <a:stretch>
            <a:fillRect/>
          </a:stretch>
        </p:blipFill>
        <p:spPr>
          <a:xfrm>
            <a:off x="8686799" y="1752599"/>
            <a:ext cx="3046475" cy="3345179"/>
          </a:xfrm>
          <a:prstGeom prst="rect">
            <a:avLst/>
          </a:prstGeom>
        </p:spPr>
      </p:pic>
      <p:sp>
        <p:nvSpPr>
          <p:cNvPr id="5" name="object 5"/>
          <p:cNvSpPr txBox="1"/>
          <p:nvPr/>
        </p:nvSpPr>
        <p:spPr>
          <a:xfrm>
            <a:off x="8487536" y="5239588"/>
            <a:ext cx="2637790" cy="166071"/>
          </a:xfrm>
          <a:prstGeom prst="rect">
            <a:avLst/>
          </a:prstGeom>
        </p:spPr>
        <p:txBody>
          <a:bodyPr vert="horz" wrap="square" lIns="0" tIns="12065" rIns="0" bIns="0" rtlCol="0">
            <a:spAutoFit/>
          </a:bodyPr>
          <a:lstStyle/>
          <a:p>
            <a:pPr marL="12700">
              <a:lnSpc>
                <a:spcPct val="100000"/>
              </a:lnSpc>
              <a:spcBef>
                <a:spcPts val="95"/>
              </a:spcBef>
            </a:pPr>
            <a:r>
              <a:rPr sz="1000" u="sng" dirty="0">
                <a:solidFill>
                  <a:srgbClr val="6B9F24"/>
                </a:solidFill>
                <a:uFill>
                  <a:solidFill>
                    <a:srgbClr val="6B9F24"/>
                  </a:solidFill>
                </a:uFill>
                <a:latin typeface="+mj-lt"/>
                <a:cs typeface="Arial MT"/>
              </a:rPr>
              <a:t>This Photo</a:t>
            </a:r>
            <a:r>
              <a:rPr sz="1000" dirty="0">
                <a:solidFill>
                  <a:srgbClr val="6B9F24"/>
                </a:solidFill>
                <a:latin typeface="+mj-lt"/>
                <a:cs typeface="Arial MT"/>
              </a:rPr>
              <a:t> </a:t>
            </a:r>
            <a:r>
              <a:rPr sz="1000" dirty="0">
                <a:latin typeface="+mj-lt"/>
                <a:cs typeface="Arial MT"/>
              </a:rPr>
              <a:t>by Starkus01 is licensed under </a:t>
            </a:r>
            <a:r>
              <a:rPr sz="1000" u="sng" dirty="0">
                <a:solidFill>
                  <a:srgbClr val="6B9F24"/>
                </a:solidFill>
                <a:uFill>
                  <a:solidFill>
                    <a:srgbClr val="6B9F24"/>
                  </a:solidFill>
                </a:uFill>
                <a:latin typeface="+mj-lt"/>
                <a:cs typeface="Arial MT"/>
                <a:hlinkClick r:id="rId3"/>
              </a:rPr>
              <a:t>CC BY-SA</a:t>
            </a:r>
            <a:endParaRPr sz="1000">
              <a:latin typeface="+mj-lt"/>
              <a:cs typeface="Arial MT"/>
            </a:endParaRPr>
          </a:p>
        </p:txBody>
      </p:sp>
      <p:sp>
        <p:nvSpPr>
          <p:cNvPr id="6" name="object 6"/>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7" name="object 7"/>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MALWARE CATEGORY - EVADE</a:t>
            </a:r>
          </a:p>
        </p:txBody>
      </p:sp>
      <p:sp>
        <p:nvSpPr>
          <p:cNvPr id="4" name="object 4"/>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15</a:t>
            </a:fld>
            <a:endParaRPr dirty="0"/>
          </a:p>
        </p:txBody>
      </p:sp>
      <p:sp>
        <p:nvSpPr>
          <p:cNvPr id="3" name="object 3"/>
          <p:cNvSpPr txBox="1"/>
          <p:nvPr/>
        </p:nvSpPr>
        <p:spPr>
          <a:xfrm>
            <a:off x="1148892" y="2069718"/>
            <a:ext cx="9482455" cy="2076209"/>
          </a:xfrm>
          <a:prstGeom prst="rect">
            <a:avLst/>
          </a:prstGeom>
        </p:spPr>
        <p:txBody>
          <a:bodyPr vert="horz" wrap="square" lIns="0" tIns="49530" rIns="0" bIns="0" rtlCol="0">
            <a:spAutoFit/>
          </a:bodyPr>
          <a:lstStyle/>
          <a:p>
            <a:pPr marL="12700" marR="294005">
              <a:lnSpc>
                <a:spcPts val="2380"/>
              </a:lnSpc>
              <a:spcBef>
                <a:spcPts val="390"/>
              </a:spcBef>
            </a:pPr>
            <a:r>
              <a:rPr sz="2200" dirty="0">
                <a:latin typeface="+mj-lt"/>
                <a:cs typeface="Arial MT"/>
              </a:rPr>
              <a:t>A </a:t>
            </a:r>
            <a:r>
              <a:rPr sz="2200" dirty="0">
                <a:solidFill>
                  <a:srgbClr val="C00000"/>
                </a:solidFill>
                <a:latin typeface="+mj-lt"/>
                <a:cs typeface="Arial MT"/>
              </a:rPr>
              <a:t>backdoor </a:t>
            </a:r>
            <a:r>
              <a:rPr sz="2200" dirty="0">
                <a:latin typeface="+mj-lt"/>
                <a:cs typeface="Arial MT"/>
              </a:rPr>
              <a:t>gives </a:t>
            </a:r>
            <a:r>
              <a:rPr sz="2200" dirty="0">
                <a:solidFill>
                  <a:srgbClr val="0000FF"/>
                </a:solidFill>
                <a:latin typeface="+mj-lt"/>
                <a:cs typeface="Arial MT"/>
              </a:rPr>
              <a:t>access </a:t>
            </a:r>
            <a:r>
              <a:rPr sz="2200" dirty="0">
                <a:latin typeface="+mj-lt"/>
                <a:cs typeface="Arial MT"/>
              </a:rPr>
              <a:t>to a computer, program or service that circumvents any normal security protections – Allow the attacker to return later and bypass security settings.</a:t>
            </a:r>
          </a:p>
          <a:p>
            <a:pPr marL="12700" marR="48895" algn="just">
              <a:lnSpc>
                <a:spcPts val="2380"/>
              </a:lnSpc>
              <a:spcBef>
                <a:spcPts val="1430"/>
              </a:spcBef>
            </a:pPr>
            <a:r>
              <a:rPr sz="2200" dirty="0">
                <a:latin typeface="+mj-lt"/>
                <a:cs typeface="Arial MT"/>
              </a:rPr>
              <a:t>A </a:t>
            </a:r>
            <a:r>
              <a:rPr sz="2200" dirty="0">
                <a:solidFill>
                  <a:srgbClr val="C00000"/>
                </a:solidFill>
                <a:latin typeface="+mj-lt"/>
                <a:cs typeface="Arial MT"/>
              </a:rPr>
              <a:t>rootkit </a:t>
            </a:r>
            <a:r>
              <a:rPr sz="2200" dirty="0">
                <a:latin typeface="+mj-lt"/>
                <a:cs typeface="Arial MT"/>
              </a:rPr>
              <a:t>is a </a:t>
            </a:r>
            <a:r>
              <a:rPr sz="2200" dirty="0">
                <a:solidFill>
                  <a:srgbClr val="0000FF"/>
                </a:solidFill>
                <a:latin typeface="+mj-lt"/>
                <a:cs typeface="Arial MT"/>
              </a:rPr>
              <a:t>clandestine </a:t>
            </a:r>
            <a:r>
              <a:rPr sz="2200" dirty="0">
                <a:latin typeface="+mj-lt"/>
                <a:cs typeface="Arial MT"/>
              </a:rPr>
              <a:t>malware that is designed to provide </a:t>
            </a:r>
            <a:r>
              <a:rPr sz="2200" dirty="0">
                <a:solidFill>
                  <a:srgbClr val="0000FF"/>
                </a:solidFill>
                <a:latin typeface="+mj-lt"/>
                <a:cs typeface="Arial MT"/>
              </a:rPr>
              <a:t>privileged access </a:t>
            </a:r>
            <a:r>
              <a:rPr sz="2200" dirty="0">
                <a:latin typeface="+mj-lt"/>
                <a:cs typeface="Arial MT"/>
              </a:rPr>
              <a:t>to a computer, while actively concealing its existence and actions from the users and other system processes.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THINK, PAIR AND SHARE</a:t>
            </a:r>
          </a:p>
        </p:txBody>
      </p:sp>
      <p:sp>
        <p:nvSpPr>
          <p:cNvPr id="3" name="object 3"/>
          <p:cNvSpPr txBox="1"/>
          <p:nvPr/>
        </p:nvSpPr>
        <p:spPr>
          <a:xfrm>
            <a:off x="916939" y="2065146"/>
            <a:ext cx="10627995" cy="3909404"/>
          </a:xfrm>
          <a:prstGeom prst="rect">
            <a:avLst/>
          </a:prstGeom>
        </p:spPr>
        <p:txBody>
          <a:bodyPr vert="horz" wrap="square" lIns="0" tIns="53975" rIns="0" bIns="0" rtlCol="0">
            <a:spAutoFit/>
          </a:bodyPr>
          <a:lstStyle/>
          <a:p>
            <a:pPr marL="57785" marR="179070">
              <a:lnSpc>
                <a:spcPts val="2590"/>
              </a:lnSpc>
              <a:spcBef>
                <a:spcPts val="425"/>
              </a:spcBef>
            </a:pPr>
            <a:r>
              <a:rPr sz="2400" b="1" dirty="0">
                <a:solidFill>
                  <a:srgbClr val="C00000"/>
                </a:solidFill>
                <a:latin typeface="+mj-lt"/>
                <a:cs typeface="Arial"/>
              </a:rPr>
              <a:t>Fileless viruses </a:t>
            </a:r>
            <a:r>
              <a:rPr sz="2400" dirty="0">
                <a:latin typeface="+mj-lt"/>
                <a:cs typeface="Arial MT"/>
              </a:rPr>
              <a:t>take advantage of native services and processes that are part of the OS to avoid detection and carry out their attacks. These native services used in a fileless virus are called living-off-the-land binaries (</a:t>
            </a:r>
            <a:r>
              <a:rPr sz="2400" b="1" dirty="0">
                <a:solidFill>
                  <a:srgbClr val="C00000"/>
                </a:solidFill>
                <a:latin typeface="+mj-lt"/>
                <a:cs typeface="Arial"/>
              </a:rPr>
              <a:t>LOLBins</a:t>
            </a:r>
            <a:r>
              <a:rPr sz="2400" dirty="0">
                <a:latin typeface="+mj-lt"/>
                <a:cs typeface="Arial MT"/>
              </a:rPr>
              <a:t>).</a:t>
            </a:r>
          </a:p>
          <a:p>
            <a:pPr marL="57785">
              <a:lnSpc>
                <a:spcPct val="100000"/>
              </a:lnSpc>
              <a:spcBef>
                <a:spcPts val="1070"/>
              </a:spcBef>
            </a:pPr>
            <a:r>
              <a:rPr sz="2400" dirty="0">
                <a:latin typeface="+mj-lt"/>
                <a:cs typeface="Arial MT"/>
              </a:rPr>
              <a:t>Use the Internet to research fileless viruses and LOLBins. Answer the following questions:</a:t>
            </a:r>
          </a:p>
          <a:p>
            <a:pPr marL="437515" indent="-342900">
              <a:lnSpc>
                <a:spcPct val="100000"/>
              </a:lnSpc>
              <a:spcBef>
                <a:spcPts val="190"/>
              </a:spcBef>
              <a:buFont typeface="Arial" panose="020B0604020202020204" pitchFamily="34" charset="0"/>
              <a:buChar char="•"/>
            </a:pPr>
            <a:r>
              <a:rPr sz="2000" dirty="0">
                <a:latin typeface="+mj-lt"/>
                <a:cs typeface="Arial MT"/>
              </a:rPr>
              <a:t>How do they compare with file-based viruses?</a:t>
            </a:r>
            <a:endParaRPr lang="en-CA" sz="2000" dirty="0">
              <a:latin typeface="+mj-lt"/>
              <a:cs typeface="Arial MT"/>
            </a:endParaRPr>
          </a:p>
          <a:p>
            <a:pPr marL="437515" indent="-342900">
              <a:lnSpc>
                <a:spcPct val="100000"/>
              </a:lnSpc>
              <a:spcBef>
                <a:spcPts val="190"/>
              </a:spcBef>
              <a:buFont typeface="Arial" panose="020B0604020202020204" pitchFamily="34" charset="0"/>
              <a:buChar char="•"/>
            </a:pPr>
            <a:r>
              <a:rPr sz="2000" dirty="0">
                <a:latin typeface="+mj-lt"/>
                <a:cs typeface="Arial MT"/>
              </a:rPr>
              <a:t>What are the defenses against fileless viruses?</a:t>
            </a:r>
          </a:p>
          <a:p>
            <a:pPr marL="57785">
              <a:lnSpc>
                <a:spcPct val="100000"/>
              </a:lnSpc>
              <a:spcBef>
                <a:spcPts val="1290"/>
              </a:spcBef>
            </a:pPr>
            <a:r>
              <a:rPr sz="2400" b="1" dirty="0">
                <a:solidFill>
                  <a:srgbClr val="C00000"/>
                </a:solidFill>
                <a:latin typeface="+mj-lt"/>
                <a:cs typeface="Arial"/>
              </a:rPr>
              <a:t>Share </a:t>
            </a:r>
            <a:r>
              <a:rPr sz="2400" dirty="0">
                <a:latin typeface="+mj-lt"/>
                <a:cs typeface="Arial MT"/>
              </a:rPr>
              <a:t>interesting finding with your class on the respective discussion forum.</a:t>
            </a:r>
          </a:p>
          <a:p>
            <a:pPr marL="12700" marR="3781425">
              <a:lnSpc>
                <a:spcPct val="100000"/>
              </a:lnSpc>
              <a:spcBef>
                <a:spcPts val="1680"/>
              </a:spcBef>
            </a:pPr>
            <a:r>
              <a:rPr sz="1800" b="1" dirty="0">
                <a:latin typeface="+mj-lt"/>
                <a:cs typeface="Courier New"/>
              </a:rPr>
              <a:t>Fileless Viruses: </a:t>
            </a:r>
            <a:r>
              <a:rPr sz="1800" u="sng" dirty="0">
                <a:solidFill>
                  <a:srgbClr val="6B9F24"/>
                </a:solidFill>
                <a:uFill>
                  <a:solidFill>
                    <a:srgbClr val="6B9F24"/>
                  </a:solidFill>
                </a:uFill>
                <a:latin typeface="+mj-lt"/>
                <a:cs typeface="Courier New"/>
                <a:hlinkClick r:id="rId2"/>
              </a:rPr>
              <a:t>https://www.mcafee.com/enterprise/en-ca/security-</a:t>
            </a:r>
            <a:r>
              <a:rPr sz="1800" dirty="0">
                <a:solidFill>
                  <a:srgbClr val="6B9F24"/>
                </a:solidFill>
                <a:latin typeface="+mj-lt"/>
                <a:cs typeface="Courier New"/>
              </a:rPr>
              <a:t> </a:t>
            </a:r>
            <a:r>
              <a:rPr sz="1800" u="sng" dirty="0">
                <a:solidFill>
                  <a:srgbClr val="6B9F24"/>
                </a:solidFill>
                <a:uFill>
                  <a:solidFill>
                    <a:srgbClr val="6B9F24"/>
                  </a:solidFill>
                </a:uFill>
                <a:latin typeface="+mj-lt"/>
                <a:cs typeface="Courier New"/>
                <a:hlinkClick r:id="rId2"/>
              </a:rPr>
              <a:t>awareness/ransomware/what-is-fileless-malware.html</a:t>
            </a:r>
            <a:endParaRPr sz="1800" dirty="0">
              <a:latin typeface="+mj-lt"/>
              <a:cs typeface="Courier New"/>
            </a:endParaRPr>
          </a:p>
        </p:txBody>
      </p:sp>
      <p:grpSp>
        <p:nvGrpSpPr>
          <p:cNvPr id="4" name="object 4"/>
          <p:cNvGrpSpPr/>
          <p:nvPr/>
        </p:nvGrpSpPr>
        <p:grpSpPr>
          <a:xfrm>
            <a:off x="8220456" y="47244"/>
            <a:ext cx="3554729" cy="1407795"/>
            <a:chOff x="8220456" y="47244"/>
            <a:chExt cx="3554729" cy="1407795"/>
          </a:xfrm>
        </p:grpSpPr>
        <p:pic>
          <p:nvPicPr>
            <p:cNvPr id="5" name="object 5"/>
            <p:cNvPicPr/>
            <p:nvPr/>
          </p:nvPicPr>
          <p:blipFill>
            <a:blip r:embed="rId3" cstate="print"/>
            <a:stretch>
              <a:fillRect/>
            </a:stretch>
          </p:blipFill>
          <p:spPr>
            <a:xfrm>
              <a:off x="10386060" y="47244"/>
              <a:ext cx="1389126" cy="1389126"/>
            </a:xfrm>
            <a:prstGeom prst="rect">
              <a:avLst/>
            </a:prstGeom>
          </p:spPr>
        </p:pic>
        <p:pic>
          <p:nvPicPr>
            <p:cNvPr id="6" name="object 6"/>
            <p:cNvPicPr/>
            <p:nvPr/>
          </p:nvPicPr>
          <p:blipFill>
            <a:blip r:embed="rId4" cstate="print"/>
            <a:stretch>
              <a:fillRect/>
            </a:stretch>
          </p:blipFill>
          <p:spPr>
            <a:xfrm>
              <a:off x="11239586" y="381771"/>
              <a:ext cx="233640" cy="233768"/>
            </a:xfrm>
            <a:prstGeom prst="rect">
              <a:avLst/>
            </a:prstGeom>
          </p:spPr>
        </p:pic>
        <p:pic>
          <p:nvPicPr>
            <p:cNvPr id="7" name="object 7"/>
            <p:cNvPicPr/>
            <p:nvPr/>
          </p:nvPicPr>
          <p:blipFill>
            <a:blip r:embed="rId5" cstate="print"/>
            <a:stretch>
              <a:fillRect/>
            </a:stretch>
          </p:blipFill>
          <p:spPr>
            <a:xfrm>
              <a:off x="11239587" y="914244"/>
              <a:ext cx="233640" cy="233768"/>
            </a:xfrm>
            <a:prstGeom prst="rect">
              <a:avLst/>
            </a:prstGeom>
          </p:spPr>
        </p:pic>
        <p:sp>
          <p:nvSpPr>
            <p:cNvPr id="8" name="object 8"/>
            <p:cNvSpPr/>
            <p:nvPr/>
          </p:nvSpPr>
          <p:spPr>
            <a:xfrm>
              <a:off x="10694416" y="565378"/>
              <a:ext cx="525780" cy="386080"/>
            </a:xfrm>
            <a:custGeom>
              <a:avLst/>
              <a:gdLst/>
              <a:ahLst/>
              <a:cxnLst/>
              <a:rect l="l" t="t" r="r" b="b"/>
              <a:pathLst>
                <a:path w="525779" h="386080">
                  <a:moveTo>
                    <a:pt x="324497" y="199517"/>
                  </a:moveTo>
                  <a:lnTo>
                    <a:pt x="318668" y="156387"/>
                  </a:lnTo>
                  <a:lnTo>
                    <a:pt x="302298" y="117627"/>
                  </a:lnTo>
                  <a:lnTo>
                    <a:pt x="298488" y="112699"/>
                  </a:lnTo>
                  <a:lnTo>
                    <a:pt x="298488" y="199517"/>
                  </a:lnTo>
                  <a:lnTo>
                    <a:pt x="289826" y="247015"/>
                  </a:lnTo>
                  <a:lnTo>
                    <a:pt x="289737" y="247497"/>
                  </a:lnTo>
                  <a:lnTo>
                    <a:pt x="263309" y="290703"/>
                  </a:lnTo>
                  <a:lnTo>
                    <a:pt x="254673" y="268973"/>
                  </a:lnTo>
                  <a:lnTo>
                    <a:pt x="241642" y="249910"/>
                  </a:lnTo>
                  <a:lnTo>
                    <a:pt x="240741" y="249072"/>
                  </a:lnTo>
                  <a:lnTo>
                    <a:pt x="240741" y="310807"/>
                  </a:lnTo>
                  <a:lnTo>
                    <a:pt x="202996" y="329615"/>
                  </a:lnTo>
                  <a:lnTo>
                    <a:pt x="162255" y="335876"/>
                  </a:lnTo>
                  <a:lnTo>
                    <a:pt x="121513" y="329615"/>
                  </a:lnTo>
                  <a:lnTo>
                    <a:pt x="83769" y="310807"/>
                  </a:lnTo>
                  <a:lnTo>
                    <a:pt x="112001" y="257454"/>
                  </a:lnTo>
                  <a:lnTo>
                    <a:pt x="169684" y="239699"/>
                  </a:lnTo>
                  <a:lnTo>
                    <a:pt x="196176" y="247015"/>
                  </a:lnTo>
                  <a:lnTo>
                    <a:pt x="217995" y="262458"/>
                  </a:lnTo>
                  <a:lnTo>
                    <a:pt x="233438" y="284302"/>
                  </a:lnTo>
                  <a:lnTo>
                    <a:pt x="240741" y="310807"/>
                  </a:lnTo>
                  <a:lnTo>
                    <a:pt x="240741" y="249072"/>
                  </a:lnTo>
                  <a:lnTo>
                    <a:pt x="230708" y="239699"/>
                  </a:lnTo>
                  <a:lnTo>
                    <a:pt x="224764" y="234149"/>
                  </a:lnTo>
                  <a:lnTo>
                    <a:pt x="204584" y="222338"/>
                  </a:lnTo>
                  <a:lnTo>
                    <a:pt x="211023" y="213334"/>
                  </a:lnTo>
                  <a:lnTo>
                    <a:pt x="218922" y="202285"/>
                  </a:lnTo>
                  <a:lnTo>
                    <a:pt x="224269" y="179082"/>
                  </a:lnTo>
                  <a:lnTo>
                    <a:pt x="220535" y="155575"/>
                  </a:lnTo>
                  <a:lnTo>
                    <a:pt x="211620" y="141084"/>
                  </a:lnTo>
                  <a:lnTo>
                    <a:pt x="207619" y="134581"/>
                  </a:lnTo>
                  <a:lnTo>
                    <a:pt x="198348" y="127952"/>
                  </a:lnTo>
                  <a:lnTo>
                    <a:pt x="198348" y="177228"/>
                  </a:lnTo>
                  <a:lnTo>
                    <a:pt x="195503" y="191274"/>
                  </a:lnTo>
                  <a:lnTo>
                    <a:pt x="187769" y="202755"/>
                  </a:lnTo>
                  <a:lnTo>
                    <a:pt x="176301" y="210489"/>
                  </a:lnTo>
                  <a:lnTo>
                    <a:pt x="162255" y="213334"/>
                  </a:lnTo>
                  <a:lnTo>
                    <a:pt x="148272" y="210489"/>
                  </a:lnTo>
                  <a:lnTo>
                    <a:pt x="136766" y="202755"/>
                  </a:lnTo>
                  <a:lnTo>
                    <a:pt x="136436" y="202285"/>
                  </a:lnTo>
                  <a:lnTo>
                    <a:pt x="129019" y="191274"/>
                  </a:lnTo>
                  <a:lnTo>
                    <a:pt x="126161" y="177228"/>
                  </a:lnTo>
                  <a:lnTo>
                    <a:pt x="128993" y="163169"/>
                  </a:lnTo>
                  <a:lnTo>
                    <a:pt x="136728" y="151676"/>
                  </a:lnTo>
                  <a:lnTo>
                    <a:pt x="148196" y="143929"/>
                  </a:lnTo>
                  <a:lnTo>
                    <a:pt x="162267" y="141084"/>
                  </a:lnTo>
                  <a:lnTo>
                    <a:pt x="176314" y="143929"/>
                  </a:lnTo>
                  <a:lnTo>
                    <a:pt x="187782" y="151676"/>
                  </a:lnTo>
                  <a:lnTo>
                    <a:pt x="195516" y="163169"/>
                  </a:lnTo>
                  <a:lnTo>
                    <a:pt x="198348" y="177228"/>
                  </a:lnTo>
                  <a:lnTo>
                    <a:pt x="198348" y="127952"/>
                  </a:lnTo>
                  <a:lnTo>
                    <a:pt x="187579" y="120243"/>
                  </a:lnTo>
                  <a:lnTo>
                    <a:pt x="164401" y="114896"/>
                  </a:lnTo>
                  <a:lnTo>
                    <a:pt x="140906" y="118630"/>
                  </a:lnTo>
                  <a:lnTo>
                    <a:pt x="119913" y="131559"/>
                  </a:lnTo>
                  <a:lnTo>
                    <a:pt x="106095" y="150901"/>
                  </a:lnTo>
                  <a:lnTo>
                    <a:pt x="105562" y="151676"/>
                  </a:lnTo>
                  <a:lnTo>
                    <a:pt x="100241" y="174802"/>
                  </a:lnTo>
                  <a:lnTo>
                    <a:pt x="103974" y="198310"/>
                  </a:lnTo>
                  <a:lnTo>
                    <a:pt x="116890" y="219303"/>
                  </a:lnTo>
                  <a:lnTo>
                    <a:pt x="117856" y="220357"/>
                  </a:lnTo>
                  <a:lnTo>
                    <a:pt x="118872" y="221361"/>
                  </a:lnTo>
                  <a:lnTo>
                    <a:pt x="119913" y="222338"/>
                  </a:lnTo>
                  <a:lnTo>
                    <a:pt x="99745" y="234149"/>
                  </a:lnTo>
                  <a:lnTo>
                    <a:pt x="82867" y="249910"/>
                  </a:lnTo>
                  <a:lnTo>
                    <a:pt x="69837" y="268973"/>
                  </a:lnTo>
                  <a:lnTo>
                    <a:pt x="61201" y="290703"/>
                  </a:lnTo>
                  <a:lnTo>
                    <a:pt x="37452" y="254076"/>
                  </a:lnTo>
                  <a:lnTo>
                    <a:pt x="26682" y="213334"/>
                  </a:lnTo>
                  <a:lnTo>
                    <a:pt x="28765" y="171640"/>
                  </a:lnTo>
                  <a:lnTo>
                    <a:pt x="43522" y="132168"/>
                  </a:lnTo>
                  <a:lnTo>
                    <a:pt x="70802" y="98094"/>
                  </a:lnTo>
                  <a:lnTo>
                    <a:pt x="107403" y="74320"/>
                  </a:lnTo>
                  <a:lnTo>
                    <a:pt x="148120" y="63563"/>
                  </a:lnTo>
                  <a:lnTo>
                    <a:pt x="189788" y="65633"/>
                  </a:lnTo>
                  <a:lnTo>
                    <a:pt x="229247" y="80403"/>
                  </a:lnTo>
                  <a:lnTo>
                    <a:pt x="263309" y="107696"/>
                  </a:lnTo>
                  <a:lnTo>
                    <a:pt x="289737" y="150901"/>
                  </a:lnTo>
                  <a:lnTo>
                    <a:pt x="298386" y="198310"/>
                  </a:lnTo>
                  <a:lnTo>
                    <a:pt x="298488" y="199517"/>
                  </a:lnTo>
                  <a:lnTo>
                    <a:pt x="298488" y="112699"/>
                  </a:lnTo>
                  <a:lnTo>
                    <a:pt x="276923" y="84785"/>
                  </a:lnTo>
                  <a:lnTo>
                    <a:pt x="249478" y="63563"/>
                  </a:lnTo>
                  <a:lnTo>
                    <a:pt x="244106" y="59397"/>
                  </a:lnTo>
                  <a:lnTo>
                    <a:pt x="205359" y="43014"/>
                  </a:lnTo>
                  <a:lnTo>
                    <a:pt x="162255" y="37185"/>
                  </a:lnTo>
                  <a:lnTo>
                    <a:pt x="118846" y="43014"/>
                  </a:lnTo>
                  <a:lnTo>
                    <a:pt x="119037" y="43014"/>
                  </a:lnTo>
                  <a:lnTo>
                    <a:pt x="80302" y="59397"/>
                  </a:lnTo>
                  <a:lnTo>
                    <a:pt x="47485" y="84785"/>
                  </a:lnTo>
                  <a:lnTo>
                    <a:pt x="22136" y="117627"/>
                  </a:lnTo>
                  <a:lnTo>
                    <a:pt x="5791" y="156387"/>
                  </a:lnTo>
                  <a:lnTo>
                    <a:pt x="165" y="198310"/>
                  </a:lnTo>
                  <a:lnTo>
                    <a:pt x="50" y="199199"/>
                  </a:lnTo>
                  <a:lnTo>
                    <a:pt x="0" y="199517"/>
                  </a:lnTo>
                  <a:lnTo>
                    <a:pt x="5803" y="242671"/>
                  </a:lnTo>
                  <a:lnTo>
                    <a:pt x="22161" y="281457"/>
                  </a:lnTo>
                  <a:lnTo>
                    <a:pt x="47523" y="314312"/>
                  </a:lnTo>
                  <a:lnTo>
                    <a:pt x="80365" y="339699"/>
                  </a:lnTo>
                  <a:lnTo>
                    <a:pt x="119126" y="356057"/>
                  </a:lnTo>
                  <a:lnTo>
                    <a:pt x="162255" y="361861"/>
                  </a:lnTo>
                  <a:lnTo>
                    <a:pt x="205384" y="356057"/>
                  </a:lnTo>
                  <a:lnTo>
                    <a:pt x="244144" y="339699"/>
                  </a:lnTo>
                  <a:lnTo>
                    <a:pt x="249072" y="335876"/>
                  </a:lnTo>
                  <a:lnTo>
                    <a:pt x="276987" y="314312"/>
                  </a:lnTo>
                  <a:lnTo>
                    <a:pt x="295211" y="290703"/>
                  </a:lnTo>
                  <a:lnTo>
                    <a:pt x="302348" y="281457"/>
                  </a:lnTo>
                  <a:lnTo>
                    <a:pt x="318706" y="242671"/>
                  </a:lnTo>
                  <a:lnTo>
                    <a:pt x="324497" y="199517"/>
                  </a:lnTo>
                  <a:close/>
                </a:path>
                <a:path w="525779" h="386080">
                  <a:moveTo>
                    <a:pt x="525741" y="363613"/>
                  </a:moveTo>
                  <a:lnTo>
                    <a:pt x="369989" y="272719"/>
                  </a:lnTo>
                  <a:lnTo>
                    <a:pt x="356908" y="295148"/>
                  </a:lnTo>
                  <a:lnTo>
                    <a:pt x="512660" y="386054"/>
                  </a:lnTo>
                  <a:lnTo>
                    <a:pt x="525741" y="363613"/>
                  </a:lnTo>
                  <a:close/>
                </a:path>
                <a:path w="525779" h="386080">
                  <a:moveTo>
                    <a:pt x="525741" y="22428"/>
                  </a:moveTo>
                  <a:lnTo>
                    <a:pt x="512660" y="0"/>
                  </a:lnTo>
                  <a:lnTo>
                    <a:pt x="356895" y="90906"/>
                  </a:lnTo>
                  <a:lnTo>
                    <a:pt x="369989" y="113334"/>
                  </a:lnTo>
                  <a:lnTo>
                    <a:pt x="525741" y="22428"/>
                  </a:lnTo>
                  <a:close/>
                </a:path>
              </a:pathLst>
            </a:custGeom>
            <a:solidFill>
              <a:srgbClr val="000000"/>
            </a:solidFill>
          </p:spPr>
          <p:txBody>
            <a:bodyPr wrap="square" lIns="0" tIns="0" rIns="0" bIns="0" rtlCol="0"/>
            <a:lstStyle/>
            <a:p>
              <a:endParaRPr>
                <a:latin typeface="+mj-lt"/>
              </a:endParaRPr>
            </a:p>
          </p:txBody>
        </p:sp>
        <p:pic>
          <p:nvPicPr>
            <p:cNvPr id="9" name="object 9"/>
            <p:cNvPicPr/>
            <p:nvPr/>
          </p:nvPicPr>
          <p:blipFill>
            <a:blip r:embed="rId6" cstate="print"/>
            <a:stretch>
              <a:fillRect/>
            </a:stretch>
          </p:blipFill>
          <p:spPr>
            <a:xfrm>
              <a:off x="8220456" y="65532"/>
              <a:ext cx="1389126" cy="1389125"/>
            </a:xfrm>
            <a:prstGeom prst="rect">
              <a:avLst/>
            </a:prstGeom>
          </p:spPr>
        </p:pic>
        <p:sp>
          <p:nvSpPr>
            <p:cNvPr id="10" name="object 10"/>
            <p:cNvSpPr/>
            <p:nvPr/>
          </p:nvSpPr>
          <p:spPr>
            <a:xfrm>
              <a:off x="8606764" y="310416"/>
              <a:ext cx="447040" cy="497840"/>
            </a:xfrm>
            <a:custGeom>
              <a:avLst/>
              <a:gdLst/>
              <a:ahLst/>
              <a:cxnLst/>
              <a:rect l="l" t="t" r="r" b="b"/>
              <a:pathLst>
                <a:path w="447040" h="497840">
                  <a:moveTo>
                    <a:pt x="166388" y="392429"/>
                  </a:moveTo>
                  <a:lnTo>
                    <a:pt x="139873" y="392429"/>
                  </a:lnTo>
                  <a:lnTo>
                    <a:pt x="155479" y="435609"/>
                  </a:lnTo>
                  <a:lnTo>
                    <a:pt x="174769" y="469899"/>
                  </a:lnTo>
                  <a:lnTo>
                    <a:pt x="197046" y="491489"/>
                  </a:lnTo>
                  <a:lnTo>
                    <a:pt x="221614" y="497839"/>
                  </a:lnTo>
                  <a:lnTo>
                    <a:pt x="246224" y="490219"/>
                  </a:lnTo>
                  <a:lnTo>
                    <a:pt x="263328" y="473710"/>
                  </a:lnTo>
                  <a:lnTo>
                    <a:pt x="221614" y="473709"/>
                  </a:lnTo>
                  <a:lnTo>
                    <a:pt x="206968" y="467359"/>
                  </a:lnTo>
                  <a:lnTo>
                    <a:pt x="191633" y="450849"/>
                  </a:lnTo>
                  <a:lnTo>
                    <a:pt x="176830" y="422909"/>
                  </a:lnTo>
                  <a:lnTo>
                    <a:pt x="166388" y="392429"/>
                  </a:lnTo>
                  <a:close/>
                </a:path>
                <a:path w="447040" h="497840">
                  <a:moveTo>
                    <a:pt x="310506" y="361950"/>
                  </a:moveTo>
                  <a:lnTo>
                    <a:pt x="223367" y="361949"/>
                  </a:lnTo>
                  <a:lnTo>
                    <a:pt x="237213" y="368299"/>
                  </a:lnTo>
                  <a:lnTo>
                    <a:pt x="251229" y="373380"/>
                  </a:lnTo>
                  <a:lnTo>
                    <a:pt x="265405" y="379730"/>
                  </a:lnTo>
                  <a:lnTo>
                    <a:pt x="279732" y="383540"/>
                  </a:lnTo>
                  <a:lnTo>
                    <a:pt x="266636" y="421640"/>
                  </a:lnTo>
                  <a:lnTo>
                    <a:pt x="251736" y="449579"/>
                  </a:lnTo>
                  <a:lnTo>
                    <a:pt x="236305" y="467359"/>
                  </a:lnTo>
                  <a:lnTo>
                    <a:pt x="221614" y="473709"/>
                  </a:lnTo>
                  <a:lnTo>
                    <a:pt x="263328" y="473710"/>
                  </a:lnTo>
                  <a:lnTo>
                    <a:pt x="268591" y="468630"/>
                  </a:lnTo>
                  <a:lnTo>
                    <a:pt x="287965" y="435610"/>
                  </a:lnTo>
                  <a:lnTo>
                    <a:pt x="303594" y="391160"/>
                  </a:lnTo>
                  <a:lnTo>
                    <a:pt x="417310" y="391160"/>
                  </a:lnTo>
                  <a:lnTo>
                    <a:pt x="427230" y="386080"/>
                  </a:lnTo>
                  <a:lnTo>
                    <a:pt x="435501" y="375920"/>
                  </a:lnTo>
                  <a:lnTo>
                    <a:pt x="370884" y="375920"/>
                  </a:lnTo>
                  <a:lnTo>
                    <a:pt x="339930" y="373380"/>
                  </a:lnTo>
                  <a:lnTo>
                    <a:pt x="324643" y="370840"/>
                  </a:lnTo>
                  <a:lnTo>
                    <a:pt x="309543" y="367030"/>
                  </a:lnTo>
                  <a:lnTo>
                    <a:pt x="310506" y="361950"/>
                  </a:lnTo>
                  <a:close/>
                </a:path>
                <a:path w="447040" h="497840">
                  <a:moveTo>
                    <a:pt x="72344" y="96519"/>
                  </a:moveTo>
                  <a:lnTo>
                    <a:pt x="30878" y="104139"/>
                  </a:lnTo>
                  <a:lnTo>
                    <a:pt x="0" y="149859"/>
                  </a:lnTo>
                  <a:lnTo>
                    <a:pt x="7934" y="180339"/>
                  </a:lnTo>
                  <a:lnTo>
                    <a:pt x="28170" y="214629"/>
                  </a:lnTo>
                  <a:lnTo>
                    <a:pt x="59407" y="250189"/>
                  </a:lnTo>
                  <a:lnTo>
                    <a:pt x="29813" y="285749"/>
                  </a:lnTo>
                  <a:lnTo>
                    <a:pt x="10764" y="318769"/>
                  </a:lnTo>
                  <a:lnTo>
                    <a:pt x="3475" y="349249"/>
                  </a:lnTo>
                  <a:lnTo>
                    <a:pt x="9164" y="373379"/>
                  </a:lnTo>
                  <a:lnTo>
                    <a:pt x="19497" y="386079"/>
                  </a:lnTo>
                  <a:lnTo>
                    <a:pt x="34372" y="393699"/>
                  </a:lnTo>
                  <a:lnTo>
                    <a:pt x="53312" y="398779"/>
                  </a:lnTo>
                  <a:lnTo>
                    <a:pt x="75838" y="401319"/>
                  </a:lnTo>
                  <a:lnTo>
                    <a:pt x="108123" y="398779"/>
                  </a:lnTo>
                  <a:lnTo>
                    <a:pt x="124087" y="394969"/>
                  </a:lnTo>
                  <a:lnTo>
                    <a:pt x="139873" y="392429"/>
                  </a:lnTo>
                  <a:lnTo>
                    <a:pt x="166388" y="392429"/>
                  </a:lnTo>
                  <a:lnTo>
                    <a:pt x="163778" y="384809"/>
                  </a:lnTo>
                  <a:lnTo>
                    <a:pt x="190185" y="375919"/>
                  </a:lnTo>
                  <a:lnTo>
                    <a:pt x="75881" y="375919"/>
                  </a:lnTo>
                  <a:lnTo>
                    <a:pt x="36818" y="367029"/>
                  </a:lnTo>
                  <a:lnTo>
                    <a:pt x="28568" y="345439"/>
                  </a:lnTo>
                  <a:lnTo>
                    <a:pt x="35662" y="323849"/>
                  </a:lnTo>
                  <a:lnTo>
                    <a:pt x="51992" y="297179"/>
                  </a:lnTo>
                  <a:lnTo>
                    <a:pt x="77471" y="267969"/>
                  </a:lnTo>
                  <a:lnTo>
                    <a:pt x="116620" y="267969"/>
                  </a:lnTo>
                  <a:lnTo>
                    <a:pt x="115193" y="266699"/>
                  </a:lnTo>
                  <a:lnTo>
                    <a:pt x="108325" y="261619"/>
                  </a:lnTo>
                  <a:lnTo>
                    <a:pt x="101722" y="256539"/>
                  </a:lnTo>
                  <a:lnTo>
                    <a:pt x="95384" y="250189"/>
                  </a:lnTo>
                  <a:lnTo>
                    <a:pt x="101678" y="245109"/>
                  </a:lnTo>
                  <a:lnTo>
                    <a:pt x="108258" y="238759"/>
                  </a:lnTo>
                  <a:lnTo>
                    <a:pt x="115118" y="233679"/>
                  </a:lnTo>
                  <a:lnTo>
                    <a:pt x="77244" y="233679"/>
                  </a:lnTo>
                  <a:lnTo>
                    <a:pt x="50214" y="203199"/>
                  </a:lnTo>
                  <a:lnTo>
                    <a:pt x="32808" y="175259"/>
                  </a:lnTo>
                  <a:lnTo>
                    <a:pt x="25127" y="152399"/>
                  </a:lnTo>
                  <a:lnTo>
                    <a:pt x="27271" y="137159"/>
                  </a:lnTo>
                  <a:lnTo>
                    <a:pt x="33287" y="130809"/>
                  </a:lnTo>
                  <a:lnTo>
                    <a:pt x="43071" y="125729"/>
                  </a:lnTo>
                  <a:lnTo>
                    <a:pt x="56227" y="123189"/>
                  </a:lnTo>
                  <a:lnTo>
                    <a:pt x="72355" y="121919"/>
                  </a:lnTo>
                  <a:lnTo>
                    <a:pt x="186274" y="121919"/>
                  </a:lnTo>
                  <a:lnTo>
                    <a:pt x="163518" y="114299"/>
                  </a:lnTo>
                  <a:lnTo>
                    <a:pt x="166128" y="106679"/>
                  </a:lnTo>
                  <a:lnTo>
                    <a:pt x="139645" y="106679"/>
                  </a:lnTo>
                  <a:lnTo>
                    <a:pt x="123070" y="102869"/>
                  </a:lnTo>
                  <a:lnTo>
                    <a:pt x="89370" y="97789"/>
                  </a:lnTo>
                  <a:lnTo>
                    <a:pt x="72344" y="96519"/>
                  </a:lnTo>
                  <a:close/>
                </a:path>
                <a:path w="447040" h="497840">
                  <a:moveTo>
                    <a:pt x="417310" y="391160"/>
                  </a:moveTo>
                  <a:lnTo>
                    <a:pt x="303594" y="391160"/>
                  </a:lnTo>
                  <a:lnTo>
                    <a:pt x="320163" y="394970"/>
                  </a:lnTo>
                  <a:lnTo>
                    <a:pt x="353854" y="400050"/>
                  </a:lnTo>
                  <a:lnTo>
                    <a:pt x="370874" y="401320"/>
                  </a:lnTo>
                  <a:lnTo>
                    <a:pt x="393406" y="398780"/>
                  </a:lnTo>
                  <a:lnTo>
                    <a:pt x="412350" y="393700"/>
                  </a:lnTo>
                  <a:lnTo>
                    <a:pt x="417310" y="391160"/>
                  </a:lnTo>
                  <a:close/>
                </a:path>
                <a:path w="447040" h="497840">
                  <a:moveTo>
                    <a:pt x="116620" y="267969"/>
                  </a:moveTo>
                  <a:lnTo>
                    <a:pt x="77471" y="267969"/>
                  </a:lnTo>
                  <a:lnTo>
                    <a:pt x="88820" y="278129"/>
                  </a:lnTo>
                  <a:lnTo>
                    <a:pt x="100439" y="287019"/>
                  </a:lnTo>
                  <a:lnTo>
                    <a:pt x="112324" y="295909"/>
                  </a:lnTo>
                  <a:lnTo>
                    <a:pt x="124470" y="304799"/>
                  </a:lnTo>
                  <a:lnTo>
                    <a:pt x="126125" y="321309"/>
                  </a:lnTo>
                  <a:lnTo>
                    <a:pt x="128250" y="336549"/>
                  </a:lnTo>
                  <a:lnTo>
                    <a:pt x="130846" y="351789"/>
                  </a:lnTo>
                  <a:lnTo>
                    <a:pt x="133913" y="367029"/>
                  </a:lnTo>
                  <a:lnTo>
                    <a:pt x="119607" y="370839"/>
                  </a:lnTo>
                  <a:lnTo>
                    <a:pt x="105140" y="373379"/>
                  </a:lnTo>
                  <a:lnTo>
                    <a:pt x="75881" y="375919"/>
                  </a:lnTo>
                  <a:lnTo>
                    <a:pt x="190185" y="375919"/>
                  </a:lnTo>
                  <a:lnTo>
                    <a:pt x="193933" y="374649"/>
                  </a:lnTo>
                  <a:lnTo>
                    <a:pt x="223367" y="361949"/>
                  </a:lnTo>
                  <a:lnTo>
                    <a:pt x="310506" y="361950"/>
                  </a:lnTo>
                  <a:lnTo>
                    <a:pt x="310746" y="360680"/>
                  </a:lnTo>
                  <a:lnTo>
                    <a:pt x="157828" y="360679"/>
                  </a:lnTo>
                  <a:lnTo>
                    <a:pt x="156014" y="351789"/>
                  </a:lnTo>
                  <a:lnTo>
                    <a:pt x="154341" y="342899"/>
                  </a:lnTo>
                  <a:lnTo>
                    <a:pt x="152816" y="332739"/>
                  </a:lnTo>
                  <a:lnTo>
                    <a:pt x="151447" y="322579"/>
                  </a:lnTo>
                  <a:lnTo>
                    <a:pt x="199872" y="322579"/>
                  </a:lnTo>
                  <a:lnTo>
                    <a:pt x="194000" y="318769"/>
                  </a:lnTo>
                  <a:lnTo>
                    <a:pt x="184232" y="313689"/>
                  </a:lnTo>
                  <a:lnTo>
                    <a:pt x="174822" y="308609"/>
                  </a:lnTo>
                  <a:lnTo>
                    <a:pt x="165703" y="302259"/>
                  </a:lnTo>
                  <a:lnTo>
                    <a:pt x="156867" y="297179"/>
                  </a:lnTo>
                  <a:lnTo>
                    <a:pt x="148310" y="290829"/>
                  </a:lnTo>
                  <a:lnTo>
                    <a:pt x="147677" y="280669"/>
                  </a:lnTo>
                  <a:lnTo>
                    <a:pt x="147560" y="278129"/>
                  </a:lnTo>
                  <a:lnTo>
                    <a:pt x="147444" y="275589"/>
                  </a:lnTo>
                  <a:lnTo>
                    <a:pt x="147328" y="273049"/>
                  </a:lnTo>
                  <a:lnTo>
                    <a:pt x="122328" y="273049"/>
                  </a:lnTo>
                  <a:lnTo>
                    <a:pt x="116620" y="267969"/>
                  </a:lnTo>
                  <a:close/>
                </a:path>
                <a:path w="447040" h="497840">
                  <a:moveTo>
                    <a:pt x="402128" y="267970"/>
                  </a:moveTo>
                  <a:lnTo>
                    <a:pt x="369305" y="267970"/>
                  </a:lnTo>
                  <a:lnTo>
                    <a:pt x="394766" y="297180"/>
                  </a:lnTo>
                  <a:lnTo>
                    <a:pt x="411090" y="323850"/>
                  </a:lnTo>
                  <a:lnTo>
                    <a:pt x="418190" y="345440"/>
                  </a:lnTo>
                  <a:lnTo>
                    <a:pt x="415979" y="360680"/>
                  </a:lnTo>
                  <a:lnTo>
                    <a:pt x="409958" y="367030"/>
                  </a:lnTo>
                  <a:lnTo>
                    <a:pt x="400173" y="372110"/>
                  </a:lnTo>
                  <a:lnTo>
                    <a:pt x="387018" y="374650"/>
                  </a:lnTo>
                  <a:lnTo>
                    <a:pt x="370884" y="375920"/>
                  </a:lnTo>
                  <a:lnTo>
                    <a:pt x="435501" y="375920"/>
                  </a:lnTo>
                  <a:lnTo>
                    <a:pt x="437569" y="373380"/>
                  </a:lnTo>
                  <a:lnTo>
                    <a:pt x="443257" y="349250"/>
                  </a:lnTo>
                  <a:lnTo>
                    <a:pt x="435967" y="318770"/>
                  </a:lnTo>
                  <a:lnTo>
                    <a:pt x="416920" y="285750"/>
                  </a:lnTo>
                  <a:lnTo>
                    <a:pt x="402128" y="267970"/>
                  </a:lnTo>
                  <a:close/>
                </a:path>
                <a:path w="447040" h="497840">
                  <a:moveTo>
                    <a:pt x="199872" y="322579"/>
                  </a:moveTo>
                  <a:lnTo>
                    <a:pt x="151447" y="322579"/>
                  </a:lnTo>
                  <a:lnTo>
                    <a:pt x="158045" y="327659"/>
                  </a:lnTo>
                  <a:lnTo>
                    <a:pt x="164816" y="331469"/>
                  </a:lnTo>
                  <a:lnTo>
                    <a:pt x="179170" y="339089"/>
                  </a:lnTo>
                  <a:lnTo>
                    <a:pt x="186601" y="344169"/>
                  </a:lnTo>
                  <a:lnTo>
                    <a:pt x="194010" y="347979"/>
                  </a:lnTo>
                  <a:lnTo>
                    <a:pt x="184831" y="351789"/>
                  </a:lnTo>
                  <a:lnTo>
                    <a:pt x="175733" y="354329"/>
                  </a:lnTo>
                  <a:lnTo>
                    <a:pt x="166728" y="358139"/>
                  </a:lnTo>
                  <a:lnTo>
                    <a:pt x="157828" y="360679"/>
                  </a:lnTo>
                  <a:lnTo>
                    <a:pt x="310746" y="360680"/>
                  </a:lnTo>
                  <a:lnTo>
                    <a:pt x="310987" y="359410"/>
                  </a:lnTo>
                  <a:lnTo>
                    <a:pt x="285617" y="359410"/>
                  </a:lnTo>
                  <a:lnTo>
                    <a:pt x="269325" y="354330"/>
                  </a:lnTo>
                  <a:lnTo>
                    <a:pt x="261062" y="350520"/>
                  </a:lnTo>
                  <a:lnTo>
                    <a:pt x="252734" y="347980"/>
                  </a:lnTo>
                  <a:lnTo>
                    <a:pt x="260143" y="344170"/>
                  </a:lnTo>
                  <a:lnTo>
                    <a:pt x="267553" y="339090"/>
                  </a:lnTo>
                  <a:lnTo>
                    <a:pt x="277980" y="334010"/>
                  </a:lnTo>
                  <a:lnTo>
                    <a:pt x="223334" y="334009"/>
                  </a:lnTo>
                  <a:lnTo>
                    <a:pt x="213572" y="330199"/>
                  </a:lnTo>
                  <a:lnTo>
                    <a:pt x="203787" y="325119"/>
                  </a:lnTo>
                  <a:lnTo>
                    <a:pt x="199872" y="322579"/>
                  </a:lnTo>
                  <a:close/>
                </a:path>
                <a:path w="447040" h="497840">
                  <a:moveTo>
                    <a:pt x="316593" y="325120"/>
                  </a:moveTo>
                  <a:lnTo>
                    <a:pt x="291468" y="325120"/>
                  </a:lnTo>
                  <a:lnTo>
                    <a:pt x="290185" y="334010"/>
                  </a:lnTo>
                  <a:lnTo>
                    <a:pt x="288783" y="342900"/>
                  </a:lnTo>
                  <a:lnTo>
                    <a:pt x="287264" y="351790"/>
                  </a:lnTo>
                  <a:lnTo>
                    <a:pt x="285627" y="359410"/>
                  </a:lnTo>
                  <a:lnTo>
                    <a:pt x="310987" y="359410"/>
                  </a:lnTo>
                  <a:lnTo>
                    <a:pt x="312431" y="351790"/>
                  </a:lnTo>
                  <a:lnTo>
                    <a:pt x="314895" y="337820"/>
                  </a:lnTo>
                  <a:lnTo>
                    <a:pt x="316593" y="325120"/>
                  </a:lnTo>
                  <a:close/>
                </a:path>
                <a:path w="447040" h="497840">
                  <a:moveTo>
                    <a:pt x="276201" y="165100"/>
                  </a:moveTo>
                  <a:lnTo>
                    <a:pt x="223334" y="165099"/>
                  </a:lnTo>
                  <a:lnTo>
                    <a:pt x="232254" y="170179"/>
                  </a:lnTo>
                  <a:lnTo>
                    <a:pt x="241176" y="173990"/>
                  </a:lnTo>
                  <a:lnTo>
                    <a:pt x="258986" y="184150"/>
                  </a:lnTo>
                  <a:lnTo>
                    <a:pt x="268415" y="189230"/>
                  </a:lnTo>
                  <a:lnTo>
                    <a:pt x="277539" y="195580"/>
                  </a:lnTo>
                  <a:lnTo>
                    <a:pt x="286359" y="200660"/>
                  </a:lnTo>
                  <a:lnTo>
                    <a:pt x="294876" y="207010"/>
                  </a:lnTo>
                  <a:lnTo>
                    <a:pt x="295504" y="217170"/>
                  </a:lnTo>
                  <a:lnTo>
                    <a:pt x="295395" y="283210"/>
                  </a:lnTo>
                  <a:lnTo>
                    <a:pt x="262436" y="313690"/>
                  </a:lnTo>
                  <a:lnTo>
                    <a:pt x="252688" y="318770"/>
                  </a:lnTo>
                  <a:lnTo>
                    <a:pt x="242910" y="325119"/>
                  </a:lnTo>
                  <a:lnTo>
                    <a:pt x="233119" y="330199"/>
                  </a:lnTo>
                  <a:lnTo>
                    <a:pt x="223334" y="334009"/>
                  </a:lnTo>
                  <a:lnTo>
                    <a:pt x="277980" y="334010"/>
                  </a:lnTo>
                  <a:lnTo>
                    <a:pt x="280587" y="332740"/>
                  </a:lnTo>
                  <a:lnTo>
                    <a:pt x="291468" y="325120"/>
                  </a:lnTo>
                  <a:lnTo>
                    <a:pt x="316593" y="325120"/>
                  </a:lnTo>
                  <a:lnTo>
                    <a:pt x="316933" y="322580"/>
                  </a:lnTo>
                  <a:lnTo>
                    <a:pt x="318543" y="307340"/>
                  </a:lnTo>
                  <a:lnTo>
                    <a:pt x="331685" y="298450"/>
                  </a:lnTo>
                  <a:lnTo>
                    <a:pt x="344532" y="288290"/>
                  </a:lnTo>
                  <a:lnTo>
                    <a:pt x="357075" y="278130"/>
                  </a:lnTo>
                  <a:lnTo>
                    <a:pt x="360132" y="275590"/>
                  </a:lnTo>
                  <a:lnTo>
                    <a:pt x="320803" y="275590"/>
                  </a:lnTo>
                  <a:lnTo>
                    <a:pt x="320901" y="224790"/>
                  </a:lnTo>
                  <a:lnTo>
                    <a:pt x="359997" y="224790"/>
                  </a:lnTo>
                  <a:lnTo>
                    <a:pt x="357289" y="222250"/>
                  </a:lnTo>
                  <a:lnTo>
                    <a:pt x="344772" y="212090"/>
                  </a:lnTo>
                  <a:lnTo>
                    <a:pt x="331936" y="201930"/>
                  </a:lnTo>
                  <a:lnTo>
                    <a:pt x="318791" y="193040"/>
                  </a:lnTo>
                  <a:lnTo>
                    <a:pt x="317194" y="177800"/>
                  </a:lnTo>
                  <a:lnTo>
                    <a:pt x="316852" y="175260"/>
                  </a:lnTo>
                  <a:lnTo>
                    <a:pt x="291793" y="175260"/>
                  </a:lnTo>
                  <a:lnTo>
                    <a:pt x="285184" y="170180"/>
                  </a:lnTo>
                  <a:lnTo>
                    <a:pt x="276201" y="165100"/>
                  </a:lnTo>
                  <a:close/>
                </a:path>
                <a:path w="447040" h="497840">
                  <a:moveTo>
                    <a:pt x="359997" y="224790"/>
                  </a:moveTo>
                  <a:lnTo>
                    <a:pt x="320901" y="224790"/>
                  </a:lnTo>
                  <a:lnTo>
                    <a:pt x="329030" y="231140"/>
                  </a:lnTo>
                  <a:lnTo>
                    <a:pt x="336817" y="237490"/>
                  </a:lnTo>
                  <a:lnTo>
                    <a:pt x="344255" y="243840"/>
                  </a:lnTo>
                  <a:lnTo>
                    <a:pt x="351339" y="250190"/>
                  </a:lnTo>
                  <a:lnTo>
                    <a:pt x="344222" y="256540"/>
                  </a:lnTo>
                  <a:lnTo>
                    <a:pt x="336761" y="262890"/>
                  </a:lnTo>
                  <a:lnTo>
                    <a:pt x="328954" y="269240"/>
                  </a:lnTo>
                  <a:lnTo>
                    <a:pt x="320803" y="275590"/>
                  </a:lnTo>
                  <a:lnTo>
                    <a:pt x="360132" y="275590"/>
                  </a:lnTo>
                  <a:lnTo>
                    <a:pt x="369305" y="267970"/>
                  </a:lnTo>
                  <a:lnTo>
                    <a:pt x="402128" y="267970"/>
                  </a:lnTo>
                  <a:lnTo>
                    <a:pt x="387337" y="250190"/>
                  </a:lnTo>
                  <a:lnTo>
                    <a:pt x="401840" y="233680"/>
                  </a:lnTo>
                  <a:lnTo>
                    <a:pt x="369478" y="233680"/>
                  </a:lnTo>
                  <a:lnTo>
                    <a:pt x="359997" y="224790"/>
                  </a:lnTo>
                  <a:close/>
                </a:path>
                <a:path w="447040" h="497840">
                  <a:moveTo>
                    <a:pt x="147192" y="227329"/>
                  </a:moveTo>
                  <a:lnTo>
                    <a:pt x="122252" y="227329"/>
                  </a:lnTo>
                  <a:lnTo>
                    <a:pt x="122328" y="273049"/>
                  </a:lnTo>
                  <a:lnTo>
                    <a:pt x="147328" y="273049"/>
                  </a:lnTo>
                  <a:lnTo>
                    <a:pt x="147212" y="270509"/>
                  </a:lnTo>
                  <a:lnTo>
                    <a:pt x="147192" y="227329"/>
                  </a:lnTo>
                  <a:close/>
                </a:path>
                <a:path w="447040" h="497840">
                  <a:moveTo>
                    <a:pt x="186274" y="121919"/>
                  </a:moveTo>
                  <a:lnTo>
                    <a:pt x="72355" y="121919"/>
                  </a:lnTo>
                  <a:lnTo>
                    <a:pt x="103311" y="124459"/>
                  </a:lnTo>
                  <a:lnTo>
                    <a:pt x="118601" y="126999"/>
                  </a:lnTo>
                  <a:lnTo>
                    <a:pt x="133707" y="130809"/>
                  </a:lnTo>
                  <a:lnTo>
                    <a:pt x="130582" y="147319"/>
                  </a:lnTo>
                  <a:lnTo>
                    <a:pt x="127955" y="162559"/>
                  </a:lnTo>
                  <a:lnTo>
                    <a:pt x="125828" y="179069"/>
                  </a:lnTo>
                  <a:lnTo>
                    <a:pt x="124199" y="195579"/>
                  </a:lnTo>
                  <a:lnTo>
                    <a:pt x="112050" y="204469"/>
                  </a:lnTo>
                  <a:lnTo>
                    <a:pt x="100170" y="213359"/>
                  </a:lnTo>
                  <a:lnTo>
                    <a:pt x="88566" y="223519"/>
                  </a:lnTo>
                  <a:lnTo>
                    <a:pt x="77244" y="233679"/>
                  </a:lnTo>
                  <a:lnTo>
                    <a:pt x="115118" y="233679"/>
                  </a:lnTo>
                  <a:lnTo>
                    <a:pt x="122252" y="227329"/>
                  </a:lnTo>
                  <a:lnTo>
                    <a:pt x="147192" y="227329"/>
                  </a:lnTo>
                  <a:lnTo>
                    <a:pt x="177253" y="190499"/>
                  </a:lnTo>
                  <a:lnTo>
                    <a:pt x="201036" y="176529"/>
                  </a:lnTo>
                  <a:lnTo>
                    <a:pt x="151122" y="176529"/>
                  </a:lnTo>
                  <a:lnTo>
                    <a:pt x="152509" y="166369"/>
                  </a:lnTo>
                  <a:lnTo>
                    <a:pt x="154072" y="157479"/>
                  </a:lnTo>
                  <a:lnTo>
                    <a:pt x="155786" y="147319"/>
                  </a:lnTo>
                  <a:lnTo>
                    <a:pt x="157623" y="138429"/>
                  </a:lnTo>
                  <a:lnTo>
                    <a:pt x="310931" y="138430"/>
                  </a:lnTo>
                  <a:lnTo>
                    <a:pt x="310686" y="137160"/>
                  </a:lnTo>
                  <a:lnTo>
                    <a:pt x="223367" y="137159"/>
                  </a:lnTo>
                  <a:lnTo>
                    <a:pt x="193803" y="124459"/>
                  </a:lnTo>
                  <a:lnTo>
                    <a:pt x="186274" y="121919"/>
                  </a:lnTo>
                  <a:close/>
                </a:path>
                <a:path w="447040" h="497840">
                  <a:moveTo>
                    <a:pt x="439028" y="121920"/>
                  </a:moveTo>
                  <a:lnTo>
                    <a:pt x="374367" y="121920"/>
                  </a:lnTo>
                  <a:lnTo>
                    <a:pt x="390520" y="123190"/>
                  </a:lnTo>
                  <a:lnTo>
                    <a:pt x="403676" y="125730"/>
                  </a:lnTo>
                  <a:lnTo>
                    <a:pt x="413452" y="130810"/>
                  </a:lnTo>
                  <a:lnTo>
                    <a:pt x="419462" y="137160"/>
                  </a:lnTo>
                  <a:lnTo>
                    <a:pt x="421612" y="152400"/>
                  </a:lnTo>
                  <a:lnTo>
                    <a:pt x="413940" y="175260"/>
                  </a:lnTo>
                  <a:lnTo>
                    <a:pt x="396533" y="201930"/>
                  </a:lnTo>
                  <a:lnTo>
                    <a:pt x="369478" y="233680"/>
                  </a:lnTo>
                  <a:lnTo>
                    <a:pt x="401840" y="233680"/>
                  </a:lnTo>
                  <a:lnTo>
                    <a:pt x="418574" y="214630"/>
                  </a:lnTo>
                  <a:lnTo>
                    <a:pt x="438813" y="180340"/>
                  </a:lnTo>
                  <a:lnTo>
                    <a:pt x="446754" y="149860"/>
                  </a:lnTo>
                  <a:lnTo>
                    <a:pt x="441095" y="124460"/>
                  </a:lnTo>
                  <a:lnTo>
                    <a:pt x="439028" y="121920"/>
                  </a:lnTo>
                  <a:close/>
                </a:path>
                <a:path w="447040" h="497840">
                  <a:moveTo>
                    <a:pt x="310931" y="138430"/>
                  </a:moveTo>
                  <a:lnTo>
                    <a:pt x="157623" y="138429"/>
                  </a:lnTo>
                  <a:lnTo>
                    <a:pt x="166684" y="140969"/>
                  </a:lnTo>
                  <a:lnTo>
                    <a:pt x="194443" y="152399"/>
                  </a:lnTo>
                  <a:lnTo>
                    <a:pt x="188050" y="154939"/>
                  </a:lnTo>
                  <a:lnTo>
                    <a:pt x="175243" y="162559"/>
                  </a:lnTo>
                  <a:lnTo>
                    <a:pt x="169088" y="166369"/>
                  </a:lnTo>
                  <a:lnTo>
                    <a:pt x="157028" y="173989"/>
                  </a:lnTo>
                  <a:lnTo>
                    <a:pt x="151122" y="176529"/>
                  </a:lnTo>
                  <a:lnTo>
                    <a:pt x="201036" y="176529"/>
                  </a:lnTo>
                  <a:lnTo>
                    <a:pt x="205491" y="173989"/>
                  </a:lnTo>
                  <a:lnTo>
                    <a:pt x="214417" y="170179"/>
                  </a:lnTo>
                  <a:lnTo>
                    <a:pt x="223334" y="165099"/>
                  </a:lnTo>
                  <a:lnTo>
                    <a:pt x="276201" y="165100"/>
                  </a:lnTo>
                  <a:lnTo>
                    <a:pt x="265086" y="158750"/>
                  </a:lnTo>
                  <a:lnTo>
                    <a:pt x="258672" y="154940"/>
                  </a:lnTo>
                  <a:lnTo>
                    <a:pt x="252290" y="152400"/>
                  </a:lnTo>
                  <a:lnTo>
                    <a:pt x="269208" y="144780"/>
                  </a:lnTo>
                  <a:lnTo>
                    <a:pt x="285833" y="139700"/>
                  </a:lnTo>
                  <a:lnTo>
                    <a:pt x="311176" y="139700"/>
                  </a:lnTo>
                  <a:lnTo>
                    <a:pt x="310931" y="138430"/>
                  </a:lnTo>
                  <a:close/>
                </a:path>
                <a:path w="447040" h="497840">
                  <a:moveTo>
                    <a:pt x="311176" y="139700"/>
                  </a:moveTo>
                  <a:lnTo>
                    <a:pt x="285833" y="139700"/>
                  </a:lnTo>
                  <a:lnTo>
                    <a:pt x="287520" y="147320"/>
                  </a:lnTo>
                  <a:lnTo>
                    <a:pt x="289076" y="156210"/>
                  </a:lnTo>
                  <a:lnTo>
                    <a:pt x="290501" y="165100"/>
                  </a:lnTo>
                  <a:lnTo>
                    <a:pt x="291793" y="175260"/>
                  </a:lnTo>
                  <a:lnTo>
                    <a:pt x="316852" y="175260"/>
                  </a:lnTo>
                  <a:lnTo>
                    <a:pt x="315145" y="162560"/>
                  </a:lnTo>
                  <a:lnTo>
                    <a:pt x="312648" y="147320"/>
                  </a:lnTo>
                  <a:lnTo>
                    <a:pt x="311176" y="139700"/>
                  </a:lnTo>
                  <a:close/>
                </a:path>
                <a:path w="447040" h="497840">
                  <a:moveTo>
                    <a:pt x="263478" y="24130"/>
                  </a:moveTo>
                  <a:lnTo>
                    <a:pt x="221614" y="24129"/>
                  </a:lnTo>
                  <a:lnTo>
                    <a:pt x="236448" y="30480"/>
                  </a:lnTo>
                  <a:lnTo>
                    <a:pt x="251970" y="48260"/>
                  </a:lnTo>
                  <a:lnTo>
                    <a:pt x="266914" y="76200"/>
                  </a:lnTo>
                  <a:lnTo>
                    <a:pt x="280013" y="114300"/>
                  </a:lnTo>
                  <a:lnTo>
                    <a:pt x="265613" y="119380"/>
                  </a:lnTo>
                  <a:lnTo>
                    <a:pt x="251365" y="125730"/>
                  </a:lnTo>
                  <a:lnTo>
                    <a:pt x="237280" y="130810"/>
                  </a:lnTo>
                  <a:lnTo>
                    <a:pt x="223367" y="137159"/>
                  </a:lnTo>
                  <a:lnTo>
                    <a:pt x="310686" y="137160"/>
                  </a:lnTo>
                  <a:lnTo>
                    <a:pt x="309705" y="132080"/>
                  </a:lnTo>
                  <a:lnTo>
                    <a:pt x="341724" y="124460"/>
                  </a:lnTo>
                  <a:lnTo>
                    <a:pt x="374367" y="121920"/>
                  </a:lnTo>
                  <a:lnTo>
                    <a:pt x="439028" y="121920"/>
                  </a:lnTo>
                  <a:lnTo>
                    <a:pt x="430756" y="111760"/>
                  </a:lnTo>
                  <a:lnTo>
                    <a:pt x="423316" y="107950"/>
                  </a:lnTo>
                  <a:lnTo>
                    <a:pt x="303875" y="107950"/>
                  </a:lnTo>
                  <a:lnTo>
                    <a:pt x="288219" y="63500"/>
                  </a:lnTo>
                  <a:lnTo>
                    <a:pt x="268763" y="29210"/>
                  </a:lnTo>
                  <a:lnTo>
                    <a:pt x="263478" y="24130"/>
                  </a:lnTo>
                  <a:close/>
                </a:path>
                <a:path w="447040" h="497840">
                  <a:moveTo>
                    <a:pt x="374400" y="96520"/>
                  </a:moveTo>
                  <a:lnTo>
                    <a:pt x="356541" y="97790"/>
                  </a:lnTo>
                  <a:lnTo>
                    <a:pt x="321222" y="102870"/>
                  </a:lnTo>
                  <a:lnTo>
                    <a:pt x="303875" y="107950"/>
                  </a:lnTo>
                  <a:lnTo>
                    <a:pt x="423316" y="107950"/>
                  </a:lnTo>
                  <a:lnTo>
                    <a:pt x="415876" y="104140"/>
                  </a:lnTo>
                  <a:lnTo>
                    <a:pt x="396932" y="99060"/>
                  </a:lnTo>
                  <a:lnTo>
                    <a:pt x="374400" y="96520"/>
                  </a:lnTo>
                  <a:close/>
                </a:path>
                <a:path w="447040" h="497840">
                  <a:moveTo>
                    <a:pt x="221636" y="0"/>
                  </a:moveTo>
                  <a:lnTo>
                    <a:pt x="197009" y="7619"/>
                  </a:lnTo>
                  <a:lnTo>
                    <a:pt x="174637" y="29209"/>
                  </a:lnTo>
                  <a:lnTo>
                    <a:pt x="155267" y="62229"/>
                  </a:lnTo>
                  <a:lnTo>
                    <a:pt x="139645" y="106679"/>
                  </a:lnTo>
                  <a:lnTo>
                    <a:pt x="166128" y="106679"/>
                  </a:lnTo>
                  <a:lnTo>
                    <a:pt x="176570" y="76199"/>
                  </a:lnTo>
                  <a:lnTo>
                    <a:pt x="191410" y="48259"/>
                  </a:lnTo>
                  <a:lnTo>
                    <a:pt x="206828" y="30479"/>
                  </a:lnTo>
                  <a:lnTo>
                    <a:pt x="221614" y="24129"/>
                  </a:lnTo>
                  <a:lnTo>
                    <a:pt x="263478" y="24130"/>
                  </a:lnTo>
                  <a:lnTo>
                    <a:pt x="246303" y="7620"/>
                  </a:lnTo>
                  <a:lnTo>
                    <a:pt x="221636" y="0"/>
                  </a:lnTo>
                  <a:close/>
                </a:path>
              </a:pathLst>
            </a:custGeom>
            <a:solidFill>
              <a:srgbClr val="000000"/>
            </a:solidFill>
          </p:spPr>
          <p:txBody>
            <a:bodyPr wrap="square" lIns="0" tIns="0" rIns="0" bIns="0" rtlCol="0"/>
            <a:lstStyle/>
            <a:p>
              <a:endParaRPr>
                <a:latin typeface="+mj-lt"/>
              </a:endParaRPr>
            </a:p>
          </p:txBody>
        </p:sp>
        <p:pic>
          <p:nvPicPr>
            <p:cNvPr id="11" name="object 11"/>
            <p:cNvPicPr/>
            <p:nvPr/>
          </p:nvPicPr>
          <p:blipFill>
            <a:blip r:embed="rId7" cstate="print"/>
            <a:stretch>
              <a:fillRect/>
            </a:stretch>
          </p:blipFill>
          <p:spPr>
            <a:xfrm>
              <a:off x="8791148" y="521305"/>
              <a:ext cx="74407" cy="74870"/>
            </a:xfrm>
            <a:prstGeom prst="rect">
              <a:avLst/>
            </a:prstGeom>
          </p:spPr>
        </p:pic>
        <p:sp>
          <p:nvSpPr>
            <p:cNvPr id="12" name="object 12"/>
            <p:cNvSpPr/>
            <p:nvPr/>
          </p:nvSpPr>
          <p:spPr>
            <a:xfrm>
              <a:off x="8476783" y="213585"/>
              <a:ext cx="883285" cy="1048385"/>
            </a:xfrm>
            <a:custGeom>
              <a:avLst/>
              <a:gdLst/>
              <a:ahLst/>
              <a:cxnLst/>
              <a:rect l="l" t="t" r="r" b="b"/>
              <a:pathLst>
                <a:path w="883284" h="1048385">
                  <a:moveTo>
                    <a:pt x="399654" y="0"/>
                  </a:moveTo>
                  <a:lnTo>
                    <a:pt x="342280" y="2833"/>
                  </a:lnTo>
                  <a:lnTo>
                    <a:pt x="296241" y="11335"/>
                  </a:lnTo>
                  <a:lnTo>
                    <a:pt x="252235" y="25065"/>
                  </a:lnTo>
                  <a:lnTo>
                    <a:pt x="210608" y="43686"/>
                  </a:lnTo>
                  <a:lnTo>
                    <a:pt x="171707" y="66866"/>
                  </a:lnTo>
                  <a:lnTo>
                    <a:pt x="135878" y="94270"/>
                  </a:lnTo>
                  <a:lnTo>
                    <a:pt x="103467" y="125564"/>
                  </a:lnTo>
                  <a:lnTo>
                    <a:pt x="74822" y="160413"/>
                  </a:lnTo>
                  <a:lnTo>
                    <a:pt x="50287" y="198484"/>
                  </a:lnTo>
                  <a:lnTo>
                    <a:pt x="30205" y="239459"/>
                  </a:lnTo>
                  <a:lnTo>
                    <a:pt x="14924" y="283026"/>
                  </a:lnTo>
                  <a:lnTo>
                    <a:pt x="4818" y="328686"/>
                  </a:lnTo>
                  <a:lnTo>
                    <a:pt x="194" y="376302"/>
                  </a:lnTo>
                  <a:lnTo>
                    <a:pt x="0" y="383427"/>
                  </a:lnTo>
                  <a:lnTo>
                    <a:pt x="0" y="397673"/>
                  </a:lnTo>
                  <a:lnTo>
                    <a:pt x="3425" y="456958"/>
                  </a:lnTo>
                  <a:lnTo>
                    <a:pt x="13357" y="507696"/>
                  </a:lnTo>
                  <a:lnTo>
                    <a:pt x="29701" y="556415"/>
                  </a:lnTo>
                  <a:lnTo>
                    <a:pt x="52165" y="602519"/>
                  </a:lnTo>
                  <a:lnTo>
                    <a:pt x="80459" y="645411"/>
                  </a:lnTo>
                  <a:lnTo>
                    <a:pt x="114290" y="684495"/>
                  </a:lnTo>
                  <a:lnTo>
                    <a:pt x="153369" y="719174"/>
                  </a:lnTo>
                  <a:lnTo>
                    <a:pt x="153369" y="1047835"/>
                  </a:lnTo>
                  <a:lnTo>
                    <a:pt x="563549" y="1047835"/>
                  </a:lnTo>
                  <a:lnTo>
                    <a:pt x="563549" y="1021861"/>
                  </a:lnTo>
                  <a:lnTo>
                    <a:pt x="179329" y="1021861"/>
                  </a:lnTo>
                  <a:lnTo>
                    <a:pt x="179329" y="706436"/>
                  </a:lnTo>
                  <a:lnTo>
                    <a:pt x="132863" y="666166"/>
                  </a:lnTo>
                  <a:lnTo>
                    <a:pt x="101329" y="629610"/>
                  </a:lnTo>
                  <a:lnTo>
                    <a:pt x="74953" y="589550"/>
                  </a:lnTo>
                  <a:lnTo>
                    <a:pt x="53955" y="546462"/>
                  </a:lnTo>
                  <a:lnTo>
                    <a:pt x="38652" y="500970"/>
                  </a:lnTo>
                  <a:lnTo>
                    <a:pt x="29296" y="453598"/>
                  </a:lnTo>
                  <a:lnTo>
                    <a:pt x="26154" y="404896"/>
                  </a:lnTo>
                  <a:lnTo>
                    <a:pt x="25962" y="397673"/>
                  </a:lnTo>
                  <a:lnTo>
                    <a:pt x="25963" y="383427"/>
                  </a:lnTo>
                  <a:lnTo>
                    <a:pt x="30891" y="329087"/>
                  </a:lnTo>
                  <a:lnTo>
                    <a:pt x="41683" y="283026"/>
                  </a:lnTo>
                  <a:lnTo>
                    <a:pt x="58092" y="239459"/>
                  </a:lnTo>
                  <a:lnTo>
                    <a:pt x="79703" y="198790"/>
                  </a:lnTo>
                  <a:lnTo>
                    <a:pt x="106101" y="161419"/>
                  </a:lnTo>
                  <a:lnTo>
                    <a:pt x="136870" y="127747"/>
                  </a:lnTo>
                  <a:lnTo>
                    <a:pt x="171594" y="98175"/>
                  </a:lnTo>
                  <a:lnTo>
                    <a:pt x="209858" y="73105"/>
                  </a:lnTo>
                  <a:lnTo>
                    <a:pt x="251247" y="52938"/>
                  </a:lnTo>
                  <a:lnTo>
                    <a:pt x="295345" y="38075"/>
                  </a:lnTo>
                  <a:lnTo>
                    <a:pt x="341736" y="28917"/>
                  </a:lnTo>
                  <a:lnTo>
                    <a:pt x="386582" y="26082"/>
                  </a:lnTo>
                  <a:lnTo>
                    <a:pt x="529063" y="26082"/>
                  </a:lnTo>
                  <a:lnTo>
                    <a:pt x="500110" y="15655"/>
                  </a:lnTo>
                  <a:lnTo>
                    <a:pt x="453313" y="5050"/>
                  </a:lnTo>
                  <a:lnTo>
                    <a:pt x="404489" y="216"/>
                  </a:lnTo>
                  <a:lnTo>
                    <a:pt x="399654" y="0"/>
                  </a:lnTo>
                  <a:close/>
                </a:path>
                <a:path w="883284" h="1048385">
                  <a:moveTo>
                    <a:pt x="529063" y="26082"/>
                  </a:moveTo>
                  <a:lnTo>
                    <a:pt x="403548" y="26082"/>
                  </a:lnTo>
                  <a:lnTo>
                    <a:pt x="452815" y="31288"/>
                  </a:lnTo>
                  <a:lnTo>
                    <a:pt x="499828" y="42764"/>
                  </a:lnTo>
                  <a:lnTo>
                    <a:pt x="544173" y="60063"/>
                  </a:lnTo>
                  <a:lnTo>
                    <a:pt x="585431" y="82736"/>
                  </a:lnTo>
                  <a:lnTo>
                    <a:pt x="623186" y="110336"/>
                  </a:lnTo>
                  <a:lnTo>
                    <a:pt x="657022" y="142415"/>
                  </a:lnTo>
                  <a:lnTo>
                    <a:pt x="686521" y="178524"/>
                  </a:lnTo>
                  <a:lnTo>
                    <a:pt x="711267" y="218215"/>
                  </a:lnTo>
                  <a:lnTo>
                    <a:pt x="730843" y="261041"/>
                  </a:lnTo>
                  <a:lnTo>
                    <a:pt x="744833" y="306553"/>
                  </a:lnTo>
                  <a:lnTo>
                    <a:pt x="752820" y="354304"/>
                  </a:lnTo>
                  <a:lnTo>
                    <a:pt x="754387" y="403846"/>
                  </a:lnTo>
                  <a:lnTo>
                    <a:pt x="754365" y="418218"/>
                  </a:lnTo>
                  <a:lnTo>
                    <a:pt x="847735" y="580720"/>
                  </a:lnTo>
                  <a:lnTo>
                    <a:pt x="853307" y="589550"/>
                  </a:lnTo>
                  <a:lnTo>
                    <a:pt x="856191" y="598697"/>
                  </a:lnTo>
                  <a:lnTo>
                    <a:pt x="856677" y="608273"/>
                  </a:lnTo>
                  <a:lnTo>
                    <a:pt x="854679" y="617809"/>
                  </a:lnTo>
                  <a:lnTo>
                    <a:pt x="851012" y="625353"/>
                  </a:lnTo>
                  <a:lnTo>
                    <a:pt x="843938" y="630688"/>
                  </a:lnTo>
                  <a:lnTo>
                    <a:pt x="835674" y="632138"/>
                  </a:lnTo>
                  <a:lnTo>
                    <a:pt x="754365" y="632138"/>
                  </a:lnTo>
                  <a:lnTo>
                    <a:pt x="754385" y="738676"/>
                  </a:lnTo>
                  <a:lnTo>
                    <a:pt x="744346" y="788191"/>
                  </a:lnTo>
                  <a:lnTo>
                    <a:pt x="717074" y="828638"/>
                  </a:lnTo>
                  <a:lnTo>
                    <a:pt x="676649" y="855926"/>
                  </a:lnTo>
                  <a:lnTo>
                    <a:pt x="627151" y="865972"/>
                  </a:lnTo>
                  <a:lnTo>
                    <a:pt x="537588" y="865972"/>
                  </a:lnTo>
                  <a:lnTo>
                    <a:pt x="537589" y="1021861"/>
                  </a:lnTo>
                  <a:lnTo>
                    <a:pt x="563549" y="1021861"/>
                  </a:lnTo>
                  <a:lnTo>
                    <a:pt x="563549" y="891946"/>
                  </a:lnTo>
                  <a:lnTo>
                    <a:pt x="627183" y="891946"/>
                  </a:lnTo>
                  <a:lnTo>
                    <a:pt x="675597" y="884128"/>
                  </a:lnTo>
                  <a:lnTo>
                    <a:pt x="717643" y="862368"/>
                  </a:lnTo>
                  <a:lnTo>
                    <a:pt x="750797" y="829190"/>
                  </a:lnTo>
                  <a:lnTo>
                    <a:pt x="772539" y="787119"/>
                  </a:lnTo>
                  <a:lnTo>
                    <a:pt x="780347" y="738676"/>
                  </a:lnTo>
                  <a:lnTo>
                    <a:pt x="780325" y="658113"/>
                  </a:lnTo>
                  <a:lnTo>
                    <a:pt x="837437" y="658113"/>
                  </a:lnTo>
                  <a:lnTo>
                    <a:pt x="861126" y="649020"/>
                  </a:lnTo>
                  <a:lnTo>
                    <a:pt x="878000" y="629208"/>
                  </a:lnTo>
                  <a:lnTo>
                    <a:pt x="882705" y="601113"/>
                  </a:lnTo>
                  <a:lnTo>
                    <a:pt x="869887" y="567170"/>
                  </a:lnTo>
                  <a:lnTo>
                    <a:pt x="780325" y="411281"/>
                  </a:lnTo>
                  <a:lnTo>
                    <a:pt x="780301" y="403846"/>
                  </a:lnTo>
                  <a:lnTo>
                    <a:pt x="779077" y="355714"/>
                  </a:lnTo>
                  <a:lnTo>
                    <a:pt x="771926" y="308244"/>
                  </a:lnTo>
                  <a:lnTo>
                    <a:pt x="759227" y="262756"/>
                  </a:lnTo>
                  <a:lnTo>
                    <a:pt x="741330" y="219629"/>
                  </a:lnTo>
                  <a:lnTo>
                    <a:pt x="718588" y="179240"/>
                  </a:lnTo>
                  <a:lnTo>
                    <a:pt x="691353" y="141971"/>
                  </a:lnTo>
                  <a:lnTo>
                    <a:pt x="659977" y="108198"/>
                  </a:lnTo>
                  <a:lnTo>
                    <a:pt x="624813" y="78301"/>
                  </a:lnTo>
                  <a:lnTo>
                    <a:pt x="586212" y="52659"/>
                  </a:lnTo>
                  <a:lnTo>
                    <a:pt x="544527" y="31651"/>
                  </a:lnTo>
                  <a:lnTo>
                    <a:pt x="529063" y="26082"/>
                  </a:lnTo>
                  <a:close/>
                </a:path>
              </a:pathLst>
            </a:custGeom>
            <a:solidFill>
              <a:srgbClr val="000000"/>
            </a:solidFill>
          </p:spPr>
          <p:txBody>
            <a:bodyPr wrap="square" lIns="0" tIns="0" rIns="0" bIns="0" rtlCol="0"/>
            <a:lstStyle/>
            <a:p>
              <a:endParaRPr>
                <a:latin typeface="+mj-lt"/>
              </a:endParaRPr>
            </a:p>
          </p:txBody>
        </p:sp>
        <p:pic>
          <p:nvPicPr>
            <p:cNvPr id="13" name="object 13"/>
            <p:cNvPicPr/>
            <p:nvPr/>
          </p:nvPicPr>
          <p:blipFill>
            <a:blip r:embed="rId8" cstate="print"/>
            <a:stretch>
              <a:fillRect/>
            </a:stretch>
          </p:blipFill>
          <p:spPr>
            <a:xfrm>
              <a:off x="9311640" y="47244"/>
              <a:ext cx="1390650" cy="1389126"/>
            </a:xfrm>
            <a:prstGeom prst="rect">
              <a:avLst/>
            </a:prstGeom>
          </p:spPr>
        </p:pic>
        <p:sp>
          <p:nvSpPr>
            <p:cNvPr id="14" name="object 14"/>
            <p:cNvSpPr/>
            <p:nvPr/>
          </p:nvSpPr>
          <p:spPr>
            <a:xfrm>
              <a:off x="9846425" y="269544"/>
              <a:ext cx="338455" cy="469900"/>
            </a:xfrm>
            <a:custGeom>
              <a:avLst/>
              <a:gdLst/>
              <a:ahLst/>
              <a:cxnLst/>
              <a:rect l="l" t="t" r="r" b="b"/>
              <a:pathLst>
                <a:path w="338454" h="469900">
                  <a:moveTo>
                    <a:pt x="207937" y="433387"/>
                  </a:moveTo>
                  <a:lnTo>
                    <a:pt x="129971" y="433387"/>
                  </a:lnTo>
                  <a:lnTo>
                    <a:pt x="133896" y="447573"/>
                  </a:lnTo>
                  <a:lnTo>
                    <a:pt x="142443" y="458978"/>
                  </a:lnTo>
                  <a:lnTo>
                    <a:pt x="154495" y="466598"/>
                  </a:lnTo>
                  <a:lnTo>
                    <a:pt x="168948" y="469379"/>
                  </a:lnTo>
                  <a:lnTo>
                    <a:pt x="183426" y="466598"/>
                  </a:lnTo>
                  <a:lnTo>
                    <a:pt x="195491" y="458990"/>
                  </a:lnTo>
                  <a:lnTo>
                    <a:pt x="204038" y="447573"/>
                  </a:lnTo>
                  <a:lnTo>
                    <a:pt x="207937" y="433387"/>
                  </a:lnTo>
                  <a:close/>
                </a:path>
                <a:path w="338454" h="469900">
                  <a:moveTo>
                    <a:pt x="246926" y="384276"/>
                  </a:moveTo>
                  <a:lnTo>
                    <a:pt x="241109" y="378472"/>
                  </a:lnTo>
                  <a:lnTo>
                    <a:pt x="96799" y="378472"/>
                  </a:lnTo>
                  <a:lnTo>
                    <a:pt x="90982" y="384276"/>
                  </a:lnTo>
                  <a:lnTo>
                    <a:pt x="90982" y="398627"/>
                  </a:lnTo>
                  <a:lnTo>
                    <a:pt x="96799" y="404444"/>
                  </a:lnTo>
                  <a:lnTo>
                    <a:pt x="241109" y="404444"/>
                  </a:lnTo>
                  <a:lnTo>
                    <a:pt x="246926" y="398627"/>
                  </a:lnTo>
                  <a:lnTo>
                    <a:pt x="246926" y="391452"/>
                  </a:lnTo>
                  <a:lnTo>
                    <a:pt x="246926" y="384276"/>
                  </a:lnTo>
                  <a:close/>
                </a:path>
                <a:path w="338454" h="469900">
                  <a:moveTo>
                    <a:pt x="337896" y="168897"/>
                  </a:moveTo>
                  <a:lnTo>
                    <a:pt x="331952" y="124663"/>
                  </a:lnTo>
                  <a:lnTo>
                    <a:pt x="331863" y="123990"/>
                  </a:lnTo>
                  <a:lnTo>
                    <a:pt x="314833" y="83654"/>
                  </a:lnTo>
                  <a:lnTo>
                    <a:pt x="311912" y="79883"/>
                  </a:lnTo>
                  <a:lnTo>
                    <a:pt x="311912" y="168897"/>
                  </a:lnTo>
                  <a:lnTo>
                    <a:pt x="311886" y="174675"/>
                  </a:lnTo>
                  <a:lnTo>
                    <a:pt x="301866" y="223850"/>
                  </a:lnTo>
                  <a:lnTo>
                    <a:pt x="277647" y="263613"/>
                  </a:lnTo>
                  <a:lnTo>
                    <a:pt x="266242" y="278434"/>
                  </a:lnTo>
                  <a:lnTo>
                    <a:pt x="255689" y="294005"/>
                  </a:lnTo>
                  <a:lnTo>
                    <a:pt x="246176" y="309981"/>
                  </a:lnTo>
                  <a:lnTo>
                    <a:pt x="237629" y="326517"/>
                  </a:lnTo>
                  <a:lnTo>
                    <a:pt x="100279" y="326517"/>
                  </a:lnTo>
                  <a:lnTo>
                    <a:pt x="71894" y="278638"/>
                  </a:lnTo>
                  <a:lnTo>
                    <a:pt x="53073" y="254749"/>
                  </a:lnTo>
                  <a:lnTo>
                    <a:pt x="46482" y="244983"/>
                  </a:lnTo>
                  <a:lnTo>
                    <a:pt x="28943" y="199478"/>
                  </a:lnTo>
                  <a:lnTo>
                    <a:pt x="26022" y="174675"/>
                  </a:lnTo>
                  <a:lnTo>
                    <a:pt x="26085" y="168897"/>
                  </a:lnTo>
                  <a:lnTo>
                    <a:pt x="33731" y="124663"/>
                  </a:lnTo>
                  <a:lnTo>
                    <a:pt x="54203" y="85890"/>
                  </a:lnTo>
                  <a:lnTo>
                    <a:pt x="85102" y="55346"/>
                  </a:lnTo>
                  <a:lnTo>
                    <a:pt x="124129" y="35331"/>
                  </a:lnTo>
                  <a:lnTo>
                    <a:pt x="168948" y="28092"/>
                  </a:lnTo>
                  <a:lnTo>
                    <a:pt x="214007" y="35331"/>
                  </a:lnTo>
                  <a:lnTo>
                    <a:pt x="213791" y="35331"/>
                  </a:lnTo>
                  <a:lnTo>
                    <a:pt x="252666" y="55219"/>
                  </a:lnTo>
                  <a:lnTo>
                    <a:pt x="283552" y="85648"/>
                  </a:lnTo>
                  <a:lnTo>
                    <a:pt x="304076" y="124294"/>
                  </a:lnTo>
                  <a:lnTo>
                    <a:pt x="311912" y="168897"/>
                  </a:lnTo>
                  <a:lnTo>
                    <a:pt x="311912" y="79883"/>
                  </a:lnTo>
                  <a:lnTo>
                    <a:pt x="288417" y="49466"/>
                  </a:lnTo>
                  <a:lnTo>
                    <a:pt x="260731" y="28092"/>
                  </a:lnTo>
                  <a:lnTo>
                    <a:pt x="254228" y="23063"/>
                  </a:lnTo>
                  <a:lnTo>
                    <a:pt x="213868" y="6032"/>
                  </a:lnTo>
                  <a:lnTo>
                    <a:pt x="168948" y="0"/>
                  </a:lnTo>
                  <a:lnTo>
                    <a:pt x="124040" y="6032"/>
                  </a:lnTo>
                  <a:lnTo>
                    <a:pt x="83680" y="23063"/>
                  </a:lnTo>
                  <a:lnTo>
                    <a:pt x="49491" y="49466"/>
                  </a:lnTo>
                  <a:lnTo>
                    <a:pt x="23075" y="83654"/>
                  </a:lnTo>
                  <a:lnTo>
                    <a:pt x="6045" y="123990"/>
                  </a:lnTo>
                  <a:lnTo>
                    <a:pt x="0" y="168897"/>
                  </a:lnTo>
                  <a:lnTo>
                    <a:pt x="0" y="174675"/>
                  </a:lnTo>
                  <a:lnTo>
                    <a:pt x="6997" y="218922"/>
                  </a:lnTo>
                  <a:lnTo>
                    <a:pt x="24282" y="258457"/>
                  </a:lnTo>
                  <a:lnTo>
                    <a:pt x="41097" y="281178"/>
                  </a:lnTo>
                  <a:lnTo>
                    <a:pt x="52374" y="296329"/>
                  </a:lnTo>
                  <a:lnTo>
                    <a:pt x="62738" y="312102"/>
                  </a:lnTo>
                  <a:lnTo>
                    <a:pt x="72148" y="328447"/>
                  </a:lnTo>
                  <a:lnTo>
                    <a:pt x="82753" y="349719"/>
                  </a:lnTo>
                  <a:lnTo>
                    <a:pt x="87236" y="352501"/>
                  </a:lnTo>
                  <a:lnTo>
                    <a:pt x="250621" y="352501"/>
                  </a:lnTo>
                  <a:lnTo>
                    <a:pt x="255092" y="349719"/>
                  </a:lnTo>
                  <a:lnTo>
                    <a:pt x="257276" y="345338"/>
                  </a:lnTo>
                  <a:lnTo>
                    <a:pt x="265734" y="328447"/>
                  </a:lnTo>
                  <a:lnTo>
                    <a:pt x="266852" y="326517"/>
                  </a:lnTo>
                  <a:lnTo>
                    <a:pt x="275158" y="312102"/>
                  </a:lnTo>
                  <a:lnTo>
                    <a:pt x="285534" y="296329"/>
                  </a:lnTo>
                  <a:lnTo>
                    <a:pt x="296811" y="281178"/>
                  </a:lnTo>
                  <a:lnTo>
                    <a:pt x="305739" y="270179"/>
                  </a:lnTo>
                  <a:lnTo>
                    <a:pt x="313626" y="258457"/>
                  </a:lnTo>
                  <a:lnTo>
                    <a:pt x="330923" y="218922"/>
                  </a:lnTo>
                  <a:lnTo>
                    <a:pt x="337896" y="174675"/>
                  </a:lnTo>
                  <a:lnTo>
                    <a:pt x="337896" y="168897"/>
                  </a:lnTo>
                  <a:close/>
                </a:path>
              </a:pathLst>
            </a:custGeom>
            <a:solidFill>
              <a:srgbClr val="000000"/>
            </a:solidFill>
          </p:spPr>
          <p:txBody>
            <a:bodyPr wrap="square" lIns="0" tIns="0" rIns="0" bIns="0" rtlCol="0"/>
            <a:lstStyle/>
            <a:p>
              <a:endParaRPr>
                <a:latin typeface="+mj-lt"/>
              </a:endParaRPr>
            </a:p>
          </p:txBody>
        </p:sp>
        <p:pic>
          <p:nvPicPr>
            <p:cNvPr id="15" name="object 15"/>
            <p:cNvPicPr/>
            <p:nvPr/>
          </p:nvPicPr>
          <p:blipFill>
            <a:blip r:embed="rId9" cstate="print"/>
            <a:stretch>
              <a:fillRect/>
            </a:stretch>
          </p:blipFill>
          <p:spPr>
            <a:xfrm>
              <a:off x="9945336" y="349357"/>
              <a:ext cx="140097" cy="194872"/>
            </a:xfrm>
            <a:prstGeom prst="rect">
              <a:avLst/>
            </a:prstGeom>
          </p:spPr>
        </p:pic>
        <p:pic>
          <p:nvPicPr>
            <p:cNvPr id="16" name="object 16"/>
            <p:cNvPicPr/>
            <p:nvPr/>
          </p:nvPicPr>
          <p:blipFill>
            <a:blip r:embed="rId10" cstate="print"/>
            <a:stretch>
              <a:fillRect/>
            </a:stretch>
          </p:blipFill>
          <p:spPr>
            <a:xfrm>
              <a:off x="9641920" y="715595"/>
              <a:ext cx="201189" cy="201062"/>
            </a:xfrm>
            <a:prstGeom prst="rect">
              <a:avLst/>
            </a:prstGeom>
          </p:spPr>
        </p:pic>
        <p:pic>
          <p:nvPicPr>
            <p:cNvPr id="17" name="object 17"/>
            <p:cNvPicPr/>
            <p:nvPr/>
          </p:nvPicPr>
          <p:blipFill>
            <a:blip r:embed="rId11" cstate="print"/>
            <a:stretch>
              <a:fillRect/>
            </a:stretch>
          </p:blipFill>
          <p:spPr>
            <a:xfrm>
              <a:off x="10187742" y="712944"/>
              <a:ext cx="201169" cy="201041"/>
            </a:xfrm>
            <a:prstGeom prst="rect">
              <a:avLst/>
            </a:prstGeom>
          </p:spPr>
        </p:pic>
        <p:sp>
          <p:nvSpPr>
            <p:cNvPr id="18" name="object 18"/>
            <p:cNvSpPr/>
            <p:nvPr/>
          </p:nvSpPr>
          <p:spPr>
            <a:xfrm>
              <a:off x="9534525" y="932319"/>
              <a:ext cx="962025" cy="274320"/>
            </a:xfrm>
            <a:custGeom>
              <a:avLst/>
              <a:gdLst/>
              <a:ahLst/>
              <a:cxnLst/>
              <a:rect l="l" t="t" r="r" b="b"/>
              <a:pathLst>
                <a:path w="962025" h="274319">
                  <a:moveTo>
                    <a:pt x="394944" y="67068"/>
                  </a:moveTo>
                  <a:lnTo>
                    <a:pt x="344335" y="34734"/>
                  </a:lnTo>
                  <a:lnTo>
                    <a:pt x="292100" y="15443"/>
                  </a:lnTo>
                  <a:lnTo>
                    <a:pt x="250482" y="5969"/>
                  </a:lnTo>
                  <a:lnTo>
                    <a:pt x="207937" y="2705"/>
                  </a:lnTo>
                  <a:lnTo>
                    <a:pt x="186664" y="3771"/>
                  </a:lnTo>
                  <a:lnTo>
                    <a:pt x="144602" y="10121"/>
                  </a:lnTo>
                  <a:lnTo>
                    <a:pt x="97561" y="24295"/>
                  </a:lnTo>
                  <a:lnTo>
                    <a:pt x="47625" y="48679"/>
                  </a:lnTo>
                  <a:lnTo>
                    <a:pt x="14236" y="73990"/>
                  </a:lnTo>
                  <a:lnTo>
                    <a:pt x="0" y="113106"/>
                  </a:lnTo>
                  <a:lnTo>
                    <a:pt x="0" y="196215"/>
                  </a:lnTo>
                  <a:lnTo>
                    <a:pt x="25996" y="196215"/>
                  </a:lnTo>
                  <a:lnTo>
                    <a:pt x="25996" y="113106"/>
                  </a:lnTo>
                  <a:lnTo>
                    <a:pt x="27076" y="104940"/>
                  </a:lnTo>
                  <a:lnTo>
                    <a:pt x="61379" y="70726"/>
                  </a:lnTo>
                  <a:lnTo>
                    <a:pt x="106908" y="48539"/>
                  </a:lnTo>
                  <a:lnTo>
                    <a:pt x="149872" y="35534"/>
                  </a:lnTo>
                  <a:lnTo>
                    <a:pt x="188429" y="29679"/>
                  </a:lnTo>
                  <a:lnTo>
                    <a:pt x="207937" y="28689"/>
                  </a:lnTo>
                  <a:lnTo>
                    <a:pt x="227431" y="29476"/>
                  </a:lnTo>
                  <a:lnTo>
                    <a:pt x="265938" y="35331"/>
                  </a:lnTo>
                  <a:lnTo>
                    <a:pt x="305828" y="46951"/>
                  </a:lnTo>
                  <a:lnTo>
                    <a:pt x="345871" y="65176"/>
                  </a:lnTo>
                  <a:lnTo>
                    <a:pt x="364642" y="76733"/>
                  </a:lnTo>
                  <a:lnTo>
                    <a:pt x="394944" y="67068"/>
                  </a:lnTo>
                  <a:close/>
                </a:path>
                <a:path w="962025" h="274319">
                  <a:moveTo>
                    <a:pt x="688784" y="191020"/>
                  </a:moveTo>
                  <a:lnTo>
                    <a:pt x="674624" y="151968"/>
                  </a:lnTo>
                  <a:lnTo>
                    <a:pt x="641591" y="126098"/>
                  </a:lnTo>
                  <a:lnTo>
                    <a:pt x="591642" y="101663"/>
                  </a:lnTo>
                  <a:lnTo>
                    <a:pt x="544360" y="87820"/>
                  </a:lnTo>
                  <a:lnTo>
                    <a:pt x="502196" y="81457"/>
                  </a:lnTo>
                  <a:lnTo>
                    <a:pt x="480847" y="80632"/>
                  </a:lnTo>
                  <a:lnTo>
                    <a:pt x="459574" y="81699"/>
                  </a:lnTo>
                  <a:lnTo>
                    <a:pt x="417525" y="88036"/>
                  </a:lnTo>
                  <a:lnTo>
                    <a:pt x="370471" y="102222"/>
                  </a:lnTo>
                  <a:lnTo>
                    <a:pt x="320535" y="126593"/>
                  </a:lnTo>
                  <a:lnTo>
                    <a:pt x="287159" y="151917"/>
                  </a:lnTo>
                  <a:lnTo>
                    <a:pt x="272923" y="191020"/>
                  </a:lnTo>
                  <a:lnTo>
                    <a:pt x="272923" y="274142"/>
                  </a:lnTo>
                  <a:lnTo>
                    <a:pt x="298907" y="274142"/>
                  </a:lnTo>
                  <a:lnTo>
                    <a:pt x="298907" y="191020"/>
                  </a:lnTo>
                  <a:lnTo>
                    <a:pt x="299999" y="182854"/>
                  </a:lnTo>
                  <a:lnTo>
                    <a:pt x="334289" y="148653"/>
                  </a:lnTo>
                  <a:lnTo>
                    <a:pt x="379818" y="126466"/>
                  </a:lnTo>
                  <a:lnTo>
                    <a:pt x="422783" y="113461"/>
                  </a:lnTo>
                  <a:lnTo>
                    <a:pt x="461340" y="107607"/>
                  </a:lnTo>
                  <a:lnTo>
                    <a:pt x="480847" y="106603"/>
                  </a:lnTo>
                  <a:lnTo>
                    <a:pt x="500354" y="107391"/>
                  </a:lnTo>
                  <a:lnTo>
                    <a:pt x="538861" y="113245"/>
                  </a:lnTo>
                  <a:lnTo>
                    <a:pt x="581901" y="125806"/>
                  </a:lnTo>
                  <a:lnTo>
                    <a:pt x="627316" y="147853"/>
                  </a:lnTo>
                  <a:lnTo>
                    <a:pt x="658736" y="174980"/>
                  </a:lnTo>
                  <a:lnTo>
                    <a:pt x="662800" y="191020"/>
                  </a:lnTo>
                  <a:lnTo>
                    <a:pt x="662800" y="274142"/>
                  </a:lnTo>
                  <a:lnTo>
                    <a:pt x="688784" y="274142"/>
                  </a:lnTo>
                  <a:lnTo>
                    <a:pt x="688784" y="191020"/>
                  </a:lnTo>
                  <a:close/>
                </a:path>
                <a:path w="962025" h="274319">
                  <a:moveTo>
                    <a:pt x="961707" y="110528"/>
                  </a:moveTo>
                  <a:lnTo>
                    <a:pt x="947547" y="71399"/>
                  </a:lnTo>
                  <a:lnTo>
                    <a:pt x="914514" y="45504"/>
                  </a:lnTo>
                  <a:lnTo>
                    <a:pt x="864552" y="21094"/>
                  </a:lnTo>
                  <a:lnTo>
                    <a:pt x="817283" y="7239"/>
                  </a:lnTo>
                  <a:lnTo>
                    <a:pt x="775119" y="850"/>
                  </a:lnTo>
                  <a:lnTo>
                    <a:pt x="753770" y="0"/>
                  </a:lnTo>
                  <a:lnTo>
                    <a:pt x="732485" y="1066"/>
                  </a:lnTo>
                  <a:lnTo>
                    <a:pt x="690435" y="7416"/>
                  </a:lnTo>
                  <a:lnTo>
                    <a:pt x="643394" y="21615"/>
                  </a:lnTo>
                  <a:lnTo>
                    <a:pt x="593458" y="45974"/>
                  </a:lnTo>
                  <a:lnTo>
                    <a:pt x="564591" y="66370"/>
                  </a:lnTo>
                  <a:lnTo>
                    <a:pt x="595350" y="75806"/>
                  </a:lnTo>
                  <a:lnTo>
                    <a:pt x="614591" y="64033"/>
                  </a:lnTo>
                  <a:lnTo>
                    <a:pt x="634644" y="53746"/>
                  </a:lnTo>
                  <a:lnTo>
                    <a:pt x="676783" y="37782"/>
                  </a:lnTo>
                  <a:lnTo>
                    <a:pt x="714883" y="29375"/>
                  </a:lnTo>
                  <a:lnTo>
                    <a:pt x="753770" y="26085"/>
                  </a:lnTo>
                  <a:lnTo>
                    <a:pt x="773264" y="26873"/>
                  </a:lnTo>
                  <a:lnTo>
                    <a:pt x="811771" y="32727"/>
                  </a:lnTo>
                  <a:lnTo>
                    <a:pt x="854824" y="45288"/>
                  </a:lnTo>
                  <a:lnTo>
                    <a:pt x="900226" y="67322"/>
                  </a:lnTo>
                  <a:lnTo>
                    <a:pt x="931646" y="94462"/>
                  </a:lnTo>
                  <a:lnTo>
                    <a:pt x="935710" y="110528"/>
                  </a:lnTo>
                  <a:lnTo>
                    <a:pt x="935710" y="193649"/>
                  </a:lnTo>
                  <a:lnTo>
                    <a:pt x="961707" y="193649"/>
                  </a:lnTo>
                  <a:lnTo>
                    <a:pt x="961707" y="110528"/>
                  </a:lnTo>
                  <a:close/>
                </a:path>
              </a:pathLst>
            </a:custGeom>
            <a:solidFill>
              <a:srgbClr val="000000"/>
            </a:solidFill>
          </p:spPr>
          <p:txBody>
            <a:bodyPr wrap="square" lIns="0" tIns="0" rIns="0" bIns="0" rtlCol="0"/>
            <a:lstStyle/>
            <a:p>
              <a:endParaRPr>
                <a:latin typeface="+mj-lt"/>
              </a:endParaRPr>
            </a:p>
          </p:txBody>
        </p:sp>
        <p:pic>
          <p:nvPicPr>
            <p:cNvPr id="19" name="object 19"/>
            <p:cNvPicPr/>
            <p:nvPr/>
          </p:nvPicPr>
          <p:blipFill>
            <a:blip r:embed="rId10" cstate="print"/>
            <a:stretch>
              <a:fillRect/>
            </a:stretch>
          </p:blipFill>
          <p:spPr>
            <a:xfrm>
              <a:off x="9914837" y="793518"/>
              <a:ext cx="201189" cy="201062"/>
            </a:xfrm>
            <a:prstGeom prst="rect">
              <a:avLst/>
            </a:prstGeom>
          </p:spPr>
        </p:pic>
      </p:grpSp>
      <p:sp>
        <p:nvSpPr>
          <p:cNvPr id="20" name="object 20"/>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21" name="object 21"/>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1FE1083-CAA0-88A0-B95E-308FED75C4B7}"/>
              </a:ext>
            </a:extLst>
          </p:cNvPr>
          <p:cNvGraphicFramePr>
            <a:graphicFrameLocks noGrp="1"/>
          </p:cNvGraphicFramePr>
          <p:nvPr>
            <p:extLst>
              <p:ext uri="{D42A27DB-BD31-4B8C-83A1-F6EECF244321}">
                <p14:modId xmlns:p14="http://schemas.microsoft.com/office/powerpoint/2010/main" val="1486098248"/>
              </p:ext>
            </p:extLst>
          </p:nvPr>
        </p:nvGraphicFramePr>
        <p:xfrm>
          <a:off x="1421761" y="1768986"/>
          <a:ext cx="9348471" cy="3724788"/>
        </p:xfrm>
        <a:graphic>
          <a:graphicData uri="http://schemas.openxmlformats.org/drawingml/2006/table">
            <a:tbl>
              <a:tblPr>
                <a:tableStyleId>{616DA210-FB5B-4158-B5E0-FEB733F419BA}</a:tableStyleId>
              </a:tblPr>
              <a:tblGrid>
                <a:gridCol w="1792428">
                  <a:extLst>
                    <a:ext uri="{9D8B030D-6E8A-4147-A177-3AD203B41FA5}">
                      <a16:colId xmlns:a16="http://schemas.microsoft.com/office/drawing/2014/main" val="2244328621"/>
                    </a:ext>
                  </a:extLst>
                </a:gridCol>
                <a:gridCol w="4439886">
                  <a:extLst>
                    <a:ext uri="{9D8B030D-6E8A-4147-A177-3AD203B41FA5}">
                      <a16:colId xmlns:a16="http://schemas.microsoft.com/office/drawing/2014/main" val="733281998"/>
                    </a:ext>
                  </a:extLst>
                </a:gridCol>
                <a:gridCol w="3116157">
                  <a:extLst>
                    <a:ext uri="{9D8B030D-6E8A-4147-A177-3AD203B41FA5}">
                      <a16:colId xmlns:a16="http://schemas.microsoft.com/office/drawing/2014/main" val="4010179476"/>
                    </a:ext>
                  </a:extLst>
                </a:gridCol>
              </a:tblGrid>
              <a:tr h="286798">
                <a:tc>
                  <a:txBody>
                    <a:bodyPr/>
                    <a:lstStyle/>
                    <a:p>
                      <a:pPr algn="ctr"/>
                      <a:r>
                        <a:rPr lang="en-CA" sz="1600" b="1" dirty="0"/>
                        <a:t>Aspect</a:t>
                      </a:r>
                      <a:endParaRPr lang="en-CA" sz="1600" dirty="0"/>
                    </a:p>
                  </a:txBody>
                  <a:tcPr marL="4846" marR="4846" marT="2423" marB="2423" anchor="ctr">
                    <a:solidFill>
                      <a:schemeClr val="bg1">
                        <a:lumMod val="75000"/>
                      </a:schemeClr>
                    </a:solidFill>
                  </a:tcPr>
                </a:tc>
                <a:tc>
                  <a:txBody>
                    <a:bodyPr/>
                    <a:lstStyle/>
                    <a:p>
                      <a:pPr algn="ctr"/>
                      <a:r>
                        <a:rPr lang="en-CA" sz="1600" b="1"/>
                        <a:t>Fileless Viruses</a:t>
                      </a:r>
                      <a:endParaRPr lang="en-CA" sz="1600"/>
                    </a:p>
                  </a:txBody>
                  <a:tcPr marL="4846" marR="4846" marT="2423" marB="2423" anchor="ctr">
                    <a:solidFill>
                      <a:schemeClr val="bg1">
                        <a:lumMod val="75000"/>
                      </a:schemeClr>
                    </a:solidFill>
                  </a:tcPr>
                </a:tc>
                <a:tc>
                  <a:txBody>
                    <a:bodyPr/>
                    <a:lstStyle/>
                    <a:p>
                      <a:pPr algn="ctr"/>
                      <a:r>
                        <a:rPr lang="en-CA" sz="1600" b="1" dirty="0"/>
                        <a:t>File-Based Viruses</a:t>
                      </a:r>
                      <a:endParaRPr lang="en-CA" sz="1600" dirty="0"/>
                    </a:p>
                  </a:txBody>
                  <a:tcPr marL="4846" marR="4846" marT="2423" marB="2423" anchor="ctr">
                    <a:solidFill>
                      <a:schemeClr val="bg1">
                        <a:lumMod val="75000"/>
                      </a:schemeClr>
                    </a:solidFill>
                  </a:tcPr>
                </a:tc>
                <a:extLst>
                  <a:ext uri="{0D108BD9-81ED-4DB2-BD59-A6C34878D82A}">
                    <a16:rowId xmlns:a16="http://schemas.microsoft.com/office/drawing/2014/main" val="1400690763"/>
                  </a:ext>
                </a:extLst>
              </a:tr>
              <a:tr h="623985">
                <a:tc>
                  <a:txBody>
                    <a:bodyPr/>
                    <a:lstStyle/>
                    <a:p>
                      <a:r>
                        <a:rPr lang="en-CA" sz="1600" b="1" dirty="0"/>
                        <a:t>Infection Method</a:t>
                      </a:r>
                      <a:endParaRPr lang="en-CA" sz="1600" dirty="0"/>
                    </a:p>
                  </a:txBody>
                  <a:tcPr marL="4846" marR="4846" marT="2423" marB="2423" anchor="ctr"/>
                </a:tc>
                <a:tc>
                  <a:txBody>
                    <a:bodyPr/>
                    <a:lstStyle/>
                    <a:p>
                      <a:r>
                        <a:rPr lang="en-US" sz="1600" dirty="0"/>
                        <a:t>Do not use traditional executable files; instead, they reside in memory and utilize legitimate system tools.</a:t>
                      </a:r>
                    </a:p>
                  </a:txBody>
                  <a:tcPr marL="4846" marR="4846" marT="2423" marB="2423" anchor="ctr"/>
                </a:tc>
                <a:tc>
                  <a:txBody>
                    <a:bodyPr/>
                    <a:lstStyle/>
                    <a:p>
                      <a:r>
                        <a:rPr lang="en-US" sz="1600" dirty="0"/>
                        <a:t>Infect host machines by attaching to executable files or creating malicious files on the hard drive.</a:t>
                      </a:r>
                    </a:p>
                  </a:txBody>
                  <a:tcPr marL="4846" marR="4846" marT="2423" marB="2423" anchor="ctr"/>
                </a:tc>
                <a:extLst>
                  <a:ext uri="{0D108BD9-81ED-4DB2-BD59-A6C34878D82A}">
                    <a16:rowId xmlns:a16="http://schemas.microsoft.com/office/drawing/2014/main" val="1357770675"/>
                  </a:ext>
                </a:extLst>
              </a:tr>
              <a:tr h="479476">
                <a:tc>
                  <a:txBody>
                    <a:bodyPr/>
                    <a:lstStyle/>
                    <a:p>
                      <a:r>
                        <a:rPr lang="en-CA" sz="1600" b="1"/>
                        <a:t>Persistence</a:t>
                      </a:r>
                      <a:endParaRPr lang="en-CA" sz="1600"/>
                    </a:p>
                  </a:txBody>
                  <a:tcPr marL="4846" marR="4846" marT="2423" marB="2423" anchor="ctr"/>
                </a:tc>
                <a:tc>
                  <a:txBody>
                    <a:bodyPr/>
                    <a:lstStyle/>
                    <a:p>
                      <a:r>
                        <a:rPr lang="en-US" sz="1600"/>
                        <a:t>Persist by altering system configurations, like Windows registry or scheduled tasks.</a:t>
                      </a:r>
                    </a:p>
                  </a:txBody>
                  <a:tcPr marL="4846" marR="4846" marT="2423" marB="2423" anchor="ctr"/>
                </a:tc>
                <a:tc>
                  <a:txBody>
                    <a:bodyPr/>
                    <a:lstStyle/>
                    <a:p>
                      <a:r>
                        <a:rPr lang="en-US" sz="1600"/>
                        <a:t>Persist by saving infected files to the disk for reuse after reboot.</a:t>
                      </a:r>
                    </a:p>
                  </a:txBody>
                  <a:tcPr marL="4846" marR="4846" marT="2423" marB="2423" anchor="ctr"/>
                </a:tc>
                <a:extLst>
                  <a:ext uri="{0D108BD9-81ED-4DB2-BD59-A6C34878D82A}">
                    <a16:rowId xmlns:a16="http://schemas.microsoft.com/office/drawing/2014/main" val="3627271160"/>
                  </a:ext>
                </a:extLst>
              </a:tr>
              <a:tr h="623985">
                <a:tc>
                  <a:txBody>
                    <a:bodyPr/>
                    <a:lstStyle/>
                    <a:p>
                      <a:r>
                        <a:rPr lang="en-CA" sz="1600" b="1" dirty="0"/>
                        <a:t>Execution</a:t>
                      </a:r>
                      <a:endParaRPr lang="en-CA" sz="1600" dirty="0"/>
                    </a:p>
                  </a:txBody>
                  <a:tcPr marL="4846" marR="4846" marT="2423" marB="2423" anchor="ctr"/>
                </a:tc>
                <a:tc>
                  <a:txBody>
                    <a:bodyPr/>
                    <a:lstStyle/>
                    <a:p>
                      <a:r>
                        <a:rPr lang="en-US" sz="1600" dirty="0"/>
                        <a:t>Use legitimate OS tools such as PowerShell, WMI, or scripts to execute malicious activities.</a:t>
                      </a:r>
                    </a:p>
                  </a:txBody>
                  <a:tcPr marL="4846" marR="4846" marT="2423" marB="2423" anchor="ctr"/>
                </a:tc>
                <a:tc>
                  <a:txBody>
                    <a:bodyPr/>
                    <a:lstStyle/>
                    <a:p>
                      <a:r>
                        <a:rPr lang="en-US" sz="1600"/>
                        <a:t>Execute malicious code when the infected file is opened or the system is tricked into running it.</a:t>
                      </a:r>
                    </a:p>
                  </a:txBody>
                  <a:tcPr marL="4846" marR="4846" marT="2423" marB="2423" anchor="ctr"/>
                </a:tc>
                <a:extLst>
                  <a:ext uri="{0D108BD9-81ED-4DB2-BD59-A6C34878D82A}">
                    <a16:rowId xmlns:a16="http://schemas.microsoft.com/office/drawing/2014/main" val="2048991173"/>
                  </a:ext>
                </a:extLst>
              </a:tr>
              <a:tr h="623985">
                <a:tc>
                  <a:txBody>
                    <a:bodyPr/>
                    <a:lstStyle/>
                    <a:p>
                      <a:r>
                        <a:rPr lang="en-CA" sz="1600" b="1"/>
                        <a:t>Detection Difficulty</a:t>
                      </a:r>
                      <a:endParaRPr lang="en-CA" sz="1600"/>
                    </a:p>
                  </a:txBody>
                  <a:tcPr marL="4846" marR="4846" marT="2423" marB="2423" anchor="ctr"/>
                </a:tc>
                <a:tc>
                  <a:txBody>
                    <a:bodyPr/>
                    <a:lstStyle/>
                    <a:p>
                      <a:r>
                        <a:rPr lang="en-US" sz="1600"/>
                        <a:t>Harder to detect since they don’t leave files on the disk and rely on trusted processes.</a:t>
                      </a:r>
                    </a:p>
                  </a:txBody>
                  <a:tcPr marL="4846" marR="4846" marT="2423" marB="2423" anchor="ctr"/>
                </a:tc>
                <a:tc>
                  <a:txBody>
                    <a:bodyPr/>
                    <a:lstStyle/>
                    <a:p>
                      <a:r>
                        <a:rPr lang="en-US" sz="1600"/>
                        <a:t>Easier to detect using signature-based methods, as they create identifiable malicious files.</a:t>
                      </a:r>
                    </a:p>
                  </a:txBody>
                  <a:tcPr marL="4846" marR="4846" marT="2423" marB="2423" anchor="ctr"/>
                </a:tc>
                <a:extLst>
                  <a:ext uri="{0D108BD9-81ED-4DB2-BD59-A6C34878D82A}">
                    <a16:rowId xmlns:a16="http://schemas.microsoft.com/office/drawing/2014/main" val="1111329394"/>
                  </a:ext>
                </a:extLst>
              </a:tr>
              <a:tr h="623985">
                <a:tc>
                  <a:txBody>
                    <a:bodyPr/>
                    <a:lstStyle/>
                    <a:p>
                      <a:r>
                        <a:rPr lang="en-CA" sz="1600" b="1"/>
                        <a:t>Impact</a:t>
                      </a:r>
                      <a:endParaRPr lang="en-CA" sz="1600"/>
                    </a:p>
                  </a:txBody>
                  <a:tcPr marL="4846" marR="4846" marT="2423" marB="2423" anchor="ctr"/>
                </a:tc>
                <a:tc>
                  <a:txBody>
                    <a:bodyPr/>
                    <a:lstStyle/>
                    <a:p>
                      <a:r>
                        <a:rPr lang="en-US" sz="1600"/>
                        <a:t>Often used in advanced persistent threats (APTs) for stealthy attacks, data theft, and espionage.</a:t>
                      </a:r>
                    </a:p>
                  </a:txBody>
                  <a:tcPr marL="4846" marR="4846" marT="2423" marB="2423" anchor="ctr"/>
                </a:tc>
                <a:tc>
                  <a:txBody>
                    <a:bodyPr/>
                    <a:lstStyle/>
                    <a:p>
                      <a:r>
                        <a:rPr lang="en-US" sz="1600" dirty="0"/>
                        <a:t>Typically used for widespread attacks like ransomware or basic malware infections.</a:t>
                      </a:r>
                    </a:p>
                  </a:txBody>
                  <a:tcPr marL="4846" marR="4846" marT="2423" marB="2423" anchor="ctr"/>
                </a:tc>
                <a:extLst>
                  <a:ext uri="{0D108BD9-81ED-4DB2-BD59-A6C34878D82A}">
                    <a16:rowId xmlns:a16="http://schemas.microsoft.com/office/drawing/2014/main" val="1543905558"/>
                  </a:ext>
                </a:extLst>
              </a:tr>
            </a:tbl>
          </a:graphicData>
        </a:graphic>
      </p:graphicFrame>
      <p:sp>
        <p:nvSpPr>
          <p:cNvPr id="7" name="TextBox 6">
            <a:extLst>
              <a:ext uri="{FF2B5EF4-FFF2-40B4-BE49-F238E27FC236}">
                <a16:creationId xmlns:a16="http://schemas.microsoft.com/office/drawing/2014/main" id="{82252128-FD72-4C4E-5D7A-39658ACD85B9}"/>
              </a:ext>
            </a:extLst>
          </p:cNvPr>
          <p:cNvSpPr txBox="1"/>
          <p:nvPr/>
        </p:nvSpPr>
        <p:spPr>
          <a:xfrm>
            <a:off x="965791" y="5493774"/>
            <a:ext cx="10260413"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Defense: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Endpoint Detection and Response (EDR) Solutions, Behavioral Monitoring, Application Whitelisting, Patch Management, Disable Unnecessary Features, Email Security, Memory Forensics, Network Segmentation, Limit Administrative Privileges, Regular Backups</a:t>
            </a:r>
          </a:p>
        </p:txBody>
      </p:sp>
      <p:sp>
        <p:nvSpPr>
          <p:cNvPr id="8" name="object 2">
            <a:extLst>
              <a:ext uri="{FF2B5EF4-FFF2-40B4-BE49-F238E27FC236}">
                <a16:creationId xmlns:a16="http://schemas.microsoft.com/office/drawing/2014/main" id="{9267C731-2D91-1DA4-834F-0AE437D1EF7F}"/>
              </a:ext>
            </a:extLst>
          </p:cNvPr>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lang="en-CA" dirty="0"/>
              <a:t>SELF STUDY</a:t>
            </a:r>
            <a:endParaRPr dirty="0"/>
          </a:p>
        </p:txBody>
      </p:sp>
    </p:spTree>
    <p:extLst>
      <p:ext uri="{BB962C8B-B14F-4D97-AF65-F5344CB8AC3E}">
        <p14:creationId xmlns:p14="http://schemas.microsoft.com/office/powerpoint/2010/main" val="2477254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KNOWLEDGE CHECK ACTIVITY</a:t>
            </a:r>
          </a:p>
        </p:txBody>
      </p:sp>
      <p:sp>
        <p:nvSpPr>
          <p:cNvPr id="4" name="object 4"/>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18</a:t>
            </a:fld>
            <a:endParaRPr dirty="0"/>
          </a:p>
        </p:txBody>
      </p:sp>
      <p:sp>
        <p:nvSpPr>
          <p:cNvPr id="3" name="object 3"/>
          <p:cNvSpPr txBox="1"/>
          <p:nvPr/>
        </p:nvSpPr>
        <p:spPr>
          <a:xfrm>
            <a:off x="1057147" y="2253513"/>
            <a:ext cx="6444615" cy="2189060"/>
          </a:xfrm>
          <a:prstGeom prst="rect">
            <a:avLst/>
          </a:prstGeom>
        </p:spPr>
        <p:txBody>
          <a:bodyPr vert="horz" wrap="square" lIns="0" tIns="29209" rIns="0" bIns="0" rtlCol="0">
            <a:spAutoFit/>
          </a:bodyPr>
          <a:lstStyle/>
          <a:p>
            <a:pPr marL="12700">
              <a:lnSpc>
                <a:spcPct val="100000"/>
              </a:lnSpc>
              <a:spcBef>
                <a:spcPts val="229"/>
              </a:spcBef>
            </a:pPr>
            <a:r>
              <a:rPr sz="2200" dirty="0">
                <a:latin typeface="+mj-lt"/>
                <a:cs typeface="Arial MT"/>
              </a:rPr>
              <a:t>What is the primary action that cryptomalware performs?</a:t>
            </a:r>
          </a:p>
          <a:p>
            <a:pPr marL="648335" indent="-292735">
              <a:lnSpc>
                <a:spcPct val="100000"/>
              </a:lnSpc>
              <a:spcBef>
                <a:spcPts val="135"/>
              </a:spcBef>
              <a:buAutoNum type="alphaLcPeriod"/>
              <a:tabLst>
                <a:tab pos="648335" algn="l"/>
              </a:tabLst>
            </a:pPr>
            <a:r>
              <a:rPr sz="2200" dirty="0">
                <a:latin typeface="+mj-lt"/>
                <a:cs typeface="Arial MT"/>
              </a:rPr>
              <a:t>Imprison</a:t>
            </a:r>
          </a:p>
          <a:p>
            <a:pPr marL="642620" indent="-287020">
              <a:lnSpc>
                <a:spcPct val="100000"/>
              </a:lnSpc>
              <a:spcBef>
                <a:spcPts val="335"/>
              </a:spcBef>
              <a:buAutoNum type="alphaLcPeriod"/>
              <a:tabLst>
                <a:tab pos="642620" algn="l"/>
              </a:tabLst>
            </a:pPr>
            <a:r>
              <a:rPr sz="2200" dirty="0">
                <a:latin typeface="+mj-lt"/>
                <a:cs typeface="Arial MT"/>
              </a:rPr>
              <a:t>Launch</a:t>
            </a:r>
          </a:p>
          <a:p>
            <a:pPr marL="601345" indent="-245745">
              <a:lnSpc>
                <a:spcPct val="100000"/>
              </a:lnSpc>
              <a:spcBef>
                <a:spcPts val="335"/>
              </a:spcBef>
              <a:buAutoNum type="alphaLcPeriod"/>
              <a:tabLst>
                <a:tab pos="601345" algn="l"/>
              </a:tabLst>
            </a:pPr>
            <a:r>
              <a:rPr sz="2200" dirty="0">
                <a:latin typeface="+mj-lt"/>
                <a:cs typeface="Arial MT"/>
              </a:rPr>
              <a:t>Snoop</a:t>
            </a:r>
          </a:p>
          <a:p>
            <a:pPr marL="648335" indent="-292735">
              <a:lnSpc>
                <a:spcPct val="100000"/>
              </a:lnSpc>
              <a:spcBef>
                <a:spcPts val="340"/>
              </a:spcBef>
              <a:buAutoNum type="alphaLcPeriod"/>
              <a:tabLst>
                <a:tab pos="648335" algn="l"/>
              </a:tabLst>
            </a:pPr>
            <a:r>
              <a:rPr sz="2200" dirty="0">
                <a:latin typeface="+mj-lt"/>
                <a:cs typeface="Arial MT"/>
              </a:rPr>
              <a:t>Deceive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514600"/>
            <a:ext cx="5282692" cy="690574"/>
          </a:xfrm>
          <a:prstGeom prst="rect">
            <a:avLst/>
          </a:prstGeom>
        </p:spPr>
        <p:txBody>
          <a:bodyPr vert="horz" wrap="square" lIns="0" tIns="13335" rIns="0" bIns="0" rtlCol="0">
            <a:spAutoFit/>
          </a:bodyPr>
          <a:lstStyle/>
          <a:p>
            <a:pPr marL="12700">
              <a:lnSpc>
                <a:spcPct val="100000"/>
              </a:lnSpc>
              <a:spcBef>
                <a:spcPts val="105"/>
              </a:spcBef>
            </a:pPr>
            <a:r>
              <a:rPr sz="4400" dirty="0"/>
              <a:t>APPLICATION ATTACKS</a:t>
            </a:r>
          </a:p>
        </p:txBody>
      </p:sp>
      <p:sp>
        <p:nvSpPr>
          <p:cNvPr id="3" name="object 3"/>
          <p:cNvSpPr/>
          <p:nvPr/>
        </p:nvSpPr>
        <p:spPr>
          <a:xfrm>
            <a:off x="701801" y="3766565"/>
            <a:ext cx="4754880" cy="0"/>
          </a:xfrm>
          <a:custGeom>
            <a:avLst/>
            <a:gdLst/>
            <a:ahLst/>
            <a:cxnLst/>
            <a:rect l="l" t="t" r="r" b="b"/>
            <a:pathLst>
              <a:path w="4754880">
                <a:moveTo>
                  <a:pt x="0" y="0"/>
                </a:moveTo>
                <a:lnTo>
                  <a:pt x="4754880" y="0"/>
                </a:lnTo>
              </a:path>
            </a:pathLst>
          </a:custGeom>
          <a:ln w="19050">
            <a:solidFill>
              <a:srgbClr val="1382AC"/>
            </a:solidFill>
          </a:ln>
        </p:spPr>
        <p:txBody>
          <a:bodyPr wrap="square" lIns="0" tIns="0" rIns="0" bIns="0" rtlCol="0"/>
          <a:lstStyle/>
          <a:p>
            <a:endParaRPr/>
          </a:p>
        </p:txBody>
      </p:sp>
      <p:grpSp>
        <p:nvGrpSpPr>
          <p:cNvPr id="4" name="object 4"/>
          <p:cNvGrpSpPr/>
          <p:nvPr/>
        </p:nvGrpSpPr>
        <p:grpSpPr>
          <a:xfrm>
            <a:off x="7225961" y="2077338"/>
            <a:ext cx="3813175" cy="3330575"/>
            <a:chOff x="7225961" y="2077338"/>
            <a:chExt cx="3813175" cy="3330575"/>
          </a:xfrm>
        </p:grpSpPr>
        <p:sp>
          <p:nvSpPr>
            <p:cNvPr id="5" name="object 5"/>
            <p:cNvSpPr/>
            <p:nvPr/>
          </p:nvSpPr>
          <p:spPr>
            <a:xfrm>
              <a:off x="7253373" y="2116350"/>
              <a:ext cx="3758565" cy="3263900"/>
            </a:xfrm>
            <a:custGeom>
              <a:avLst/>
              <a:gdLst/>
              <a:ahLst/>
              <a:cxnLst/>
              <a:rect l="l" t="t" r="r" b="b"/>
              <a:pathLst>
                <a:path w="3758565" h="3263900">
                  <a:moveTo>
                    <a:pt x="3758147" y="1473199"/>
                  </a:moveTo>
                  <a:lnTo>
                    <a:pt x="1879073" y="1473199"/>
                  </a:lnTo>
                  <a:lnTo>
                    <a:pt x="1879073" y="2070099"/>
                  </a:lnTo>
                  <a:lnTo>
                    <a:pt x="1880943" y="2120899"/>
                  </a:lnTo>
                  <a:lnTo>
                    <a:pt x="1885510" y="2171699"/>
                  </a:lnTo>
                  <a:lnTo>
                    <a:pt x="1892775" y="2222499"/>
                  </a:lnTo>
                  <a:lnTo>
                    <a:pt x="1902737" y="2285999"/>
                  </a:lnTo>
                  <a:lnTo>
                    <a:pt x="1915394" y="2336799"/>
                  </a:lnTo>
                  <a:lnTo>
                    <a:pt x="1930747" y="2374899"/>
                  </a:lnTo>
                  <a:lnTo>
                    <a:pt x="1948795" y="2425699"/>
                  </a:lnTo>
                  <a:lnTo>
                    <a:pt x="1969213" y="2476499"/>
                  </a:lnTo>
                  <a:lnTo>
                    <a:pt x="1991648" y="2527299"/>
                  </a:lnTo>
                  <a:lnTo>
                    <a:pt x="2016101" y="2565399"/>
                  </a:lnTo>
                  <a:lnTo>
                    <a:pt x="2042576" y="2616199"/>
                  </a:lnTo>
                  <a:lnTo>
                    <a:pt x="2071076" y="2654299"/>
                  </a:lnTo>
                  <a:lnTo>
                    <a:pt x="2101602" y="2705099"/>
                  </a:lnTo>
                  <a:lnTo>
                    <a:pt x="2134158" y="2743199"/>
                  </a:lnTo>
                  <a:lnTo>
                    <a:pt x="2168348" y="2793999"/>
                  </a:lnTo>
                  <a:lnTo>
                    <a:pt x="2203809" y="2832099"/>
                  </a:lnTo>
                  <a:lnTo>
                    <a:pt x="2240542" y="2870199"/>
                  </a:lnTo>
                  <a:lnTo>
                    <a:pt x="2278547" y="2908299"/>
                  </a:lnTo>
                  <a:lnTo>
                    <a:pt x="2317825" y="2946399"/>
                  </a:lnTo>
                  <a:lnTo>
                    <a:pt x="2358377" y="2984499"/>
                  </a:lnTo>
                  <a:lnTo>
                    <a:pt x="2400203" y="3009899"/>
                  </a:lnTo>
                  <a:lnTo>
                    <a:pt x="2442907" y="3047999"/>
                  </a:lnTo>
                  <a:lnTo>
                    <a:pt x="2486056" y="3073399"/>
                  </a:lnTo>
                  <a:lnTo>
                    <a:pt x="2529651" y="3111499"/>
                  </a:lnTo>
                  <a:lnTo>
                    <a:pt x="2573692" y="3136899"/>
                  </a:lnTo>
                  <a:lnTo>
                    <a:pt x="2708489" y="3213099"/>
                  </a:lnTo>
                  <a:lnTo>
                    <a:pt x="2818610" y="3263899"/>
                  </a:lnTo>
                  <a:lnTo>
                    <a:pt x="2926892" y="3213099"/>
                  </a:lnTo>
                  <a:lnTo>
                    <a:pt x="3106329" y="3111499"/>
                  </a:lnTo>
                  <a:lnTo>
                    <a:pt x="3150255" y="3073399"/>
                  </a:lnTo>
                  <a:lnTo>
                    <a:pt x="3193805" y="3047999"/>
                  </a:lnTo>
                  <a:lnTo>
                    <a:pt x="3236978" y="3009899"/>
                  </a:lnTo>
                  <a:lnTo>
                    <a:pt x="2818610" y="3009899"/>
                  </a:lnTo>
                  <a:lnTo>
                    <a:pt x="2688313" y="2933699"/>
                  </a:lnTo>
                  <a:lnTo>
                    <a:pt x="2645695" y="2895599"/>
                  </a:lnTo>
                  <a:lnTo>
                    <a:pt x="2561686" y="2844799"/>
                  </a:lnTo>
                  <a:lnTo>
                    <a:pt x="2520771" y="2806699"/>
                  </a:lnTo>
                  <a:lnTo>
                    <a:pt x="2481174" y="2768599"/>
                  </a:lnTo>
                  <a:lnTo>
                    <a:pt x="2442898" y="2743199"/>
                  </a:lnTo>
                  <a:lnTo>
                    <a:pt x="2405943" y="2705099"/>
                  </a:lnTo>
                  <a:lnTo>
                    <a:pt x="2370311" y="2666999"/>
                  </a:lnTo>
                  <a:lnTo>
                    <a:pt x="2336001" y="2628899"/>
                  </a:lnTo>
                  <a:lnTo>
                    <a:pt x="2303477" y="2578099"/>
                  </a:lnTo>
                  <a:lnTo>
                    <a:pt x="2273196" y="2539999"/>
                  </a:lnTo>
                  <a:lnTo>
                    <a:pt x="2245160" y="2501899"/>
                  </a:lnTo>
                  <a:lnTo>
                    <a:pt x="2219368" y="2451099"/>
                  </a:lnTo>
                  <a:lnTo>
                    <a:pt x="2195821" y="2412999"/>
                  </a:lnTo>
                  <a:lnTo>
                    <a:pt x="2174519" y="2362199"/>
                  </a:lnTo>
                  <a:lnTo>
                    <a:pt x="2156018" y="2311399"/>
                  </a:lnTo>
                  <a:lnTo>
                    <a:pt x="2140879" y="2273299"/>
                  </a:lnTo>
                  <a:lnTo>
                    <a:pt x="2129103" y="2222499"/>
                  </a:lnTo>
                  <a:lnTo>
                    <a:pt x="2120689" y="2171699"/>
                  </a:lnTo>
                  <a:lnTo>
                    <a:pt x="2115641" y="2120899"/>
                  </a:lnTo>
                  <a:lnTo>
                    <a:pt x="2113958" y="2070099"/>
                  </a:lnTo>
                  <a:lnTo>
                    <a:pt x="2113958" y="1701799"/>
                  </a:lnTo>
                  <a:lnTo>
                    <a:pt x="2210561" y="1701799"/>
                  </a:lnTo>
                  <a:lnTo>
                    <a:pt x="2257538" y="1689099"/>
                  </a:lnTo>
                  <a:lnTo>
                    <a:pt x="2303631" y="1689099"/>
                  </a:lnTo>
                  <a:lnTo>
                    <a:pt x="2524405" y="1625599"/>
                  </a:lnTo>
                  <a:lnTo>
                    <a:pt x="2567206" y="1600199"/>
                  </a:lnTo>
                  <a:lnTo>
                    <a:pt x="2597483" y="1574799"/>
                  </a:lnTo>
                  <a:lnTo>
                    <a:pt x="2658051" y="1549399"/>
                  </a:lnTo>
                  <a:lnTo>
                    <a:pt x="2688328" y="1549399"/>
                  </a:lnTo>
                  <a:lnTo>
                    <a:pt x="2719177" y="1536699"/>
                  </a:lnTo>
                  <a:lnTo>
                    <a:pt x="3758147" y="1536699"/>
                  </a:lnTo>
                  <a:lnTo>
                    <a:pt x="3758147" y="1473199"/>
                  </a:lnTo>
                  <a:close/>
                </a:path>
                <a:path w="3758565" h="3263900">
                  <a:moveTo>
                    <a:pt x="3758147" y="1536699"/>
                  </a:moveTo>
                  <a:lnTo>
                    <a:pt x="2922178" y="1536699"/>
                  </a:lnTo>
                  <a:lnTo>
                    <a:pt x="2952573" y="1549399"/>
                  </a:lnTo>
                  <a:lnTo>
                    <a:pt x="2982161" y="1562099"/>
                  </a:lnTo>
                  <a:lnTo>
                    <a:pt x="3012209" y="1562099"/>
                  </a:lnTo>
                  <a:lnTo>
                    <a:pt x="3042719" y="1587499"/>
                  </a:lnTo>
                  <a:lnTo>
                    <a:pt x="3073695" y="1600199"/>
                  </a:lnTo>
                  <a:lnTo>
                    <a:pt x="3115819" y="1625599"/>
                  </a:lnTo>
                  <a:lnTo>
                    <a:pt x="3158530" y="1638299"/>
                  </a:lnTo>
                  <a:lnTo>
                    <a:pt x="3201831" y="1663699"/>
                  </a:lnTo>
                  <a:lnTo>
                    <a:pt x="3245726" y="1676399"/>
                  </a:lnTo>
                  <a:lnTo>
                    <a:pt x="3290219" y="1676399"/>
                  </a:lnTo>
                  <a:lnTo>
                    <a:pt x="3381225" y="1701799"/>
                  </a:lnTo>
                  <a:lnTo>
                    <a:pt x="3523263" y="1701799"/>
                  </a:lnTo>
                  <a:lnTo>
                    <a:pt x="3523263" y="2070099"/>
                  </a:lnTo>
                  <a:lnTo>
                    <a:pt x="3521530" y="2120899"/>
                  </a:lnTo>
                  <a:lnTo>
                    <a:pt x="3516332" y="2171699"/>
                  </a:lnTo>
                  <a:lnTo>
                    <a:pt x="3507668" y="2222499"/>
                  </a:lnTo>
                  <a:lnTo>
                    <a:pt x="3495535" y="2273299"/>
                  </a:lnTo>
                  <a:lnTo>
                    <a:pt x="3479934" y="2324099"/>
                  </a:lnTo>
                  <a:lnTo>
                    <a:pt x="3460862" y="2362199"/>
                  </a:lnTo>
                  <a:lnTo>
                    <a:pt x="3439054" y="2412999"/>
                  </a:lnTo>
                  <a:lnTo>
                    <a:pt x="3415203" y="2451099"/>
                  </a:lnTo>
                  <a:lnTo>
                    <a:pt x="3389310" y="2501899"/>
                  </a:lnTo>
                  <a:lnTo>
                    <a:pt x="3361376" y="2539999"/>
                  </a:lnTo>
                  <a:lnTo>
                    <a:pt x="3331398" y="2590799"/>
                  </a:lnTo>
                  <a:lnTo>
                    <a:pt x="3299379" y="2628899"/>
                  </a:lnTo>
                  <a:lnTo>
                    <a:pt x="3265592" y="2666999"/>
                  </a:lnTo>
                  <a:lnTo>
                    <a:pt x="3230272" y="2705099"/>
                  </a:lnTo>
                  <a:lnTo>
                    <a:pt x="3193422" y="2743199"/>
                  </a:lnTo>
                  <a:lnTo>
                    <a:pt x="3155041" y="2781299"/>
                  </a:lnTo>
                  <a:lnTo>
                    <a:pt x="3115132" y="2806699"/>
                  </a:lnTo>
                  <a:lnTo>
                    <a:pt x="3073695" y="2844799"/>
                  </a:lnTo>
                  <a:lnTo>
                    <a:pt x="3031428" y="2870199"/>
                  </a:lnTo>
                  <a:lnTo>
                    <a:pt x="2989067" y="2908299"/>
                  </a:lnTo>
                  <a:lnTo>
                    <a:pt x="2818610" y="3009899"/>
                  </a:lnTo>
                  <a:lnTo>
                    <a:pt x="3236978" y="3009899"/>
                  </a:lnTo>
                  <a:lnTo>
                    <a:pt x="3279267" y="2971799"/>
                  </a:lnTo>
                  <a:lnTo>
                    <a:pt x="3320131" y="2946399"/>
                  </a:lnTo>
                  <a:lnTo>
                    <a:pt x="3359570" y="2908299"/>
                  </a:lnTo>
                  <a:lnTo>
                    <a:pt x="3397584" y="2870199"/>
                  </a:lnTo>
                  <a:lnTo>
                    <a:pt x="3434171" y="2832099"/>
                  </a:lnTo>
                  <a:lnTo>
                    <a:pt x="3469331" y="2793999"/>
                  </a:lnTo>
                  <a:lnTo>
                    <a:pt x="3503063" y="2743199"/>
                  </a:lnTo>
                  <a:lnTo>
                    <a:pt x="3535122" y="2705099"/>
                  </a:lnTo>
                  <a:lnTo>
                    <a:pt x="3565328" y="2666999"/>
                  </a:lnTo>
                  <a:lnTo>
                    <a:pt x="3593678" y="2616199"/>
                  </a:lnTo>
                  <a:lnTo>
                    <a:pt x="3620169" y="2565399"/>
                  </a:lnTo>
                  <a:lnTo>
                    <a:pt x="3644799" y="2527299"/>
                  </a:lnTo>
                  <a:lnTo>
                    <a:pt x="3667565" y="2476499"/>
                  </a:lnTo>
                  <a:lnTo>
                    <a:pt x="3688465" y="2425699"/>
                  </a:lnTo>
                  <a:lnTo>
                    <a:pt x="3706993" y="2374899"/>
                  </a:lnTo>
                  <a:lnTo>
                    <a:pt x="3722652" y="2324099"/>
                  </a:lnTo>
                  <a:lnTo>
                    <a:pt x="3735449" y="2273299"/>
                  </a:lnTo>
                  <a:lnTo>
                    <a:pt x="3745389" y="2222499"/>
                  </a:lnTo>
                  <a:lnTo>
                    <a:pt x="3752482" y="2171699"/>
                  </a:lnTo>
                  <a:lnTo>
                    <a:pt x="3756732" y="2120899"/>
                  </a:lnTo>
                  <a:lnTo>
                    <a:pt x="3758147" y="2070099"/>
                  </a:lnTo>
                  <a:lnTo>
                    <a:pt x="3758147" y="1536699"/>
                  </a:lnTo>
                  <a:close/>
                </a:path>
                <a:path w="3758565" h="3263900">
                  <a:moveTo>
                    <a:pt x="3288379" y="0"/>
                  </a:moveTo>
                  <a:lnTo>
                    <a:pt x="469768" y="0"/>
                  </a:lnTo>
                  <a:lnTo>
                    <a:pt x="469768" y="1701799"/>
                  </a:lnTo>
                  <a:lnTo>
                    <a:pt x="84401" y="2095499"/>
                  </a:lnTo>
                  <a:lnTo>
                    <a:pt x="54476" y="2133599"/>
                  </a:lnTo>
                  <a:lnTo>
                    <a:pt x="31205" y="2184399"/>
                  </a:lnTo>
                  <a:lnTo>
                    <a:pt x="25242" y="2197099"/>
                  </a:lnTo>
                  <a:lnTo>
                    <a:pt x="20200" y="2209799"/>
                  </a:lnTo>
                  <a:lnTo>
                    <a:pt x="15825" y="2235199"/>
                  </a:lnTo>
                  <a:lnTo>
                    <a:pt x="11920" y="2247899"/>
                  </a:lnTo>
                  <a:lnTo>
                    <a:pt x="8485" y="2260599"/>
                  </a:lnTo>
                  <a:lnTo>
                    <a:pt x="5519" y="2285999"/>
                  </a:lnTo>
                  <a:lnTo>
                    <a:pt x="3104" y="2298699"/>
                  </a:lnTo>
                  <a:lnTo>
                    <a:pt x="1379" y="2311399"/>
                  </a:lnTo>
                  <a:lnTo>
                    <a:pt x="344" y="2324099"/>
                  </a:lnTo>
                  <a:lnTo>
                    <a:pt x="0" y="2349499"/>
                  </a:lnTo>
                  <a:lnTo>
                    <a:pt x="463" y="2362199"/>
                  </a:lnTo>
                  <a:lnTo>
                    <a:pt x="9639" y="2412999"/>
                  </a:lnTo>
                  <a:lnTo>
                    <a:pt x="29126" y="2463799"/>
                  </a:lnTo>
                  <a:lnTo>
                    <a:pt x="41280" y="2476499"/>
                  </a:lnTo>
                  <a:lnTo>
                    <a:pt x="54814" y="2501899"/>
                  </a:lnTo>
                  <a:lnTo>
                    <a:pt x="86001" y="2527299"/>
                  </a:lnTo>
                  <a:lnTo>
                    <a:pt x="122702" y="2552699"/>
                  </a:lnTo>
                  <a:lnTo>
                    <a:pt x="164688" y="2565399"/>
                  </a:lnTo>
                  <a:lnTo>
                    <a:pt x="187168" y="2578099"/>
                  </a:lnTo>
                  <a:lnTo>
                    <a:pt x="1699230" y="2578099"/>
                  </a:lnTo>
                  <a:lnTo>
                    <a:pt x="1680289" y="2539999"/>
                  </a:lnTo>
                  <a:lnTo>
                    <a:pt x="1663112" y="2489199"/>
                  </a:lnTo>
                  <a:lnTo>
                    <a:pt x="1647698" y="2438399"/>
                  </a:lnTo>
                  <a:lnTo>
                    <a:pt x="1634044" y="2387599"/>
                  </a:lnTo>
                  <a:lnTo>
                    <a:pt x="1622149" y="2349499"/>
                  </a:lnTo>
                  <a:lnTo>
                    <a:pt x="234884" y="2349499"/>
                  </a:lnTo>
                  <a:lnTo>
                    <a:pt x="234884" y="2336799"/>
                  </a:lnTo>
                  <a:lnTo>
                    <a:pt x="235510" y="2336799"/>
                  </a:lnTo>
                  <a:lnTo>
                    <a:pt x="236724" y="2324099"/>
                  </a:lnTo>
                  <a:lnTo>
                    <a:pt x="237751" y="2311399"/>
                  </a:lnTo>
                  <a:lnTo>
                    <a:pt x="239009" y="2311399"/>
                  </a:lnTo>
                  <a:lnTo>
                    <a:pt x="240495" y="2298699"/>
                  </a:lnTo>
                  <a:lnTo>
                    <a:pt x="242204" y="2298699"/>
                  </a:lnTo>
                  <a:lnTo>
                    <a:pt x="245899" y="2285999"/>
                  </a:lnTo>
                  <a:lnTo>
                    <a:pt x="251991" y="2260599"/>
                  </a:lnTo>
                  <a:lnTo>
                    <a:pt x="255084" y="2260599"/>
                  </a:lnTo>
                  <a:lnTo>
                    <a:pt x="258724" y="2247899"/>
                  </a:lnTo>
                  <a:lnTo>
                    <a:pt x="636771" y="1879599"/>
                  </a:lnTo>
                  <a:lnTo>
                    <a:pt x="1585468" y="1879599"/>
                  </a:lnTo>
                  <a:lnTo>
                    <a:pt x="1585468" y="1638299"/>
                  </a:lnTo>
                  <a:lnTo>
                    <a:pt x="704652" y="1638299"/>
                  </a:lnTo>
                  <a:lnTo>
                    <a:pt x="704652" y="228599"/>
                  </a:lnTo>
                  <a:lnTo>
                    <a:pt x="3288379" y="228600"/>
                  </a:lnTo>
                  <a:lnTo>
                    <a:pt x="3288379" y="0"/>
                  </a:lnTo>
                  <a:close/>
                </a:path>
                <a:path w="3758565" h="3263900">
                  <a:moveTo>
                    <a:pt x="3475459" y="1460499"/>
                  </a:moveTo>
                  <a:lnTo>
                    <a:pt x="2215813" y="1460499"/>
                  </a:lnTo>
                  <a:lnTo>
                    <a:pt x="2167178" y="1473199"/>
                  </a:lnTo>
                  <a:lnTo>
                    <a:pt x="3524971" y="1473199"/>
                  </a:lnTo>
                  <a:lnTo>
                    <a:pt x="3475459" y="1460499"/>
                  </a:lnTo>
                  <a:close/>
                </a:path>
                <a:path w="3758565" h="3263900">
                  <a:moveTo>
                    <a:pt x="2970678" y="1308099"/>
                  </a:moveTo>
                  <a:lnTo>
                    <a:pt x="2668249" y="1308099"/>
                  </a:lnTo>
                  <a:lnTo>
                    <a:pt x="2577179" y="1333499"/>
                  </a:lnTo>
                  <a:lnTo>
                    <a:pt x="2531880" y="1358899"/>
                  </a:lnTo>
                  <a:lnTo>
                    <a:pt x="2486354" y="1371599"/>
                  </a:lnTo>
                  <a:lnTo>
                    <a:pt x="2440603" y="1396999"/>
                  </a:lnTo>
                  <a:lnTo>
                    <a:pt x="2399998" y="1422399"/>
                  </a:lnTo>
                  <a:lnTo>
                    <a:pt x="2357102" y="1435099"/>
                  </a:lnTo>
                  <a:lnTo>
                    <a:pt x="2311916" y="1447799"/>
                  </a:lnTo>
                  <a:lnTo>
                    <a:pt x="2264440" y="1460499"/>
                  </a:lnTo>
                  <a:lnTo>
                    <a:pt x="3376460" y="1460499"/>
                  </a:lnTo>
                  <a:lnTo>
                    <a:pt x="3328280" y="1447799"/>
                  </a:lnTo>
                  <a:lnTo>
                    <a:pt x="3282859" y="1435099"/>
                  </a:lnTo>
                  <a:lnTo>
                    <a:pt x="3240198" y="1422399"/>
                  </a:lnTo>
                  <a:lnTo>
                    <a:pt x="3200297" y="1396999"/>
                  </a:lnTo>
                  <a:lnTo>
                    <a:pt x="3153730" y="1371599"/>
                  </a:lnTo>
                  <a:lnTo>
                    <a:pt x="3107626" y="1358899"/>
                  </a:lnTo>
                  <a:lnTo>
                    <a:pt x="3061976" y="1333499"/>
                  </a:lnTo>
                  <a:lnTo>
                    <a:pt x="2970678" y="1308099"/>
                  </a:lnTo>
                  <a:close/>
                </a:path>
                <a:path w="3758565" h="3263900">
                  <a:moveTo>
                    <a:pt x="2871599" y="1295399"/>
                  </a:moveTo>
                  <a:lnTo>
                    <a:pt x="2766420" y="1295399"/>
                  </a:lnTo>
                  <a:lnTo>
                    <a:pt x="2716303" y="1308099"/>
                  </a:lnTo>
                  <a:lnTo>
                    <a:pt x="2922287" y="1308099"/>
                  </a:lnTo>
                  <a:lnTo>
                    <a:pt x="2871599" y="1295399"/>
                  </a:lnTo>
                  <a:close/>
                </a:path>
                <a:path w="3758565" h="3263900">
                  <a:moveTo>
                    <a:pt x="3288379" y="228600"/>
                  </a:moveTo>
                  <a:lnTo>
                    <a:pt x="3053494" y="228600"/>
                  </a:lnTo>
                  <a:lnTo>
                    <a:pt x="3053494" y="1028699"/>
                  </a:lnTo>
                  <a:lnTo>
                    <a:pt x="3084470" y="1041399"/>
                  </a:lnTo>
                  <a:lnTo>
                    <a:pt x="3114980" y="1041399"/>
                  </a:lnTo>
                  <a:lnTo>
                    <a:pt x="3174616" y="1066799"/>
                  </a:lnTo>
                  <a:lnTo>
                    <a:pt x="3232408" y="1092199"/>
                  </a:lnTo>
                  <a:lnTo>
                    <a:pt x="3288379" y="1117599"/>
                  </a:lnTo>
                  <a:lnTo>
                    <a:pt x="3288379" y="228600"/>
                  </a:lnTo>
                  <a:close/>
                </a:path>
              </a:pathLst>
            </a:custGeom>
            <a:solidFill>
              <a:srgbClr val="000000"/>
            </a:solidFill>
          </p:spPr>
          <p:txBody>
            <a:bodyPr wrap="square" lIns="0" tIns="0" rIns="0" bIns="0" rtlCol="0"/>
            <a:lstStyle/>
            <a:p>
              <a:endParaRPr/>
            </a:p>
          </p:txBody>
        </p:sp>
        <p:sp>
          <p:nvSpPr>
            <p:cNvPr id="6" name="object 6"/>
            <p:cNvSpPr/>
            <p:nvPr/>
          </p:nvSpPr>
          <p:spPr>
            <a:xfrm>
              <a:off x="7253373" y="2104750"/>
              <a:ext cx="3758565" cy="3275965"/>
            </a:xfrm>
            <a:custGeom>
              <a:avLst/>
              <a:gdLst/>
              <a:ahLst/>
              <a:cxnLst/>
              <a:rect l="l" t="t" r="r" b="b"/>
              <a:pathLst>
                <a:path w="3758565" h="3275965">
                  <a:moveTo>
                    <a:pt x="1622149" y="2350134"/>
                  </a:moveTo>
                  <a:lnTo>
                    <a:pt x="1634044" y="2398904"/>
                  </a:lnTo>
                  <a:lnTo>
                    <a:pt x="1647698" y="2446790"/>
                  </a:lnTo>
                  <a:lnTo>
                    <a:pt x="1663112" y="2493793"/>
                  </a:lnTo>
                  <a:lnTo>
                    <a:pt x="1680289" y="2539912"/>
                  </a:lnTo>
                  <a:lnTo>
                    <a:pt x="1699230" y="2585147"/>
                  </a:lnTo>
                  <a:lnTo>
                    <a:pt x="234884" y="2585147"/>
                  </a:lnTo>
                  <a:lnTo>
                    <a:pt x="187168" y="2580560"/>
                  </a:lnTo>
                  <a:lnTo>
                    <a:pt x="143122" y="2566777"/>
                  </a:lnTo>
                  <a:lnTo>
                    <a:pt x="103662" y="2545220"/>
                  </a:lnTo>
                  <a:lnTo>
                    <a:pt x="69721" y="2517229"/>
                  </a:lnTo>
                  <a:lnTo>
                    <a:pt x="41280" y="2482804"/>
                  </a:lnTo>
                  <a:lnTo>
                    <a:pt x="18360" y="2441946"/>
                  </a:lnTo>
                  <a:lnTo>
                    <a:pt x="3674" y="2396951"/>
                  </a:lnTo>
                  <a:lnTo>
                    <a:pt x="0" y="2350134"/>
                  </a:lnTo>
                  <a:lnTo>
                    <a:pt x="344" y="2335217"/>
                  </a:lnTo>
                  <a:lnTo>
                    <a:pt x="5519" y="2287699"/>
                  </a:lnTo>
                  <a:lnTo>
                    <a:pt x="15825" y="2236071"/>
                  </a:lnTo>
                  <a:lnTo>
                    <a:pt x="31205" y="2183509"/>
                  </a:lnTo>
                  <a:lnTo>
                    <a:pt x="54476" y="2140019"/>
                  </a:lnTo>
                  <a:lnTo>
                    <a:pt x="84401" y="2100432"/>
                  </a:lnTo>
                  <a:lnTo>
                    <a:pt x="469768" y="1713013"/>
                  </a:lnTo>
                  <a:lnTo>
                    <a:pt x="469768" y="0"/>
                  </a:lnTo>
                  <a:lnTo>
                    <a:pt x="3288379" y="0"/>
                  </a:lnTo>
                  <a:lnTo>
                    <a:pt x="3288379" y="1121836"/>
                  </a:lnTo>
                  <a:lnTo>
                    <a:pt x="3260617" y="1106904"/>
                  </a:lnTo>
                  <a:lnTo>
                    <a:pt x="3232408" y="1093360"/>
                  </a:lnTo>
                  <a:lnTo>
                    <a:pt x="3174616" y="1070407"/>
                  </a:lnTo>
                  <a:lnTo>
                    <a:pt x="3114980" y="1051597"/>
                  </a:lnTo>
                  <a:lnTo>
                    <a:pt x="3053494" y="1035547"/>
                  </a:lnTo>
                  <a:lnTo>
                    <a:pt x="3053494" y="235013"/>
                  </a:lnTo>
                  <a:lnTo>
                    <a:pt x="704652" y="235013"/>
                  </a:lnTo>
                  <a:lnTo>
                    <a:pt x="704652" y="1645094"/>
                  </a:lnTo>
                  <a:lnTo>
                    <a:pt x="1585468" y="1645094"/>
                  </a:lnTo>
                  <a:lnTo>
                    <a:pt x="1585468" y="1880107"/>
                  </a:lnTo>
                  <a:lnTo>
                    <a:pt x="636771" y="1880107"/>
                  </a:lnTo>
                  <a:lnTo>
                    <a:pt x="258724" y="2256481"/>
                  </a:lnTo>
                  <a:lnTo>
                    <a:pt x="249564" y="2274851"/>
                  </a:lnTo>
                  <a:lnTo>
                    <a:pt x="247737" y="2281279"/>
                  </a:lnTo>
                  <a:lnTo>
                    <a:pt x="245899" y="2287699"/>
                  </a:lnTo>
                  <a:lnTo>
                    <a:pt x="244053" y="2294119"/>
                  </a:lnTo>
                  <a:lnTo>
                    <a:pt x="242204" y="2300546"/>
                  </a:lnTo>
                  <a:lnTo>
                    <a:pt x="240495" y="2307097"/>
                  </a:lnTo>
                  <a:lnTo>
                    <a:pt x="234884" y="2345238"/>
                  </a:lnTo>
                  <a:lnTo>
                    <a:pt x="234884" y="2350134"/>
                  </a:lnTo>
                  <a:lnTo>
                    <a:pt x="117442" y="2350134"/>
                  </a:lnTo>
                  <a:lnTo>
                    <a:pt x="1622149" y="2350134"/>
                  </a:lnTo>
                  <a:close/>
                </a:path>
                <a:path w="3758565" h="3275965">
                  <a:moveTo>
                    <a:pt x="2818610" y="1301739"/>
                  </a:moveTo>
                  <a:lnTo>
                    <a:pt x="2871599" y="1303347"/>
                  </a:lnTo>
                  <a:lnTo>
                    <a:pt x="2922287" y="1308173"/>
                  </a:lnTo>
                  <a:lnTo>
                    <a:pt x="2970678" y="1316214"/>
                  </a:lnTo>
                  <a:lnTo>
                    <a:pt x="3016774" y="1327473"/>
                  </a:lnTo>
                  <a:lnTo>
                    <a:pt x="3061976" y="1342036"/>
                  </a:lnTo>
                  <a:lnTo>
                    <a:pt x="3107625" y="1360047"/>
                  </a:lnTo>
                  <a:lnTo>
                    <a:pt x="3153730" y="1381502"/>
                  </a:lnTo>
                  <a:lnTo>
                    <a:pt x="3200297" y="1406398"/>
                  </a:lnTo>
                  <a:lnTo>
                    <a:pt x="3240198" y="1427183"/>
                  </a:lnTo>
                  <a:lnTo>
                    <a:pt x="3282859" y="1443594"/>
                  </a:lnTo>
                  <a:lnTo>
                    <a:pt x="3328280" y="1455636"/>
                  </a:lnTo>
                  <a:lnTo>
                    <a:pt x="3376460" y="1463311"/>
                  </a:lnTo>
                  <a:lnTo>
                    <a:pt x="3425969" y="1468255"/>
                  </a:lnTo>
                  <a:lnTo>
                    <a:pt x="3475459" y="1472045"/>
                  </a:lnTo>
                  <a:lnTo>
                    <a:pt x="3524971" y="1474691"/>
                  </a:lnTo>
                  <a:lnTo>
                    <a:pt x="3574546" y="1476197"/>
                  </a:lnTo>
                  <a:lnTo>
                    <a:pt x="3668108" y="1476197"/>
                  </a:lnTo>
                  <a:lnTo>
                    <a:pt x="3690930" y="1476080"/>
                  </a:lnTo>
                  <a:lnTo>
                    <a:pt x="3713568" y="1475732"/>
                  </a:lnTo>
                  <a:lnTo>
                    <a:pt x="3735986" y="1475156"/>
                  </a:lnTo>
                  <a:lnTo>
                    <a:pt x="3758147" y="1474356"/>
                  </a:lnTo>
                  <a:lnTo>
                    <a:pt x="3758147" y="2071056"/>
                  </a:lnTo>
                  <a:lnTo>
                    <a:pt x="3756732" y="2125684"/>
                  </a:lnTo>
                  <a:lnTo>
                    <a:pt x="3752482" y="2179415"/>
                  </a:lnTo>
                  <a:lnTo>
                    <a:pt x="3745389" y="2232248"/>
                  </a:lnTo>
                  <a:lnTo>
                    <a:pt x="3735448" y="2284181"/>
                  </a:lnTo>
                  <a:lnTo>
                    <a:pt x="3722652" y="2335216"/>
                  </a:lnTo>
                  <a:lnTo>
                    <a:pt x="3706993" y="2385349"/>
                  </a:lnTo>
                  <a:lnTo>
                    <a:pt x="3688465" y="2434582"/>
                  </a:lnTo>
                  <a:lnTo>
                    <a:pt x="3667565" y="2482892"/>
                  </a:lnTo>
                  <a:lnTo>
                    <a:pt x="3644799" y="2530224"/>
                  </a:lnTo>
                  <a:lnTo>
                    <a:pt x="3620169" y="2576579"/>
                  </a:lnTo>
                  <a:lnTo>
                    <a:pt x="3593677" y="2621958"/>
                  </a:lnTo>
                  <a:lnTo>
                    <a:pt x="3565327" y="2666360"/>
                  </a:lnTo>
                  <a:lnTo>
                    <a:pt x="3535122" y="2709788"/>
                  </a:lnTo>
                  <a:lnTo>
                    <a:pt x="3503063" y="2752242"/>
                  </a:lnTo>
                  <a:lnTo>
                    <a:pt x="3469331" y="2793595"/>
                  </a:lnTo>
                  <a:lnTo>
                    <a:pt x="3434171" y="2833753"/>
                  </a:lnTo>
                  <a:lnTo>
                    <a:pt x="3397584" y="2872718"/>
                  </a:lnTo>
                  <a:lnTo>
                    <a:pt x="3359570" y="2910488"/>
                  </a:lnTo>
                  <a:lnTo>
                    <a:pt x="3320131" y="2947063"/>
                  </a:lnTo>
                  <a:lnTo>
                    <a:pt x="3279267" y="2982445"/>
                  </a:lnTo>
                  <a:lnTo>
                    <a:pt x="3236978" y="3016632"/>
                  </a:lnTo>
                  <a:lnTo>
                    <a:pt x="3193805" y="3049529"/>
                  </a:lnTo>
                  <a:lnTo>
                    <a:pt x="3150255" y="3081076"/>
                  </a:lnTo>
                  <a:lnTo>
                    <a:pt x="3106329" y="3111272"/>
                  </a:lnTo>
                  <a:lnTo>
                    <a:pt x="3062028" y="3140120"/>
                  </a:lnTo>
                  <a:lnTo>
                    <a:pt x="3017354" y="3167621"/>
                  </a:lnTo>
                  <a:lnTo>
                    <a:pt x="2972308" y="3193776"/>
                  </a:lnTo>
                  <a:lnTo>
                    <a:pt x="2926892" y="3218587"/>
                  </a:lnTo>
                  <a:lnTo>
                    <a:pt x="2818610" y="3275499"/>
                  </a:lnTo>
                  <a:lnTo>
                    <a:pt x="2708489" y="3218587"/>
                  </a:lnTo>
                  <a:lnTo>
                    <a:pt x="2663110" y="3194273"/>
                  </a:lnTo>
                  <a:lnTo>
                    <a:pt x="2618178" y="3168534"/>
                  </a:lnTo>
                  <a:lnTo>
                    <a:pt x="2573691" y="3141371"/>
                  </a:lnTo>
                  <a:lnTo>
                    <a:pt x="2529651" y="3112783"/>
                  </a:lnTo>
                  <a:lnTo>
                    <a:pt x="2486056" y="3082771"/>
                  </a:lnTo>
                  <a:lnTo>
                    <a:pt x="2442906" y="3051334"/>
                  </a:lnTo>
                  <a:lnTo>
                    <a:pt x="2400203" y="3018473"/>
                  </a:lnTo>
                  <a:lnTo>
                    <a:pt x="2358377" y="2984250"/>
                  </a:lnTo>
                  <a:lnTo>
                    <a:pt x="2317825" y="2948759"/>
                  </a:lnTo>
                  <a:lnTo>
                    <a:pt x="2278547" y="2911999"/>
                  </a:lnTo>
                  <a:lnTo>
                    <a:pt x="2240542" y="2873968"/>
                  </a:lnTo>
                  <a:lnTo>
                    <a:pt x="2203809" y="2834666"/>
                  </a:lnTo>
                  <a:lnTo>
                    <a:pt x="2168348" y="2794091"/>
                  </a:lnTo>
                  <a:lnTo>
                    <a:pt x="2134158" y="2752242"/>
                  </a:lnTo>
                  <a:lnTo>
                    <a:pt x="2101602" y="2709328"/>
                  </a:lnTo>
                  <a:lnTo>
                    <a:pt x="2071076" y="2665593"/>
                  </a:lnTo>
                  <a:lnTo>
                    <a:pt x="2042576" y="2621037"/>
                  </a:lnTo>
                  <a:lnTo>
                    <a:pt x="2016101" y="2575658"/>
                  </a:lnTo>
                  <a:lnTo>
                    <a:pt x="1991648" y="2529457"/>
                  </a:lnTo>
                  <a:lnTo>
                    <a:pt x="1969213" y="2482431"/>
                  </a:lnTo>
                  <a:lnTo>
                    <a:pt x="1948795" y="2434582"/>
                  </a:lnTo>
                  <a:lnTo>
                    <a:pt x="1930747" y="2385797"/>
                  </a:lnTo>
                  <a:lnTo>
                    <a:pt x="1915394" y="2335966"/>
                  </a:lnTo>
                  <a:lnTo>
                    <a:pt x="1902737" y="2285086"/>
                  </a:lnTo>
                  <a:lnTo>
                    <a:pt x="1892775" y="2233156"/>
                  </a:lnTo>
                  <a:lnTo>
                    <a:pt x="1885510" y="2180176"/>
                  </a:lnTo>
                  <a:lnTo>
                    <a:pt x="1880943" y="2126142"/>
                  </a:lnTo>
                  <a:lnTo>
                    <a:pt x="1879073" y="2071056"/>
                  </a:lnTo>
                  <a:lnTo>
                    <a:pt x="1879073" y="1474356"/>
                  </a:lnTo>
                  <a:lnTo>
                    <a:pt x="1970835" y="1474356"/>
                  </a:lnTo>
                  <a:lnTo>
                    <a:pt x="2019451" y="1474807"/>
                  </a:lnTo>
                  <a:lnTo>
                    <a:pt x="2069917" y="1476197"/>
                  </a:lnTo>
                  <a:lnTo>
                    <a:pt x="2118544" y="1475507"/>
                  </a:lnTo>
                  <a:lnTo>
                    <a:pt x="2167178" y="1473436"/>
                  </a:lnTo>
                  <a:lnTo>
                    <a:pt x="2215813" y="1469984"/>
                  </a:lnTo>
                  <a:lnTo>
                    <a:pt x="2264440" y="1465152"/>
                  </a:lnTo>
                  <a:lnTo>
                    <a:pt x="2311916" y="1457243"/>
                  </a:lnTo>
                  <a:lnTo>
                    <a:pt x="2357102" y="1444505"/>
                  </a:lnTo>
                  <a:lnTo>
                    <a:pt x="2399998" y="1426942"/>
                  </a:lnTo>
                  <a:lnTo>
                    <a:pt x="2440603" y="1404557"/>
                  </a:lnTo>
                  <a:lnTo>
                    <a:pt x="2486354" y="1379778"/>
                  </a:lnTo>
                  <a:lnTo>
                    <a:pt x="2531880" y="1358671"/>
                  </a:lnTo>
                  <a:lnTo>
                    <a:pt x="2577179" y="1341236"/>
                  </a:lnTo>
                  <a:lnTo>
                    <a:pt x="2622247" y="1327473"/>
                  </a:lnTo>
                  <a:lnTo>
                    <a:pt x="2668249" y="1316903"/>
                  </a:lnTo>
                  <a:lnTo>
                    <a:pt x="2716303" y="1309098"/>
                  </a:lnTo>
                  <a:lnTo>
                    <a:pt x="2766420" y="1304047"/>
                  </a:lnTo>
                  <a:lnTo>
                    <a:pt x="2818610" y="1301739"/>
                  </a:lnTo>
                  <a:close/>
                </a:path>
                <a:path w="3758565" h="3275965">
                  <a:moveTo>
                    <a:pt x="3523263" y="1709370"/>
                  </a:moveTo>
                  <a:lnTo>
                    <a:pt x="3475177" y="1708487"/>
                  </a:lnTo>
                  <a:lnTo>
                    <a:pt x="3427832" y="1705838"/>
                  </a:lnTo>
                  <a:lnTo>
                    <a:pt x="3381225" y="1701425"/>
                  </a:lnTo>
                  <a:lnTo>
                    <a:pt x="3335354" y="1695251"/>
                  </a:lnTo>
                  <a:lnTo>
                    <a:pt x="3290219" y="1687318"/>
                  </a:lnTo>
                  <a:lnTo>
                    <a:pt x="3245726" y="1676963"/>
                  </a:lnTo>
                  <a:lnTo>
                    <a:pt x="3201831" y="1663525"/>
                  </a:lnTo>
                  <a:lnTo>
                    <a:pt x="3158530" y="1647004"/>
                  </a:lnTo>
                  <a:lnTo>
                    <a:pt x="3115819" y="1627399"/>
                  </a:lnTo>
                  <a:lnTo>
                    <a:pt x="3073694" y="1604711"/>
                  </a:lnTo>
                  <a:lnTo>
                    <a:pt x="3042718" y="1587724"/>
                  </a:lnTo>
                  <a:lnTo>
                    <a:pt x="3012209" y="1573488"/>
                  </a:lnTo>
                  <a:lnTo>
                    <a:pt x="2952572" y="1553282"/>
                  </a:lnTo>
                  <a:lnTo>
                    <a:pt x="2889716" y="1541815"/>
                  </a:lnTo>
                  <a:lnTo>
                    <a:pt x="2818610" y="1536752"/>
                  </a:lnTo>
                  <a:lnTo>
                    <a:pt x="2784326" y="1537676"/>
                  </a:lnTo>
                  <a:lnTo>
                    <a:pt x="2719177" y="1545031"/>
                  </a:lnTo>
                  <a:lnTo>
                    <a:pt x="2658051" y="1560165"/>
                  </a:lnTo>
                  <a:lnTo>
                    <a:pt x="2597483" y="1585883"/>
                  </a:lnTo>
                  <a:lnTo>
                    <a:pt x="2567206" y="1602870"/>
                  </a:lnTo>
                  <a:lnTo>
                    <a:pt x="2524405" y="1625558"/>
                  </a:lnTo>
                  <a:lnTo>
                    <a:pt x="2481170" y="1645163"/>
                  </a:lnTo>
                  <a:lnTo>
                    <a:pt x="2437499" y="1661684"/>
                  </a:lnTo>
                  <a:lnTo>
                    <a:pt x="2393390" y="1675122"/>
                  </a:lnTo>
                  <a:lnTo>
                    <a:pt x="2348842" y="1685477"/>
                  </a:lnTo>
                  <a:lnTo>
                    <a:pt x="2303631" y="1693482"/>
                  </a:lnTo>
                  <a:lnTo>
                    <a:pt x="2257538" y="1699872"/>
                  </a:lnTo>
                  <a:lnTo>
                    <a:pt x="2210561" y="1704648"/>
                  </a:lnTo>
                  <a:lnTo>
                    <a:pt x="2162701" y="1707814"/>
                  </a:lnTo>
                  <a:lnTo>
                    <a:pt x="2113958" y="1709370"/>
                  </a:lnTo>
                  <a:lnTo>
                    <a:pt x="2113958" y="2071056"/>
                  </a:lnTo>
                  <a:lnTo>
                    <a:pt x="2115641" y="2123173"/>
                  </a:lnTo>
                  <a:lnTo>
                    <a:pt x="2120689" y="2174276"/>
                  </a:lnTo>
                  <a:lnTo>
                    <a:pt x="2129103" y="2224363"/>
                  </a:lnTo>
                  <a:lnTo>
                    <a:pt x="2140879" y="2273431"/>
                  </a:lnTo>
                  <a:lnTo>
                    <a:pt x="2156018" y="2321479"/>
                  </a:lnTo>
                  <a:lnTo>
                    <a:pt x="2174518" y="2368504"/>
                  </a:lnTo>
                  <a:lnTo>
                    <a:pt x="2195821" y="2414508"/>
                  </a:lnTo>
                  <a:lnTo>
                    <a:pt x="2219368" y="2459492"/>
                  </a:lnTo>
                  <a:lnTo>
                    <a:pt x="2245160" y="2503456"/>
                  </a:lnTo>
                  <a:lnTo>
                    <a:pt x="2273196" y="2546398"/>
                  </a:lnTo>
                  <a:lnTo>
                    <a:pt x="2303476" y="2588317"/>
                  </a:lnTo>
                  <a:lnTo>
                    <a:pt x="2336001" y="2629212"/>
                  </a:lnTo>
                  <a:lnTo>
                    <a:pt x="2370311" y="2668897"/>
                  </a:lnTo>
                  <a:lnTo>
                    <a:pt x="2405943" y="2707148"/>
                  </a:lnTo>
                  <a:lnTo>
                    <a:pt x="2442898" y="2743968"/>
                  </a:lnTo>
                  <a:lnTo>
                    <a:pt x="2481174" y="2779357"/>
                  </a:lnTo>
                  <a:lnTo>
                    <a:pt x="2520771" y="2813319"/>
                  </a:lnTo>
                  <a:lnTo>
                    <a:pt x="2561686" y="2845856"/>
                  </a:lnTo>
                  <a:lnTo>
                    <a:pt x="2603485" y="2876968"/>
                  </a:lnTo>
                  <a:lnTo>
                    <a:pt x="2645695" y="2906656"/>
                  </a:lnTo>
                  <a:lnTo>
                    <a:pt x="2688313" y="2934916"/>
                  </a:lnTo>
                  <a:lnTo>
                    <a:pt x="2731339" y="2961746"/>
                  </a:lnTo>
                  <a:lnTo>
                    <a:pt x="2774772" y="2987145"/>
                  </a:lnTo>
                  <a:lnTo>
                    <a:pt x="2818610" y="3011109"/>
                  </a:lnTo>
                  <a:lnTo>
                    <a:pt x="2861382" y="2987703"/>
                  </a:lnTo>
                  <a:lnTo>
                    <a:pt x="2904047" y="2962763"/>
                  </a:lnTo>
                  <a:lnTo>
                    <a:pt x="2946607" y="2936292"/>
                  </a:lnTo>
                  <a:lnTo>
                    <a:pt x="2989067" y="2908289"/>
                  </a:lnTo>
                  <a:lnTo>
                    <a:pt x="3031428" y="2878757"/>
                  </a:lnTo>
                  <a:lnTo>
                    <a:pt x="3073694" y="2847697"/>
                  </a:lnTo>
                  <a:lnTo>
                    <a:pt x="3115132" y="2815157"/>
                  </a:lnTo>
                  <a:lnTo>
                    <a:pt x="3155041" y="2781189"/>
                  </a:lnTo>
                  <a:lnTo>
                    <a:pt x="3193422" y="2745794"/>
                  </a:lnTo>
                  <a:lnTo>
                    <a:pt x="3230272" y="2708972"/>
                  </a:lnTo>
                  <a:lnTo>
                    <a:pt x="3265592" y="2670725"/>
                  </a:lnTo>
                  <a:lnTo>
                    <a:pt x="3299379" y="2631053"/>
                  </a:lnTo>
                  <a:lnTo>
                    <a:pt x="3331398" y="2590144"/>
                  </a:lnTo>
                  <a:lnTo>
                    <a:pt x="3361375" y="2548221"/>
                  </a:lnTo>
                  <a:lnTo>
                    <a:pt x="3389310" y="2505282"/>
                  </a:lnTo>
                  <a:lnTo>
                    <a:pt x="3415203" y="2461324"/>
                  </a:lnTo>
                  <a:lnTo>
                    <a:pt x="3439054" y="2416346"/>
                  </a:lnTo>
                  <a:lnTo>
                    <a:pt x="3460862" y="2370345"/>
                  </a:lnTo>
                  <a:lnTo>
                    <a:pt x="3479933" y="2323257"/>
                  </a:lnTo>
                  <a:lnTo>
                    <a:pt x="3495535" y="2275056"/>
                  </a:lnTo>
                  <a:lnTo>
                    <a:pt x="3507668" y="2225738"/>
                  </a:lnTo>
                  <a:lnTo>
                    <a:pt x="3516332" y="2175301"/>
                  </a:lnTo>
                  <a:lnTo>
                    <a:pt x="3521530" y="2123742"/>
                  </a:lnTo>
                  <a:lnTo>
                    <a:pt x="3523263" y="2071056"/>
                  </a:lnTo>
                  <a:lnTo>
                    <a:pt x="3523263" y="1709370"/>
                  </a:lnTo>
                  <a:close/>
                </a:path>
              </a:pathLst>
            </a:custGeom>
            <a:ln w="54821">
              <a:solidFill>
                <a:srgbClr val="1CACE3"/>
              </a:solidFill>
            </a:ln>
          </p:spPr>
          <p:txBody>
            <a:bodyPr wrap="square" lIns="0" tIns="0" rIns="0" bIns="0" rtlCol="0"/>
            <a:lstStyle/>
            <a:p>
              <a:endParaRPr/>
            </a:p>
          </p:txBody>
        </p:sp>
      </p:gr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25" dirty="0"/>
              <a:t>19</a:t>
            </a:fld>
            <a:endParaRPr spc="-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APPLICATION ATTACKS</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25" dirty="0"/>
              <a:t>20</a:t>
            </a:fld>
            <a:endParaRPr spc="-25" dirty="0"/>
          </a:p>
        </p:txBody>
      </p:sp>
      <p:sp>
        <p:nvSpPr>
          <p:cNvPr id="3" name="object 3"/>
          <p:cNvSpPr txBox="1">
            <a:spLocks noGrp="1"/>
          </p:cNvSpPr>
          <p:nvPr>
            <p:ph type="body" idx="1"/>
          </p:nvPr>
        </p:nvSpPr>
        <p:spPr>
          <a:xfrm>
            <a:off x="1148892" y="2069718"/>
            <a:ext cx="9534525" cy="3702296"/>
          </a:xfrm>
          <a:prstGeom prst="rect">
            <a:avLst/>
          </a:prstGeom>
        </p:spPr>
        <p:txBody>
          <a:bodyPr vert="horz" wrap="square" lIns="0" tIns="49530" rIns="0" bIns="0" rtlCol="0">
            <a:spAutoFit/>
          </a:bodyPr>
          <a:lstStyle/>
          <a:p>
            <a:pPr marL="12700" marR="118745">
              <a:lnSpc>
                <a:spcPts val="2380"/>
              </a:lnSpc>
              <a:spcBef>
                <a:spcPts val="390"/>
              </a:spcBef>
            </a:pPr>
            <a:r>
              <a:rPr sz="2200" dirty="0"/>
              <a:t>Software or </a:t>
            </a:r>
            <a:r>
              <a:rPr sz="2200" dirty="0">
                <a:solidFill>
                  <a:srgbClr val="C00000"/>
                </a:solidFill>
              </a:rPr>
              <a:t>application attacks </a:t>
            </a:r>
            <a:r>
              <a:rPr sz="2200" dirty="0"/>
              <a:t>look for vulnerabilities in the program or manipulate it to compromise it.</a:t>
            </a:r>
          </a:p>
          <a:p>
            <a:pPr marL="334645" marR="5080" indent="-285750">
              <a:lnSpc>
                <a:spcPts val="1939"/>
              </a:lnSpc>
              <a:spcBef>
                <a:spcPts val="415"/>
              </a:spcBef>
              <a:buFont typeface="Arial" panose="020B0604020202020204" pitchFamily="34" charset="0"/>
              <a:buChar char="•"/>
            </a:pPr>
            <a:r>
              <a:rPr sz="1800" dirty="0"/>
              <a:t>Attacks using malware typically add malicious software to an endpoint. Application attacks specifically targets software applications that are </a:t>
            </a:r>
            <a:r>
              <a:rPr sz="1800" dirty="0">
                <a:solidFill>
                  <a:srgbClr val="0000FF"/>
                </a:solidFill>
              </a:rPr>
              <a:t>already installed </a:t>
            </a:r>
            <a:r>
              <a:rPr sz="1800" dirty="0"/>
              <a:t>and running on the device.</a:t>
            </a:r>
            <a:endParaRPr sz="1800" dirty="0">
              <a:cs typeface="Microsoft Sans Serif"/>
            </a:endParaRPr>
          </a:p>
          <a:p>
            <a:pPr marL="12700">
              <a:lnSpc>
                <a:spcPct val="100000"/>
              </a:lnSpc>
              <a:spcBef>
                <a:spcPts val="1295"/>
              </a:spcBef>
            </a:pPr>
            <a:r>
              <a:rPr sz="2200" dirty="0"/>
              <a:t>Category continues to </a:t>
            </a:r>
            <a:r>
              <a:rPr sz="2200" dirty="0">
                <a:solidFill>
                  <a:srgbClr val="C00000"/>
                </a:solidFill>
              </a:rPr>
              <a:t>grow</a:t>
            </a:r>
            <a:endParaRPr sz="2200" dirty="0"/>
          </a:p>
          <a:p>
            <a:pPr marL="334645" indent="-285750">
              <a:lnSpc>
                <a:spcPct val="100000"/>
              </a:lnSpc>
              <a:spcBef>
                <a:spcPts val="210"/>
              </a:spcBef>
              <a:buFont typeface="Arial" panose="020B0604020202020204" pitchFamily="34" charset="0"/>
              <a:buChar char="•"/>
            </a:pPr>
            <a:r>
              <a:rPr sz="1800" dirty="0"/>
              <a:t>Web application attacks</a:t>
            </a:r>
            <a:endParaRPr lang="en-CA" sz="1800" dirty="0">
              <a:cs typeface="Microsoft Sans Serif"/>
            </a:endParaRPr>
          </a:p>
          <a:p>
            <a:pPr marL="334645" indent="-285750">
              <a:lnSpc>
                <a:spcPct val="100000"/>
              </a:lnSpc>
              <a:spcBef>
                <a:spcPts val="210"/>
              </a:spcBef>
              <a:buFont typeface="Arial" panose="020B0604020202020204" pitchFamily="34" charset="0"/>
              <a:buChar char="•"/>
            </a:pPr>
            <a:r>
              <a:rPr sz="1800" dirty="0"/>
              <a:t>Vulnerabilities written into the code</a:t>
            </a:r>
            <a:endParaRPr sz="1800" dirty="0">
              <a:cs typeface="Microsoft Sans Serif"/>
            </a:endParaRPr>
          </a:p>
          <a:p>
            <a:pPr marL="12700">
              <a:lnSpc>
                <a:spcPct val="100000"/>
              </a:lnSpc>
              <a:spcBef>
                <a:spcPts val="1300"/>
              </a:spcBef>
            </a:pPr>
            <a:r>
              <a:rPr sz="2200" dirty="0">
                <a:solidFill>
                  <a:srgbClr val="C00000"/>
                </a:solidFill>
              </a:rPr>
              <a:t>Zero-day </a:t>
            </a:r>
            <a:r>
              <a:rPr sz="2200" dirty="0"/>
              <a:t>attacks</a:t>
            </a:r>
          </a:p>
          <a:p>
            <a:pPr marL="334645" indent="-285750">
              <a:lnSpc>
                <a:spcPct val="100000"/>
              </a:lnSpc>
              <a:spcBef>
                <a:spcPts val="210"/>
              </a:spcBef>
              <a:buFont typeface="Arial" panose="020B0604020202020204" pitchFamily="34" charset="0"/>
              <a:buChar char="•"/>
            </a:pPr>
            <a:r>
              <a:rPr sz="1800" dirty="0"/>
              <a:t>Threat actor exploit previously </a:t>
            </a:r>
            <a:r>
              <a:rPr sz="1800" dirty="0">
                <a:solidFill>
                  <a:srgbClr val="0000FF"/>
                </a:solidFill>
              </a:rPr>
              <a:t>unknown </a:t>
            </a:r>
            <a:r>
              <a:rPr sz="1800" dirty="0"/>
              <a:t>vulnerabilities</a:t>
            </a:r>
            <a:endParaRPr lang="en-CA" sz="1800" dirty="0">
              <a:cs typeface="Microsoft Sans Serif"/>
            </a:endParaRPr>
          </a:p>
          <a:p>
            <a:pPr marL="334645" indent="-285750">
              <a:lnSpc>
                <a:spcPct val="100000"/>
              </a:lnSpc>
              <a:spcBef>
                <a:spcPts val="210"/>
              </a:spcBef>
              <a:buFont typeface="Arial" panose="020B0604020202020204" pitchFamily="34" charset="0"/>
              <a:buChar char="•"/>
            </a:pPr>
            <a:r>
              <a:rPr sz="1800" dirty="0"/>
              <a:t>Difficult to discover and often take months and sometimes years before the vulnerability is </a:t>
            </a:r>
            <a:r>
              <a:rPr sz="1800" dirty="0">
                <a:solidFill>
                  <a:srgbClr val="0000FF"/>
                </a:solidFill>
              </a:rPr>
              <a:t>patched</a:t>
            </a:r>
            <a:r>
              <a:rPr sz="1800" dirty="0"/>
              <a:t>.</a:t>
            </a:r>
            <a:endParaRPr sz="1800" dirty="0">
              <a:cs typeface="Microsoft Sans Serif"/>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10018090" cy="1090683"/>
          </a:xfrm>
          <a:prstGeom prst="rect">
            <a:avLst/>
          </a:prstGeom>
        </p:spPr>
        <p:txBody>
          <a:bodyPr vert="horz" wrap="square" lIns="0" tIns="318135" rIns="0" bIns="0" rtlCol="0">
            <a:spAutoFit/>
          </a:bodyPr>
          <a:lstStyle/>
          <a:p>
            <a:pPr marL="12700">
              <a:lnSpc>
                <a:spcPct val="100000"/>
              </a:lnSpc>
              <a:spcBef>
                <a:spcPts val="105"/>
              </a:spcBef>
            </a:pPr>
            <a:r>
              <a:rPr dirty="0"/>
              <a:t>APPLICATION ATTACKS – XSS ATTACK</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25" dirty="0"/>
              <a:t>21</a:t>
            </a:fld>
            <a:endParaRPr spc="-25" dirty="0"/>
          </a:p>
        </p:txBody>
      </p:sp>
      <p:sp>
        <p:nvSpPr>
          <p:cNvPr id="3" name="object 3"/>
          <p:cNvSpPr txBox="1"/>
          <p:nvPr/>
        </p:nvSpPr>
        <p:spPr>
          <a:xfrm>
            <a:off x="962660" y="2065146"/>
            <a:ext cx="10678160" cy="3701654"/>
          </a:xfrm>
          <a:prstGeom prst="rect">
            <a:avLst/>
          </a:prstGeom>
        </p:spPr>
        <p:txBody>
          <a:bodyPr vert="horz" wrap="square" lIns="0" tIns="53975" rIns="0" bIns="0" rtlCol="0">
            <a:spAutoFit/>
          </a:bodyPr>
          <a:lstStyle/>
          <a:p>
            <a:pPr marL="12700" marR="5080">
              <a:lnSpc>
                <a:spcPts val="2590"/>
              </a:lnSpc>
              <a:spcBef>
                <a:spcPts val="425"/>
              </a:spcBef>
            </a:pPr>
            <a:r>
              <a:rPr sz="2400" dirty="0">
                <a:latin typeface="+mj-lt"/>
                <a:cs typeface="Arial MT"/>
              </a:rPr>
              <a:t>In </a:t>
            </a:r>
            <a:r>
              <a:rPr sz="2400" dirty="0">
                <a:solidFill>
                  <a:srgbClr val="C00000"/>
                </a:solidFill>
                <a:latin typeface="+mj-lt"/>
                <a:cs typeface="Arial MT"/>
              </a:rPr>
              <a:t>cross-site scripting </a:t>
            </a:r>
            <a:r>
              <a:rPr sz="2400" dirty="0">
                <a:latin typeface="+mj-lt"/>
                <a:cs typeface="Arial MT"/>
              </a:rPr>
              <a:t>(XSS) attack, a website that accepts user input without validating it (called </a:t>
            </a:r>
            <a:r>
              <a:rPr sz="2400" dirty="0">
                <a:solidFill>
                  <a:srgbClr val="0000FF"/>
                </a:solidFill>
                <a:latin typeface="+mj-lt"/>
                <a:cs typeface="Arial MT"/>
              </a:rPr>
              <a:t>sanitizing</a:t>
            </a:r>
            <a:r>
              <a:rPr sz="2400" dirty="0">
                <a:latin typeface="+mj-lt"/>
                <a:cs typeface="Arial MT"/>
              </a:rPr>
              <a:t>) and uses that input in a response, can be exploited.</a:t>
            </a:r>
          </a:p>
          <a:p>
            <a:pPr marL="391795" indent="-342900">
              <a:lnSpc>
                <a:spcPts val="2280"/>
              </a:lnSpc>
              <a:spcBef>
                <a:spcPts val="150"/>
              </a:spcBef>
              <a:buFont typeface="Arial" panose="020B0604020202020204" pitchFamily="34" charset="0"/>
              <a:buChar char="•"/>
            </a:pPr>
            <a:r>
              <a:rPr sz="2000" dirty="0">
                <a:latin typeface="+mj-lt"/>
                <a:cs typeface="Arial MT"/>
              </a:rPr>
              <a:t>An attacker tricks a valid website into feeding a </a:t>
            </a:r>
            <a:r>
              <a:rPr sz="2000" dirty="0">
                <a:solidFill>
                  <a:srgbClr val="0000FF"/>
                </a:solidFill>
                <a:latin typeface="+mj-lt"/>
                <a:cs typeface="Arial MT"/>
              </a:rPr>
              <a:t>malicious script </a:t>
            </a:r>
            <a:r>
              <a:rPr sz="2000" dirty="0">
                <a:latin typeface="+mj-lt"/>
                <a:cs typeface="Arial MT"/>
              </a:rPr>
              <a:t>to another user’s web browser,</a:t>
            </a:r>
            <a:r>
              <a:rPr lang="en-CA" sz="2000" dirty="0">
                <a:latin typeface="+mj-lt"/>
                <a:cs typeface="Arial MT"/>
              </a:rPr>
              <a:t> </a:t>
            </a:r>
            <a:r>
              <a:rPr sz="2000" dirty="0">
                <a:latin typeface="+mj-lt"/>
                <a:cs typeface="Arial MT"/>
              </a:rPr>
              <a:t>which will then execute it.</a:t>
            </a:r>
          </a:p>
          <a:p>
            <a:pPr marL="391795" indent="-342900">
              <a:lnSpc>
                <a:spcPts val="2280"/>
              </a:lnSpc>
              <a:spcBef>
                <a:spcPts val="360"/>
              </a:spcBef>
              <a:buFont typeface="Arial" panose="020B0604020202020204" pitchFamily="34" charset="0"/>
              <a:buChar char="•"/>
            </a:pPr>
            <a:r>
              <a:rPr sz="2000" dirty="0">
                <a:latin typeface="+mj-lt"/>
                <a:cs typeface="Arial MT"/>
              </a:rPr>
              <a:t>One of the most frequent </a:t>
            </a:r>
            <a:r>
              <a:rPr sz="2000" dirty="0">
                <a:solidFill>
                  <a:srgbClr val="0000FF"/>
                </a:solidFill>
                <a:latin typeface="+mj-lt"/>
                <a:cs typeface="Arial MT"/>
              </a:rPr>
              <a:t>targets </a:t>
            </a:r>
            <a:r>
              <a:rPr sz="2000" dirty="0">
                <a:latin typeface="+mj-lt"/>
                <a:cs typeface="Arial MT"/>
              </a:rPr>
              <a:t>are websites that allow users to share content, including blogs,</a:t>
            </a:r>
            <a:r>
              <a:rPr lang="en-CA" sz="2000" dirty="0">
                <a:latin typeface="+mj-lt"/>
                <a:cs typeface="Arial MT"/>
              </a:rPr>
              <a:t> </a:t>
            </a:r>
            <a:r>
              <a:rPr sz="2000" dirty="0">
                <a:latin typeface="+mj-lt"/>
                <a:cs typeface="Arial MT"/>
              </a:rPr>
              <a:t>social networks, video sharing platforms and message boards.</a:t>
            </a:r>
          </a:p>
          <a:p>
            <a:pPr marL="12700">
              <a:lnSpc>
                <a:spcPct val="100000"/>
              </a:lnSpc>
              <a:spcBef>
                <a:spcPts val="1280"/>
              </a:spcBef>
            </a:pPr>
            <a:r>
              <a:rPr sz="2400" dirty="0">
                <a:solidFill>
                  <a:srgbClr val="C00000"/>
                </a:solidFill>
                <a:latin typeface="+mj-lt"/>
                <a:cs typeface="Arial MT"/>
              </a:rPr>
              <a:t>Prevention</a:t>
            </a:r>
            <a:r>
              <a:rPr sz="2400" dirty="0">
                <a:latin typeface="+mj-lt"/>
                <a:cs typeface="Arial MT"/>
              </a:rPr>
              <a:t>:</a:t>
            </a:r>
          </a:p>
          <a:p>
            <a:pPr marL="391795" indent="-342900">
              <a:lnSpc>
                <a:spcPct val="100000"/>
              </a:lnSpc>
              <a:spcBef>
                <a:spcPts val="185"/>
              </a:spcBef>
              <a:buFont typeface="Arial" panose="020B0604020202020204" pitchFamily="34" charset="0"/>
              <a:buChar char="•"/>
            </a:pPr>
            <a:r>
              <a:rPr sz="2000" dirty="0">
                <a:solidFill>
                  <a:srgbClr val="0000FF"/>
                </a:solidFill>
                <a:latin typeface="+mj-lt"/>
                <a:cs typeface="Arial MT"/>
              </a:rPr>
              <a:t>Sanitize Input: </a:t>
            </a:r>
            <a:r>
              <a:rPr sz="2000" dirty="0">
                <a:latin typeface="+mj-lt"/>
                <a:cs typeface="Arial MT"/>
              </a:rPr>
              <a:t>Take a zero-trust approach to user input data.</a:t>
            </a:r>
            <a:endParaRPr lang="en-CA" sz="2000" dirty="0">
              <a:latin typeface="+mj-lt"/>
              <a:cs typeface="Arial MT"/>
            </a:endParaRPr>
          </a:p>
          <a:p>
            <a:pPr marL="391795" indent="-342900">
              <a:lnSpc>
                <a:spcPct val="100000"/>
              </a:lnSpc>
              <a:spcBef>
                <a:spcPts val="185"/>
              </a:spcBef>
              <a:buFont typeface="Arial" panose="020B0604020202020204" pitchFamily="34" charset="0"/>
              <a:buChar char="•"/>
            </a:pPr>
            <a:r>
              <a:rPr sz="2000" dirty="0">
                <a:latin typeface="+mj-lt"/>
                <a:cs typeface="Arial MT"/>
              </a:rPr>
              <a:t>Implement code </a:t>
            </a:r>
            <a:r>
              <a:rPr sz="2000" dirty="0">
                <a:solidFill>
                  <a:srgbClr val="0000FF"/>
                </a:solidFill>
                <a:latin typeface="+mj-lt"/>
                <a:cs typeface="Arial MT"/>
              </a:rPr>
              <a:t>vulnerability testing</a:t>
            </a:r>
            <a:endParaRPr sz="2000" dirty="0">
              <a:latin typeface="+mj-lt"/>
              <a:cs typeface="Arial MT"/>
            </a:endParaRPr>
          </a:p>
          <a:p>
            <a:pPr marL="153035">
              <a:lnSpc>
                <a:spcPct val="100000"/>
              </a:lnSpc>
              <a:spcBef>
                <a:spcPts val="1875"/>
              </a:spcBef>
            </a:pPr>
            <a:r>
              <a:rPr sz="1800" b="1" u="sng" dirty="0">
                <a:solidFill>
                  <a:srgbClr val="6B9F24"/>
                </a:solidFill>
                <a:uFill>
                  <a:solidFill>
                    <a:srgbClr val="6B9F24"/>
                  </a:solidFill>
                </a:uFill>
                <a:latin typeface="+mj-lt"/>
                <a:cs typeface="Courier New"/>
                <a:hlinkClick r:id="rId2"/>
              </a:rPr>
              <a:t>https://owasp.org/www-project-top-ten/</a:t>
            </a:r>
            <a:endParaRPr sz="1800" dirty="0">
              <a:latin typeface="+mj-lt"/>
              <a:cs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889760" y="1424940"/>
            <a:ext cx="8545068" cy="4870703"/>
          </a:xfrm>
          <a:prstGeom prst="rect">
            <a:avLst/>
          </a:prstGeom>
        </p:spPr>
      </p:pic>
      <p:sp>
        <p:nvSpPr>
          <p:cNvPr id="3" name="object 3"/>
          <p:cNvSpPr txBox="1"/>
          <p:nvPr/>
        </p:nvSpPr>
        <p:spPr>
          <a:xfrm>
            <a:off x="4241038" y="6321958"/>
            <a:ext cx="3707765" cy="193675"/>
          </a:xfrm>
          <a:prstGeom prst="rect">
            <a:avLst/>
          </a:prstGeom>
        </p:spPr>
        <p:txBody>
          <a:bodyPr vert="horz" wrap="square" lIns="0" tIns="12700" rIns="0" bIns="0" rtlCol="0">
            <a:spAutoFit/>
          </a:bodyPr>
          <a:lstStyle/>
          <a:p>
            <a:pPr marL="12700">
              <a:lnSpc>
                <a:spcPct val="100000"/>
              </a:lnSpc>
              <a:spcBef>
                <a:spcPts val="100"/>
              </a:spcBef>
            </a:pPr>
            <a:r>
              <a:rPr sz="1100" u="sng" spc="-140" dirty="0">
                <a:solidFill>
                  <a:srgbClr val="6B9F24"/>
                </a:solidFill>
                <a:uFill>
                  <a:solidFill>
                    <a:srgbClr val="6B9F24"/>
                  </a:solidFill>
                </a:uFill>
                <a:latin typeface="Arial MT"/>
                <a:cs typeface="Arial MT"/>
              </a:rPr>
              <a:t>This</a:t>
            </a:r>
            <a:r>
              <a:rPr sz="1100" u="sng" spc="10" dirty="0">
                <a:solidFill>
                  <a:srgbClr val="6B9F24"/>
                </a:solidFill>
                <a:uFill>
                  <a:solidFill>
                    <a:srgbClr val="6B9F24"/>
                  </a:solidFill>
                </a:uFill>
                <a:latin typeface="Arial MT"/>
                <a:cs typeface="Arial MT"/>
              </a:rPr>
              <a:t> </a:t>
            </a:r>
            <a:r>
              <a:rPr sz="1100" u="sng" spc="-100" dirty="0">
                <a:solidFill>
                  <a:srgbClr val="6B9F24"/>
                </a:solidFill>
                <a:uFill>
                  <a:solidFill>
                    <a:srgbClr val="6B9F24"/>
                  </a:solidFill>
                </a:uFill>
                <a:latin typeface="Arial MT"/>
                <a:cs typeface="Arial MT"/>
              </a:rPr>
              <a:t>Photo</a:t>
            </a:r>
            <a:r>
              <a:rPr sz="1100" u="sng" spc="10" dirty="0">
                <a:solidFill>
                  <a:srgbClr val="6B9F24"/>
                </a:solidFill>
                <a:uFill>
                  <a:solidFill>
                    <a:srgbClr val="6B9F24"/>
                  </a:solidFill>
                </a:uFill>
                <a:latin typeface="Arial MT"/>
                <a:cs typeface="Arial MT"/>
              </a:rPr>
              <a:t> </a:t>
            </a:r>
            <a:r>
              <a:rPr sz="1100" dirty="0">
                <a:latin typeface="Arial MT"/>
                <a:cs typeface="Arial MT"/>
              </a:rPr>
              <a:t>by</a:t>
            </a:r>
            <a:r>
              <a:rPr sz="1100" spc="15" dirty="0">
                <a:latin typeface="Arial MT"/>
                <a:cs typeface="Arial MT"/>
              </a:rPr>
              <a:t> </a:t>
            </a:r>
            <a:r>
              <a:rPr sz="1100" spc="-55" dirty="0">
                <a:latin typeface="Arial MT"/>
                <a:cs typeface="Arial MT"/>
              </a:rPr>
              <a:t>Batka</a:t>
            </a:r>
            <a:r>
              <a:rPr sz="1100" spc="30" dirty="0">
                <a:latin typeface="Arial MT"/>
                <a:cs typeface="Arial MT"/>
              </a:rPr>
              <a:t> </a:t>
            </a:r>
            <a:r>
              <a:rPr sz="1100" spc="-55" dirty="0">
                <a:latin typeface="Arial MT"/>
                <a:cs typeface="Arial MT"/>
              </a:rPr>
              <a:t>savemazaalai</a:t>
            </a:r>
            <a:r>
              <a:rPr sz="1100" spc="15" dirty="0">
                <a:latin typeface="Arial MT"/>
                <a:cs typeface="Arial MT"/>
              </a:rPr>
              <a:t> </a:t>
            </a:r>
            <a:r>
              <a:rPr sz="1100" spc="-105" dirty="0">
                <a:latin typeface="Arial MT"/>
                <a:cs typeface="Arial MT"/>
              </a:rPr>
              <a:t>is</a:t>
            </a:r>
            <a:r>
              <a:rPr sz="1100" spc="-5" dirty="0">
                <a:latin typeface="Arial MT"/>
                <a:cs typeface="Arial MT"/>
              </a:rPr>
              <a:t> </a:t>
            </a:r>
            <a:r>
              <a:rPr sz="1100" spc="-85" dirty="0">
                <a:latin typeface="Arial MT"/>
                <a:cs typeface="Arial MT"/>
              </a:rPr>
              <a:t>licensed</a:t>
            </a:r>
            <a:r>
              <a:rPr sz="1100" spc="15" dirty="0">
                <a:latin typeface="Arial MT"/>
                <a:cs typeface="Arial MT"/>
              </a:rPr>
              <a:t> </a:t>
            </a:r>
            <a:r>
              <a:rPr sz="1100" spc="-70" dirty="0">
                <a:latin typeface="Arial MT"/>
                <a:cs typeface="Arial MT"/>
              </a:rPr>
              <a:t>under</a:t>
            </a:r>
            <a:r>
              <a:rPr sz="1100" spc="20" dirty="0">
                <a:latin typeface="Arial MT"/>
                <a:cs typeface="Arial MT"/>
              </a:rPr>
              <a:t> </a:t>
            </a:r>
            <a:r>
              <a:rPr sz="1100" u="sng" spc="-145" dirty="0">
                <a:solidFill>
                  <a:srgbClr val="6B9F24"/>
                </a:solidFill>
                <a:uFill>
                  <a:solidFill>
                    <a:srgbClr val="6B9F24"/>
                  </a:solidFill>
                </a:uFill>
                <a:latin typeface="Arial MT"/>
                <a:cs typeface="Arial MT"/>
                <a:hlinkClick r:id="rId3"/>
              </a:rPr>
              <a:t>CC</a:t>
            </a:r>
            <a:r>
              <a:rPr sz="1100" u="sng" spc="5" dirty="0">
                <a:solidFill>
                  <a:srgbClr val="6B9F24"/>
                </a:solidFill>
                <a:uFill>
                  <a:solidFill>
                    <a:srgbClr val="6B9F24"/>
                  </a:solidFill>
                </a:uFill>
                <a:latin typeface="Arial MT"/>
                <a:cs typeface="Arial MT"/>
                <a:hlinkClick r:id="rId3"/>
              </a:rPr>
              <a:t> </a:t>
            </a:r>
            <a:r>
              <a:rPr sz="1100" u="sng" spc="-114" dirty="0">
                <a:solidFill>
                  <a:srgbClr val="6B9F24"/>
                </a:solidFill>
                <a:uFill>
                  <a:solidFill>
                    <a:srgbClr val="6B9F24"/>
                  </a:solidFill>
                </a:uFill>
                <a:latin typeface="Arial MT"/>
                <a:cs typeface="Arial MT"/>
                <a:hlinkClick r:id="rId3"/>
              </a:rPr>
              <a:t>BY-</a:t>
            </a:r>
            <a:r>
              <a:rPr sz="1100" u="sng" spc="-140" dirty="0">
                <a:solidFill>
                  <a:srgbClr val="6B9F24"/>
                </a:solidFill>
                <a:uFill>
                  <a:solidFill>
                    <a:srgbClr val="6B9F24"/>
                  </a:solidFill>
                </a:uFill>
                <a:latin typeface="Arial MT"/>
                <a:cs typeface="Arial MT"/>
                <a:hlinkClick r:id="rId3"/>
              </a:rPr>
              <a:t>SA</a:t>
            </a:r>
            <a:r>
              <a:rPr sz="1100" u="sng" spc="-15" dirty="0">
                <a:solidFill>
                  <a:srgbClr val="6B9F24"/>
                </a:solidFill>
                <a:uFill>
                  <a:solidFill>
                    <a:srgbClr val="6B9F24"/>
                  </a:solidFill>
                </a:uFill>
                <a:latin typeface="Arial MT"/>
                <a:cs typeface="Arial MT"/>
                <a:hlinkClick r:id="rId3"/>
              </a:rPr>
              <a:t> </a:t>
            </a:r>
            <a:r>
              <a:rPr sz="1100" u="sng" spc="-25" dirty="0">
                <a:solidFill>
                  <a:srgbClr val="6B9F24"/>
                </a:solidFill>
                <a:uFill>
                  <a:solidFill>
                    <a:srgbClr val="6B9F24"/>
                  </a:solidFill>
                </a:uFill>
                <a:latin typeface="Arial MT"/>
                <a:cs typeface="Arial MT"/>
                <a:hlinkClick r:id="rId3"/>
              </a:rPr>
              <a:t>4.0</a:t>
            </a:r>
            <a:endParaRPr sz="1100">
              <a:latin typeface="Arial MT"/>
              <a:cs typeface="Arial MT"/>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155"/>
              </a:lnSpc>
            </a:pPr>
            <a:fld id="{81D60167-4931-47E6-BA6A-407CBD079E47}" type="slidenum">
              <a:rPr spc="-25" dirty="0">
                <a:latin typeface="Arial MT"/>
                <a:cs typeface="Arial MT"/>
              </a:rPr>
              <a:t>22</a:t>
            </a:fld>
            <a:endParaRPr spc="-25" dirty="0">
              <a:latin typeface="Arial MT"/>
              <a:cs typeface="Arial M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7737" y="168962"/>
            <a:ext cx="9814256" cy="1860125"/>
          </a:xfrm>
          <a:prstGeom prst="rect">
            <a:avLst/>
          </a:prstGeom>
        </p:spPr>
        <p:txBody>
          <a:bodyPr vert="horz" wrap="square" lIns="0" tIns="318135" rIns="0" bIns="0" rtlCol="0">
            <a:spAutoFit/>
          </a:bodyPr>
          <a:lstStyle/>
          <a:p>
            <a:pPr marL="12700">
              <a:lnSpc>
                <a:spcPct val="100000"/>
              </a:lnSpc>
              <a:spcBef>
                <a:spcPts val="105"/>
              </a:spcBef>
            </a:pPr>
            <a:r>
              <a:rPr dirty="0"/>
              <a:t>APPLICATION ATTACKS – SQL INJECTION</a:t>
            </a:r>
          </a:p>
        </p:txBody>
      </p:sp>
      <p:sp>
        <p:nvSpPr>
          <p:cNvPr id="3" name="object 3"/>
          <p:cNvSpPr txBox="1"/>
          <p:nvPr/>
        </p:nvSpPr>
        <p:spPr>
          <a:xfrm>
            <a:off x="897737" y="2240661"/>
            <a:ext cx="11177532" cy="1319592"/>
          </a:xfrm>
          <a:prstGeom prst="rect">
            <a:avLst/>
          </a:prstGeom>
        </p:spPr>
        <p:txBody>
          <a:bodyPr vert="horz" wrap="square" lIns="0" tIns="49530" rIns="0" bIns="0" rtlCol="0">
            <a:spAutoFit/>
          </a:bodyPr>
          <a:lstStyle/>
          <a:p>
            <a:pPr marL="12700" marR="196850">
              <a:lnSpc>
                <a:spcPts val="2380"/>
              </a:lnSpc>
              <a:spcBef>
                <a:spcPts val="390"/>
              </a:spcBef>
            </a:pPr>
            <a:r>
              <a:rPr sz="2200" dirty="0">
                <a:solidFill>
                  <a:srgbClr val="C00000"/>
                </a:solidFill>
                <a:latin typeface="+mj-lt"/>
                <a:cs typeface="Arial MT"/>
              </a:rPr>
              <a:t>SQL injection </a:t>
            </a:r>
            <a:r>
              <a:rPr sz="2200" dirty="0">
                <a:latin typeface="+mj-lt"/>
                <a:cs typeface="Arial MT"/>
              </a:rPr>
              <a:t>attack consists of </a:t>
            </a:r>
            <a:r>
              <a:rPr sz="2200" dirty="0">
                <a:solidFill>
                  <a:srgbClr val="0000FF"/>
                </a:solidFill>
                <a:latin typeface="+mj-lt"/>
                <a:cs typeface="Arial MT"/>
              </a:rPr>
              <a:t>injecting an SQL query </a:t>
            </a:r>
            <a:r>
              <a:rPr sz="2200" dirty="0">
                <a:latin typeface="+mj-lt"/>
                <a:cs typeface="Arial MT"/>
              </a:rPr>
              <a:t>via the input data from the client to the application.</a:t>
            </a:r>
            <a:endParaRPr sz="2200">
              <a:latin typeface="+mj-lt"/>
              <a:cs typeface="Arial MT"/>
            </a:endParaRPr>
          </a:p>
          <a:p>
            <a:pPr marL="48895">
              <a:lnSpc>
                <a:spcPts val="2510"/>
              </a:lnSpc>
              <a:spcBef>
                <a:spcPts val="90"/>
              </a:spcBef>
            </a:pPr>
            <a:r>
              <a:rPr sz="2200" dirty="0">
                <a:solidFill>
                  <a:srgbClr val="1CACE3"/>
                </a:solidFill>
                <a:latin typeface="+mj-lt"/>
                <a:cs typeface="Microsoft Sans Serif"/>
              </a:rPr>
              <a:t>🢝 </a:t>
            </a:r>
            <a:r>
              <a:rPr sz="2200" dirty="0">
                <a:latin typeface="+mj-lt"/>
                <a:cs typeface="Arial MT"/>
              </a:rPr>
              <a:t>It is used to attack </a:t>
            </a:r>
            <a:r>
              <a:rPr sz="2200" dirty="0">
                <a:solidFill>
                  <a:srgbClr val="0000FF"/>
                </a:solidFill>
                <a:latin typeface="+mj-lt"/>
                <a:cs typeface="Arial MT"/>
              </a:rPr>
              <a:t>data-driven application </a:t>
            </a:r>
            <a:r>
              <a:rPr sz="2200" dirty="0">
                <a:latin typeface="+mj-lt"/>
                <a:cs typeface="Arial MT"/>
              </a:rPr>
              <a:t>in which malicious SQL statements are inserted into</a:t>
            </a:r>
            <a:endParaRPr sz="2200">
              <a:latin typeface="+mj-lt"/>
              <a:cs typeface="Arial MT"/>
            </a:endParaRPr>
          </a:p>
          <a:p>
            <a:pPr marL="186055">
              <a:lnSpc>
                <a:spcPts val="2510"/>
              </a:lnSpc>
              <a:tabLst>
                <a:tab pos="3428365" algn="l"/>
              </a:tabLst>
            </a:pPr>
            <a:r>
              <a:rPr sz="2200" dirty="0">
                <a:latin typeface="+mj-lt"/>
                <a:cs typeface="Arial MT"/>
              </a:rPr>
              <a:t>an entry field for execution.	Can be used to extract or manipulate data.</a:t>
            </a:r>
            <a:endParaRPr sz="2200">
              <a:latin typeface="+mj-lt"/>
              <a:cs typeface="Arial MT"/>
            </a:endParaRPr>
          </a:p>
        </p:txBody>
      </p:sp>
      <p:sp>
        <p:nvSpPr>
          <p:cNvPr id="4" name="object 4"/>
          <p:cNvSpPr txBox="1"/>
          <p:nvPr/>
        </p:nvSpPr>
        <p:spPr>
          <a:xfrm>
            <a:off x="10198989" y="6511238"/>
            <a:ext cx="466725" cy="177800"/>
          </a:xfrm>
          <a:prstGeom prst="rect">
            <a:avLst/>
          </a:prstGeom>
        </p:spPr>
        <p:txBody>
          <a:bodyPr vert="horz" wrap="square" lIns="0" tIns="12065" rIns="0" bIns="0" rtlCol="0">
            <a:spAutoFit/>
          </a:bodyPr>
          <a:lstStyle/>
          <a:p>
            <a:pPr marL="12700">
              <a:lnSpc>
                <a:spcPct val="100000"/>
              </a:lnSpc>
              <a:spcBef>
                <a:spcPts val="95"/>
              </a:spcBef>
            </a:pPr>
            <a:r>
              <a:rPr sz="1000" spc="-150" dirty="0">
                <a:solidFill>
                  <a:srgbClr val="0D0D0D"/>
                </a:solidFill>
                <a:latin typeface="Trebuchet MS"/>
                <a:cs typeface="Trebuchet MS"/>
              </a:rPr>
              <a:t>ALI</a:t>
            </a:r>
            <a:r>
              <a:rPr sz="1000" spc="-95" dirty="0">
                <a:solidFill>
                  <a:srgbClr val="0D0D0D"/>
                </a:solidFill>
                <a:latin typeface="Trebuchet MS"/>
                <a:cs typeface="Trebuchet MS"/>
              </a:rPr>
              <a:t> </a:t>
            </a:r>
            <a:r>
              <a:rPr sz="1000" spc="-180" dirty="0">
                <a:solidFill>
                  <a:srgbClr val="0D0D0D"/>
                </a:solidFill>
                <a:latin typeface="Trebuchet MS"/>
                <a:cs typeface="Trebuchet MS"/>
              </a:rPr>
              <a:t>HASSAN</a:t>
            </a:r>
            <a:endParaRPr sz="1000">
              <a:latin typeface="Trebuchet MS"/>
              <a:cs typeface="Trebuchet MS"/>
            </a:endParaRPr>
          </a:p>
        </p:txBody>
      </p:sp>
      <p:sp>
        <p:nvSpPr>
          <p:cNvPr id="5" name="object 5"/>
          <p:cNvSpPr txBox="1"/>
          <p:nvPr/>
        </p:nvSpPr>
        <p:spPr>
          <a:xfrm>
            <a:off x="10917428" y="6511238"/>
            <a:ext cx="116839" cy="177800"/>
          </a:xfrm>
          <a:prstGeom prst="rect">
            <a:avLst/>
          </a:prstGeom>
        </p:spPr>
        <p:txBody>
          <a:bodyPr vert="horz" wrap="square" lIns="0" tIns="12065" rIns="0" bIns="0" rtlCol="0">
            <a:spAutoFit/>
          </a:bodyPr>
          <a:lstStyle/>
          <a:p>
            <a:pPr marL="12700">
              <a:lnSpc>
                <a:spcPct val="100000"/>
              </a:lnSpc>
              <a:spcBef>
                <a:spcPts val="95"/>
              </a:spcBef>
            </a:pPr>
            <a:r>
              <a:rPr sz="1000" spc="-150" dirty="0">
                <a:solidFill>
                  <a:srgbClr val="0D0D0D"/>
                </a:solidFill>
                <a:latin typeface="Trebuchet MS"/>
                <a:cs typeface="Trebuchet MS"/>
              </a:rPr>
              <a:t>22</a:t>
            </a:r>
            <a:endParaRPr sz="1000">
              <a:latin typeface="Trebuchet MS"/>
              <a:cs typeface="Trebuchet MS"/>
            </a:endParaRPr>
          </a:p>
        </p:txBody>
      </p:sp>
      <p:pic>
        <p:nvPicPr>
          <p:cNvPr id="6" name="object 6"/>
          <p:cNvPicPr/>
          <p:nvPr/>
        </p:nvPicPr>
        <p:blipFill>
          <a:blip r:embed="rId2" cstate="print"/>
          <a:stretch>
            <a:fillRect/>
          </a:stretch>
        </p:blipFill>
        <p:spPr>
          <a:xfrm>
            <a:off x="1127752" y="3962306"/>
            <a:ext cx="3509787" cy="1155378"/>
          </a:xfrm>
          <a:prstGeom prst="rect">
            <a:avLst/>
          </a:prstGeom>
        </p:spPr>
      </p:pic>
      <p:sp>
        <p:nvSpPr>
          <p:cNvPr id="7" name="object 7"/>
          <p:cNvSpPr txBox="1"/>
          <p:nvPr/>
        </p:nvSpPr>
        <p:spPr>
          <a:xfrm>
            <a:off x="1258824" y="4093464"/>
            <a:ext cx="3252470" cy="897890"/>
          </a:xfrm>
          <a:prstGeom prst="rect">
            <a:avLst/>
          </a:prstGeom>
          <a:solidFill>
            <a:srgbClr val="FFFFFF"/>
          </a:solidFill>
          <a:ln w="15875">
            <a:solidFill>
              <a:srgbClr val="DFE2E4"/>
            </a:solidFill>
          </a:ln>
        </p:spPr>
        <p:txBody>
          <a:bodyPr vert="horz" wrap="square" lIns="0" tIns="26670" rIns="0" bIns="0" rtlCol="0">
            <a:spAutoFit/>
          </a:bodyPr>
          <a:lstStyle/>
          <a:p>
            <a:pPr marL="90805" marR="247015" algn="just">
              <a:lnSpc>
                <a:spcPct val="100000"/>
              </a:lnSpc>
              <a:spcBef>
                <a:spcPts val="210"/>
              </a:spcBef>
              <a:tabLst>
                <a:tab pos="2995295" algn="l"/>
              </a:tabLst>
            </a:pPr>
            <a:r>
              <a:rPr sz="1800" dirty="0">
                <a:latin typeface="Arial MT"/>
                <a:cs typeface="Arial MT"/>
              </a:rPr>
              <a:t>Username: </a:t>
            </a:r>
            <a:r>
              <a:rPr sz="1800" u="sng" dirty="0">
                <a:uFill>
                  <a:solidFill>
                    <a:srgbClr val="000000"/>
                  </a:solidFill>
                </a:uFill>
                <a:latin typeface="Arial MT"/>
                <a:cs typeface="Arial MT"/>
              </a:rPr>
              <a:t>	</a:t>
            </a:r>
            <a:r>
              <a:rPr sz="1800" dirty="0">
                <a:latin typeface="Arial MT"/>
                <a:cs typeface="Arial MT"/>
              </a:rPr>
              <a:t> Password:</a:t>
            </a:r>
            <a:r>
              <a:rPr sz="1800" spc="484" dirty="0">
                <a:latin typeface="Arial MT"/>
                <a:cs typeface="Arial MT"/>
              </a:rPr>
              <a:t> </a:t>
            </a:r>
            <a:r>
              <a:rPr sz="1800" u="sng" dirty="0">
                <a:uFill>
                  <a:solidFill>
                    <a:srgbClr val="000000"/>
                  </a:solidFill>
                </a:uFill>
                <a:latin typeface="Arial MT"/>
                <a:cs typeface="Arial MT"/>
              </a:rPr>
              <a:t>	</a:t>
            </a:r>
            <a:r>
              <a:rPr sz="1800" dirty="0">
                <a:latin typeface="Arial MT"/>
                <a:cs typeface="Arial MT"/>
              </a:rPr>
              <a:t> </a:t>
            </a:r>
            <a:r>
              <a:rPr sz="1800" u="sng" spc="-95" dirty="0">
                <a:solidFill>
                  <a:srgbClr val="0000FF"/>
                </a:solidFill>
                <a:uFill>
                  <a:solidFill>
                    <a:srgbClr val="0000FF"/>
                  </a:solidFill>
                </a:uFill>
                <a:latin typeface="Arial MT"/>
                <a:cs typeface="Arial MT"/>
              </a:rPr>
              <a:t>Forgot</a:t>
            </a:r>
            <a:r>
              <a:rPr sz="1800" u="sng" spc="-15" dirty="0">
                <a:solidFill>
                  <a:srgbClr val="0000FF"/>
                </a:solidFill>
                <a:uFill>
                  <a:solidFill>
                    <a:srgbClr val="0000FF"/>
                  </a:solidFill>
                </a:uFill>
                <a:latin typeface="Arial MT"/>
                <a:cs typeface="Arial MT"/>
              </a:rPr>
              <a:t> </a:t>
            </a:r>
            <a:r>
              <a:rPr sz="1800" u="sng" spc="-45" dirty="0">
                <a:solidFill>
                  <a:srgbClr val="0000FF"/>
                </a:solidFill>
                <a:uFill>
                  <a:solidFill>
                    <a:srgbClr val="0000FF"/>
                  </a:solidFill>
                </a:uFill>
                <a:latin typeface="Arial MT"/>
                <a:cs typeface="Arial MT"/>
              </a:rPr>
              <a:t>Password</a:t>
            </a:r>
            <a:endParaRPr sz="1800">
              <a:latin typeface="Arial MT"/>
              <a:cs typeface="Arial MT"/>
            </a:endParaRPr>
          </a:p>
        </p:txBody>
      </p:sp>
      <p:sp>
        <p:nvSpPr>
          <p:cNvPr id="8" name="object 8"/>
          <p:cNvSpPr/>
          <p:nvPr/>
        </p:nvSpPr>
        <p:spPr>
          <a:xfrm>
            <a:off x="1258824" y="5263896"/>
            <a:ext cx="3252470" cy="620395"/>
          </a:xfrm>
          <a:custGeom>
            <a:avLst/>
            <a:gdLst/>
            <a:ahLst/>
            <a:cxnLst/>
            <a:rect l="l" t="t" r="r" b="b"/>
            <a:pathLst>
              <a:path w="3252470" h="620395">
                <a:moveTo>
                  <a:pt x="0" y="620267"/>
                </a:moveTo>
                <a:lnTo>
                  <a:pt x="3252216" y="620267"/>
                </a:lnTo>
                <a:lnTo>
                  <a:pt x="3252216" y="0"/>
                </a:lnTo>
                <a:lnTo>
                  <a:pt x="0" y="0"/>
                </a:lnTo>
                <a:lnTo>
                  <a:pt x="0" y="620267"/>
                </a:lnTo>
                <a:close/>
              </a:path>
            </a:pathLst>
          </a:custGeom>
          <a:ln w="15875">
            <a:solidFill>
              <a:srgbClr val="1CACE3"/>
            </a:solidFill>
          </a:ln>
        </p:spPr>
        <p:txBody>
          <a:bodyPr wrap="square" lIns="0" tIns="0" rIns="0" bIns="0" rtlCol="0"/>
          <a:lstStyle/>
          <a:p>
            <a:endParaRPr/>
          </a:p>
        </p:txBody>
      </p:sp>
      <p:sp>
        <p:nvSpPr>
          <p:cNvPr id="9" name="object 9"/>
          <p:cNvSpPr txBox="1"/>
          <p:nvPr/>
        </p:nvSpPr>
        <p:spPr>
          <a:xfrm>
            <a:off x="1350010" y="5320954"/>
            <a:ext cx="2880995" cy="523875"/>
          </a:xfrm>
          <a:prstGeom prst="rect">
            <a:avLst/>
          </a:prstGeom>
        </p:spPr>
        <p:txBody>
          <a:bodyPr vert="horz" wrap="square" lIns="0" tIns="0" rIns="0" bIns="0" rtlCol="0">
            <a:spAutoFit/>
          </a:bodyPr>
          <a:lstStyle/>
          <a:p>
            <a:pPr>
              <a:lnSpc>
                <a:spcPts val="1900"/>
              </a:lnSpc>
            </a:pPr>
            <a:r>
              <a:rPr sz="1800" spc="-160" dirty="0">
                <a:latin typeface="Arial MT"/>
                <a:cs typeface="Arial MT"/>
              </a:rPr>
              <a:t>Enter</a:t>
            </a:r>
            <a:r>
              <a:rPr sz="1800" spc="-5" dirty="0">
                <a:latin typeface="Arial MT"/>
                <a:cs typeface="Arial MT"/>
              </a:rPr>
              <a:t> </a:t>
            </a:r>
            <a:r>
              <a:rPr sz="1800" spc="-95" dirty="0">
                <a:latin typeface="Arial MT"/>
                <a:cs typeface="Arial MT"/>
              </a:rPr>
              <a:t>your</a:t>
            </a:r>
            <a:r>
              <a:rPr sz="1800" spc="-15" dirty="0">
                <a:latin typeface="Arial MT"/>
                <a:cs typeface="Arial MT"/>
              </a:rPr>
              <a:t> </a:t>
            </a:r>
            <a:r>
              <a:rPr sz="1800" spc="-85" dirty="0">
                <a:latin typeface="Arial MT"/>
                <a:cs typeface="Arial MT"/>
              </a:rPr>
              <a:t>email</a:t>
            </a:r>
            <a:r>
              <a:rPr sz="1800" spc="5" dirty="0">
                <a:latin typeface="Arial MT"/>
                <a:cs typeface="Arial MT"/>
              </a:rPr>
              <a:t> </a:t>
            </a:r>
            <a:r>
              <a:rPr sz="1800" spc="-10" dirty="0">
                <a:latin typeface="Arial MT"/>
                <a:cs typeface="Arial MT"/>
              </a:rPr>
              <a:t>address.</a:t>
            </a:r>
            <a:endParaRPr sz="1800">
              <a:latin typeface="Arial MT"/>
              <a:cs typeface="Arial MT"/>
            </a:endParaRPr>
          </a:p>
          <a:p>
            <a:pPr>
              <a:lnSpc>
                <a:spcPct val="100000"/>
              </a:lnSpc>
            </a:pPr>
            <a:r>
              <a:rPr sz="1800" spc="-150" dirty="0">
                <a:latin typeface="Arial MT"/>
                <a:cs typeface="Arial MT"/>
              </a:rPr>
              <a:t>Email:</a:t>
            </a:r>
            <a:r>
              <a:rPr sz="1800" spc="20" dirty="0">
                <a:latin typeface="Arial MT"/>
                <a:cs typeface="Arial MT"/>
              </a:rPr>
              <a:t> </a:t>
            </a:r>
            <a:r>
              <a:rPr sz="1800" spc="-105" dirty="0">
                <a:latin typeface="Arial MT"/>
                <a:cs typeface="Arial MT"/>
              </a:rPr>
              <a:t>____________________</a:t>
            </a:r>
            <a:endParaRPr sz="1800">
              <a:latin typeface="Arial MT"/>
              <a:cs typeface="Arial MT"/>
            </a:endParaRPr>
          </a:p>
        </p:txBody>
      </p:sp>
      <p:sp>
        <p:nvSpPr>
          <p:cNvPr id="10" name="object 10"/>
          <p:cNvSpPr txBox="1"/>
          <p:nvPr/>
        </p:nvSpPr>
        <p:spPr>
          <a:xfrm>
            <a:off x="1350010" y="6112773"/>
            <a:ext cx="3049905" cy="523240"/>
          </a:xfrm>
          <a:prstGeom prst="rect">
            <a:avLst/>
          </a:prstGeom>
        </p:spPr>
        <p:txBody>
          <a:bodyPr vert="horz" wrap="square" lIns="0" tIns="0" rIns="0" bIns="0" rtlCol="0">
            <a:spAutoFit/>
          </a:bodyPr>
          <a:lstStyle/>
          <a:p>
            <a:pPr>
              <a:lnSpc>
                <a:spcPts val="1900"/>
              </a:lnSpc>
            </a:pPr>
            <a:r>
              <a:rPr sz="1800" dirty="0">
                <a:latin typeface="Arial MT"/>
                <a:cs typeface="Arial MT"/>
              </a:rPr>
              <a:t>A</a:t>
            </a:r>
            <a:r>
              <a:rPr sz="1800" spc="-5" dirty="0">
                <a:latin typeface="Arial MT"/>
                <a:cs typeface="Arial MT"/>
              </a:rPr>
              <a:t> </a:t>
            </a:r>
            <a:r>
              <a:rPr sz="1800" spc="-170" dirty="0">
                <a:latin typeface="Arial MT"/>
                <a:cs typeface="Arial MT"/>
              </a:rPr>
              <a:t>Password</a:t>
            </a:r>
            <a:r>
              <a:rPr sz="1800" spc="-20" dirty="0">
                <a:latin typeface="Arial MT"/>
                <a:cs typeface="Arial MT"/>
              </a:rPr>
              <a:t> </a:t>
            </a:r>
            <a:r>
              <a:rPr sz="1800" spc="-204" dirty="0">
                <a:latin typeface="Arial MT"/>
                <a:cs typeface="Arial MT"/>
              </a:rPr>
              <a:t>Reset</a:t>
            </a:r>
            <a:r>
              <a:rPr sz="1800" spc="-5" dirty="0">
                <a:latin typeface="Arial MT"/>
                <a:cs typeface="Arial MT"/>
              </a:rPr>
              <a:t> </a:t>
            </a:r>
            <a:r>
              <a:rPr sz="1800" spc="-315" dirty="0">
                <a:latin typeface="Arial MT"/>
                <a:cs typeface="Arial MT"/>
              </a:rPr>
              <a:t>URL</a:t>
            </a:r>
            <a:r>
              <a:rPr sz="1800" spc="5" dirty="0">
                <a:latin typeface="Arial MT"/>
                <a:cs typeface="Arial MT"/>
              </a:rPr>
              <a:t> </a:t>
            </a:r>
            <a:r>
              <a:rPr sz="1800" spc="-165" dirty="0">
                <a:latin typeface="Arial MT"/>
                <a:cs typeface="Arial MT"/>
              </a:rPr>
              <a:t>is</a:t>
            </a:r>
            <a:r>
              <a:rPr sz="1800" spc="-5" dirty="0">
                <a:latin typeface="Arial MT"/>
                <a:cs typeface="Arial MT"/>
              </a:rPr>
              <a:t> </a:t>
            </a:r>
            <a:r>
              <a:rPr sz="1800" spc="-165" dirty="0">
                <a:latin typeface="Arial MT"/>
                <a:cs typeface="Arial MT"/>
              </a:rPr>
              <a:t>sent</a:t>
            </a:r>
            <a:r>
              <a:rPr sz="1800" spc="-15" dirty="0">
                <a:latin typeface="Arial MT"/>
                <a:cs typeface="Arial MT"/>
              </a:rPr>
              <a:t> </a:t>
            </a:r>
            <a:r>
              <a:rPr sz="1800" spc="-75" dirty="0">
                <a:latin typeface="Arial MT"/>
                <a:cs typeface="Arial MT"/>
              </a:rPr>
              <a:t>your</a:t>
            </a:r>
            <a:endParaRPr sz="1800">
              <a:latin typeface="Arial MT"/>
              <a:cs typeface="Arial MT"/>
            </a:endParaRPr>
          </a:p>
          <a:p>
            <a:pPr>
              <a:lnSpc>
                <a:spcPct val="100000"/>
              </a:lnSpc>
            </a:pPr>
            <a:r>
              <a:rPr sz="1800" spc="-65" dirty="0">
                <a:latin typeface="Arial MT"/>
                <a:cs typeface="Arial MT"/>
              </a:rPr>
              <a:t>registered</a:t>
            </a:r>
            <a:r>
              <a:rPr sz="1800" spc="-10" dirty="0">
                <a:latin typeface="Arial MT"/>
                <a:cs typeface="Arial MT"/>
              </a:rPr>
              <a:t> </a:t>
            </a:r>
            <a:r>
              <a:rPr sz="1800" spc="-160" dirty="0">
                <a:latin typeface="Arial MT"/>
                <a:cs typeface="Arial MT"/>
              </a:rPr>
              <a:t>Email</a:t>
            </a:r>
            <a:r>
              <a:rPr sz="1800" dirty="0">
                <a:latin typeface="Arial MT"/>
                <a:cs typeface="Arial MT"/>
              </a:rPr>
              <a:t> </a:t>
            </a:r>
            <a:r>
              <a:rPr sz="1800" spc="-10" dirty="0">
                <a:latin typeface="Arial MT"/>
                <a:cs typeface="Arial MT"/>
              </a:rPr>
              <a:t>Address.</a:t>
            </a:r>
            <a:endParaRPr sz="1800">
              <a:latin typeface="Arial MT"/>
              <a:cs typeface="Arial MT"/>
            </a:endParaRPr>
          </a:p>
        </p:txBody>
      </p:sp>
      <p:sp>
        <p:nvSpPr>
          <p:cNvPr id="11" name="object 11"/>
          <p:cNvSpPr txBox="1"/>
          <p:nvPr/>
        </p:nvSpPr>
        <p:spPr>
          <a:xfrm>
            <a:off x="5047615" y="4352035"/>
            <a:ext cx="3301365" cy="574040"/>
          </a:xfrm>
          <a:prstGeom prst="rect">
            <a:avLst/>
          </a:prstGeom>
        </p:spPr>
        <p:txBody>
          <a:bodyPr vert="horz" wrap="square" lIns="0" tIns="12700" rIns="0" bIns="0" rtlCol="0">
            <a:spAutoFit/>
          </a:bodyPr>
          <a:lstStyle/>
          <a:p>
            <a:pPr marL="12700">
              <a:lnSpc>
                <a:spcPct val="100000"/>
              </a:lnSpc>
              <a:spcBef>
                <a:spcPts val="100"/>
              </a:spcBef>
            </a:pPr>
            <a:r>
              <a:rPr sz="1800" b="1" dirty="0">
                <a:latin typeface="Courier New"/>
                <a:cs typeface="Courier New"/>
              </a:rPr>
              <a:t>SELECT</a:t>
            </a:r>
            <a:r>
              <a:rPr sz="1800" b="1" spc="-50" dirty="0">
                <a:latin typeface="Courier New"/>
                <a:cs typeface="Courier New"/>
              </a:rPr>
              <a:t> </a:t>
            </a:r>
            <a:r>
              <a:rPr sz="1800" b="1" dirty="0">
                <a:latin typeface="Courier New"/>
                <a:cs typeface="Courier New"/>
              </a:rPr>
              <a:t>column</a:t>
            </a:r>
            <a:r>
              <a:rPr sz="1800" b="1" spc="-55" dirty="0">
                <a:latin typeface="Courier New"/>
                <a:cs typeface="Courier New"/>
              </a:rPr>
              <a:t> </a:t>
            </a:r>
            <a:r>
              <a:rPr sz="1800" b="1" dirty="0">
                <a:latin typeface="Courier New"/>
                <a:cs typeface="Courier New"/>
              </a:rPr>
              <a:t>FROM</a:t>
            </a:r>
            <a:r>
              <a:rPr sz="1800" b="1" spc="-55" dirty="0">
                <a:latin typeface="Courier New"/>
                <a:cs typeface="Courier New"/>
              </a:rPr>
              <a:t> </a:t>
            </a:r>
            <a:r>
              <a:rPr sz="1800" b="1" spc="-20" dirty="0">
                <a:latin typeface="Courier New"/>
                <a:cs typeface="Courier New"/>
              </a:rPr>
              <a:t>table</a:t>
            </a:r>
            <a:endParaRPr sz="1800">
              <a:latin typeface="Courier New"/>
              <a:cs typeface="Courier New"/>
            </a:endParaRPr>
          </a:p>
          <a:p>
            <a:pPr marL="12700">
              <a:lnSpc>
                <a:spcPct val="100000"/>
              </a:lnSpc>
            </a:pPr>
            <a:r>
              <a:rPr sz="1800" b="1" dirty="0">
                <a:latin typeface="Courier New"/>
                <a:cs typeface="Courier New"/>
              </a:rPr>
              <a:t>WHERE</a:t>
            </a:r>
            <a:r>
              <a:rPr sz="1800" b="1" spc="-40" dirty="0">
                <a:latin typeface="Courier New"/>
                <a:cs typeface="Courier New"/>
              </a:rPr>
              <a:t> </a:t>
            </a:r>
            <a:r>
              <a:rPr sz="1800" b="1" dirty="0">
                <a:latin typeface="Courier New"/>
                <a:cs typeface="Courier New"/>
              </a:rPr>
              <a:t>field</a:t>
            </a:r>
            <a:r>
              <a:rPr sz="1800" b="1" spc="-40" dirty="0">
                <a:latin typeface="Courier New"/>
                <a:cs typeface="Courier New"/>
              </a:rPr>
              <a:t> </a:t>
            </a:r>
            <a:r>
              <a:rPr sz="1800" b="1" dirty="0">
                <a:latin typeface="Courier New"/>
                <a:cs typeface="Courier New"/>
              </a:rPr>
              <a:t>=</a:t>
            </a:r>
            <a:r>
              <a:rPr sz="1800" b="1" spc="-35" dirty="0">
                <a:latin typeface="Courier New"/>
                <a:cs typeface="Courier New"/>
              </a:rPr>
              <a:t> </a:t>
            </a:r>
            <a:r>
              <a:rPr sz="1800" b="1" spc="-10" dirty="0">
                <a:latin typeface="Courier New"/>
                <a:cs typeface="Courier New"/>
              </a:rPr>
              <a:t>‘$EMAIL’</a:t>
            </a:r>
            <a:endParaRPr sz="1800">
              <a:latin typeface="Courier New"/>
              <a:cs typeface="Courier New"/>
            </a:endParaRPr>
          </a:p>
        </p:txBody>
      </p:sp>
      <p:pic>
        <p:nvPicPr>
          <p:cNvPr id="12" name="object 12"/>
          <p:cNvPicPr/>
          <p:nvPr/>
        </p:nvPicPr>
        <p:blipFill>
          <a:blip r:embed="rId3" cstate="print"/>
          <a:stretch>
            <a:fillRect/>
          </a:stretch>
        </p:blipFill>
        <p:spPr>
          <a:xfrm>
            <a:off x="4937754" y="5118919"/>
            <a:ext cx="4744223" cy="805089"/>
          </a:xfrm>
          <a:prstGeom prst="rect">
            <a:avLst/>
          </a:prstGeom>
        </p:spPr>
      </p:pic>
      <p:sp>
        <p:nvSpPr>
          <p:cNvPr id="13" name="object 13"/>
          <p:cNvSpPr txBox="1"/>
          <p:nvPr/>
        </p:nvSpPr>
        <p:spPr>
          <a:xfrm>
            <a:off x="5032247" y="5213603"/>
            <a:ext cx="4559935" cy="620395"/>
          </a:xfrm>
          <a:prstGeom prst="rect">
            <a:avLst/>
          </a:prstGeom>
          <a:solidFill>
            <a:srgbClr val="FFFFFF"/>
          </a:solidFill>
          <a:ln w="15875">
            <a:solidFill>
              <a:srgbClr val="DFE2E4"/>
            </a:solidFill>
          </a:ln>
        </p:spPr>
        <p:txBody>
          <a:bodyPr vert="horz" wrap="square" lIns="0" tIns="24130" rIns="0" bIns="0" rtlCol="0">
            <a:spAutoFit/>
          </a:bodyPr>
          <a:lstStyle/>
          <a:p>
            <a:pPr marL="92075">
              <a:lnSpc>
                <a:spcPts val="2120"/>
              </a:lnSpc>
              <a:spcBef>
                <a:spcPts val="190"/>
              </a:spcBef>
            </a:pPr>
            <a:r>
              <a:rPr sz="1800" spc="-160" dirty="0">
                <a:latin typeface="Arial MT"/>
                <a:cs typeface="Arial MT"/>
              </a:rPr>
              <a:t>Enter</a:t>
            </a:r>
            <a:r>
              <a:rPr sz="1800" spc="-5" dirty="0">
                <a:latin typeface="Arial MT"/>
                <a:cs typeface="Arial MT"/>
              </a:rPr>
              <a:t> </a:t>
            </a:r>
            <a:r>
              <a:rPr sz="1800" spc="-95" dirty="0">
                <a:latin typeface="Arial MT"/>
                <a:cs typeface="Arial MT"/>
              </a:rPr>
              <a:t>your</a:t>
            </a:r>
            <a:r>
              <a:rPr sz="1800" spc="-15" dirty="0">
                <a:latin typeface="Arial MT"/>
                <a:cs typeface="Arial MT"/>
              </a:rPr>
              <a:t> </a:t>
            </a:r>
            <a:r>
              <a:rPr sz="1800" spc="-85" dirty="0">
                <a:latin typeface="Arial MT"/>
                <a:cs typeface="Arial MT"/>
              </a:rPr>
              <a:t>email</a:t>
            </a:r>
            <a:r>
              <a:rPr sz="1800" spc="5" dirty="0">
                <a:latin typeface="Arial MT"/>
                <a:cs typeface="Arial MT"/>
              </a:rPr>
              <a:t> </a:t>
            </a:r>
            <a:r>
              <a:rPr sz="1800" spc="-10" dirty="0">
                <a:latin typeface="Arial MT"/>
                <a:cs typeface="Arial MT"/>
              </a:rPr>
              <a:t>address.</a:t>
            </a:r>
            <a:endParaRPr sz="1800">
              <a:latin typeface="Arial MT"/>
              <a:cs typeface="Arial MT"/>
            </a:endParaRPr>
          </a:p>
          <a:p>
            <a:pPr marL="92075">
              <a:lnSpc>
                <a:spcPts val="2120"/>
              </a:lnSpc>
            </a:pPr>
            <a:r>
              <a:rPr sz="1800" spc="-150" dirty="0">
                <a:latin typeface="Arial MT"/>
                <a:cs typeface="Arial MT"/>
              </a:rPr>
              <a:t>Email:</a:t>
            </a:r>
            <a:r>
              <a:rPr sz="1800" spc="70" dirty="0">
                <a:latin typeface="Arial MT"/>
                <a:cs typeface="Arial MT"/>
              </a:rPr>
              <a:t> </a:t>
            </a:r>
            <a:r>
              <a:rPr sz="1800" b="1" spc="-10" dirty="0">
                <a:latin typeface="Courier New"/>
                <a:cs typeface="Courier New"/>
                <a:hlinkClick r:id="rId4"/>
              </a:rPr>
              <a:t>threat-actor@fakeemail.com’</a:t>
            </a:r>
            <a:endParaRPr sz="1800">
              <a:latin typeface="Courier New"/>
              <a:cs typeface="Courier New"/>
            </a:endParaRPr>
          </a:p>
        </p:txBody>
      </p:sp>
      <p:pic>
        <p:nvPicPr>
          <p:cNvPr id="14" name="object 14"/>
          <p:cNvPicPr/>
          <p:nvPr/>
        </p:nvPicPr>
        <p:blipFill>
          <a:blip r:embed="rId5" cstate="print"/>
          <a:stretch>
            <a:fillRect/>
          </a:stretch>
        </p:blipFill>
        <p:spPr>
          <a:xfrm>
            <a:off x="4937736" y="5949575"/>
            <a:ext cx="3598209" cy="667777"/>
          </a:xfrm>
          <a:prstGeom prst="rect">
            <a:avLst/>
          </a:prstGeom>
        </p:spPr>
      </p:pic>
      <p:sp>
        <p:nvSpPr>
          <p:cNvPr id="15" name="object 15"/>
          <p:cNvSpPr txBox="1"/>
          <p:nvPr/>
        </p:nvSpPr>
        <p:spPr>
          <a:xfrm>
            <a:off x="5032247" y="6053328"/>
            <a:ext cx="3413760" cy="464820"/>
          </a:xfrm>
          <a:prstGeom prst="rect">
            <a:avLst/>
          </a:prstGeom>
          <a:solidFill>
            <a:srgbClr val="FFFFFF"/>
          </a:solidFill>
          <a:ln w="15875">
            <a:solidFill>
              <a:srgbClr val="DFE2E4"/>
            </a:solidFill>
          </a:ln>
        </p:spPr>
        <p:txBody>
          <a:bodyPr vert="horz" wrap="square" lIns="0" tIns="69215" rIns="0" bIns="0" rtlCol="0">
            <a:spAutoFit/>
          </a:bodyPr>
          <a:lstStyle/>
          <a:p>
            <a:pPr marL="92075">
              <a:lnSpc>
                <a:spcPct val="100000"/>
              </a:lnSpc>
              <a:spcBef>
                <a:spcPts val="545"/>
              </a:spcBef>
            </a:pPr>
            <a:r>
              <a:rPr sz="1800" b="1" dirty="0">
                <a:solidFill>
                  <a:srgbClr val="C00000"/>
                </a:solidFill>
                <a:latin typeface="Courier New"/>
                <a:cs typeface="Courier New"/>
              </a:rPr>
              <a:t>Message:</a:t>
            </a:r>
            <a:r>
              <a:rPr sz="1800" b="1" spc="-70" dirty="0">
                <a:solidFill>
                  <a:srgbClr val="C00000"/>
                </a:solidFill>
                <a:latin typeface="Courier New"/>
                <a:cs typeface="Courier New"/>
              </a:rPr>
              <a:t> </a:t>
            </a:r>
            <a:r>
              <a:rPr sz="1800" b="1" dirty="0">
                <a:solidFill>
                  <a:srgbClr val="C00000"/>
                </a:solidFill>
                <a:latin typeface="Courier New"/>
                <a:cs typeface="Courier New"/>
              </a:rPr>
              <a:t>Server</a:t>
            </a:r>
            <a:r>
              <a:rPr sz="1800" b="1" spc="-70" dirty="0">
                <a:solidFill>
                  <a:srgbClr val="C00000"/>
                </a:solidFill>
                <a:latin typeface="Courier New"/>
                <a:cs typeface="Courier New"/>
              </a:rPr>
              <a:t> </a:t>
            </a:r>
            <a:r>
              <a:rPr sz="1800" b="1" spc="-10" dirty="0">
                <a:solidFill>
                  <a:srgbClr val="C00000"/>
                </a:solidFill>
                <a:latin typeface="Courier New"/>
                <a:cs typeface="Courier New"/>
              </a:rPr>
              <a:t>Failure</a:t>
            </a:r>
            <a:endParaRPr sz="1800">
              <a:latin typeface="Courier New"/>
              <a:cs typeface="Courier New"/>
            </a:endParaRPr>
          </a:p>
        </p:txBody>
      </p:sp>
      <p:grpSp>
        <p:nvGrpSpPr>
          <p:cNvPr id="16" name="object 16"/>
          <p:cNvGrpSpPr/>
          <p:nvPr/>
        </p:nvGrpSpPr>
        <p:grpSpPr>
          <a:xfrm>
            <a:off x="1146047" y="5100828"/>
            <a:ext cx="3473450" cy="841375"/>
            <a:chOff x="1146047" y="5100828"/>
            <a:chExt cx="3473450" cy="841375"/>
          </a:xfrm>
        </p:grpSpPr>
        <p:pic>
          <p:nvPicPr>
            <p:cNvPr id="17" name="object 17"/>
            <p:cNvPicPr/>
            <p:nvPr/>
          </p:nvPicPr>
          <p:blipFill>
            <a:blip r:embed="rId6" cstate="print"/>
            <a:stretch>
              <a:fillRect/>
            </a:stretch>
          </p:blipFill>
          <p:spPr>
            <a:xfrm>
              <a:off x="1146047" y="5100828"/>
              <a:ext cx="3473196" cy="841273"/>
            </a:xfrm>
            <a:prstGeom prst="rect">
              <a:avLst/>
            </a:prstGeom>
          </p:spPr>
        </p:pic>
        <p:sp>
          <p:nvSpPr>
            <p:cNvPr id="18" name="object 18"/>
            <p:cNvSpPr/>
            <p:nvPr/>
          </p:nvSpPr>
          <p:spPr>
            <a:xfrm>
              <a:off x="1258823" y="5213604"/>
              <a:ext cx="3252470" cy="620395"/>
            </a:xfrm>
            <a:custGeom>
              <a:avLst/>
              <a:gdLst/>
              <a:ahLst/>
              <a:cxnLst/>
              <a:rect l="l" t="t" r="r" b="b"/>
              <a:pathLst>
                <a:path w="3252470" h="620395">
                  <a:moveTo>
                    <a:pt x="3252216" y="0"/>
                  </a:moveTo>
                  <a:lnTo>
                    <a:pt x="0" y="0"/>
                  </a:lnTo>
                  <a:lnTo>
                    <a:pt x="0" y="620268"/>
                  </a:lnTo>
                  <a:lnTo>
                    <a:pt x="3252216" y="620268"/>
                  </a:lnTo>
                  <a:lnTo>
                    <a:pt x="3252216" y="0"/>
                  </a:lnTo>
                  <a:close/>
                </a:path>
              </a:pathLst>
            </a:custGeom>
            <a:solidFill>
              <a:srgbClr val="FFFFFF"/>
            </a:solidFill>
          </p:spPr>
          <p:txBody>
            <a:bodyPr wrap="square" lIns="0" tIns="0" rIns="0" bIns="0" rtlCol="0"/>
            <a:lstStyle/>
            <a:p>
              <a:endParaRPr/>
            </a:p>
          </p:txBody>
        </p:sp>
        <p:sp>
          <p:nvSpPr>
            <p:cNvPr id="19" name="object 19"/>
            <p:cNvSpPr/>
            <p:nvPr/>
          </p:nvSpPr>
          <p:spPr>
            <a:xfrm>
              <a:off x="1258823" y="5213604"/>
              <a:ext cx="3252470" cy="620395"/>
            </a:xfrm>
            <a:custGeom>
              <a:avLst/>
              <a:gdLst/>
              <a:ahLst/>
              <a:cxnLst/>
              <a:rect l="l" t="t" r="r" b="b"/>
              <a:pathLst>
                <a:path w="3252470" h="620395">
                  <a:moveTo>
                    <a:pt x="0" y="620268"/>
                  </a:moveTo>
                  <a:lnTo>
                    <a:pt x="3252216" y="620268"/>
                  </a:lnTo>
                  <a:lnTo>
                    <a:pt x="3252216" y="0"/>
                  </a:lnTo>
                  <a:lnTo>
                    <a:pt x="0" y="0"/>
                  </a:lnTo>
                  <a:lnTo>
                    <a:pt x="0" y="620268"/>
                  </a:lnTo>
                  <a:close/>
                </a:path>
              </a:pathLst>
            </a:custGeom>
            <a:ln w="15875">
              <a:solidFill>
                <a:srgbClr val="DFE2E4"/>
              </a:solidFill>
            </a:ln>
          </p:spPr>
          <p:txBody>
            <a:bodyPr wrap="square" lIns="0" tIns="0" rIns="0" bIns="0" rtlCol="0"/>
            <a:lstStyle/>
            <a:p>
              <a:endParaRPr/>
            </a:p>
          </p:txBody>
        </p:sp>
      </p:grpSp>
      <p:sp>
        <p:nvSpPr>
          <p:cNvPr id="20" name="object 20"/>
          <p:cNvSpPr txBox="1"/>
          <p:nvPr/>
        </p:nvSpPr>
        <p:spPr>
          <a:xfrm>
            <a:off x="1266761" y="5225288"/>
            <a:ext cx="3236595" cy="574040"/>
          </a:xfrm>
          <a:prstGeom prst="rect">
            <a:avLst/>
          </a:prstGeom>
        </p:spPr>
        <p:txBody>
          <a:bodyPr vert="horz" wrap="square" lIns="0" tIns="12700" rIns="0" bIns="0" rtlCol="0">
            <a:spAutoFit/>
          </a:bodyPr>
          <a:lstStyle/>
          <a:p>
            <a:pPr marL="83185">
              <a:lnSpc>
                <a:spcPct val="100000"/>
              </a:lnSpc>
              <a:spcBef>
                <a:spcPts val="100"/>
              </a:spcBef>
            </a:pPr>
            <a:r>
              <a:rPr sz="1800" spc="-160" dirty="0">
                <a:latin typeface="Arial MT"/>
                <a:cs typeface="Arial MT"/>
              </a:rPr>
              <a:t>Enter</a:t>
            </a:r>
            <a:r>
              <a:rPr sz="1800" spc="-5" dirty="0">
                <a:latin typeface="Arial MT"/>
                <a:cs typeface="Arial MT"/>
              </a:rPr>
              <a:t> </a:t>
            </a:r>
            <a:r>
              <a:rPr sz="1800" spc="-95" dirty="0">
                <a:latin typeface="Arial MT"/>
                <a:cs typeface="Arial MT"/>
              </a:rPr>
              <a:t>your</a:t>
            </a:r>
            <a:r>
              <a:rPr sz="1800" spc="-15" dirty="0">
                <a:latin typeface="Arial MT"/>
                <a:cs typeface="Arial MT"/>
              </a:rPr>
              <a:t> </a:t>
            </a:r>
            <a:r>
              <a:rPr sz="1800" spc="-85" dirty="0">
                <a:latin typeface="Arial MT"/>
                <a:cs typeface="Arial MT"/>
              </a:rPr>
              <a:t>email</a:t>
            </a:r>
            <a:r>
              <a:rPr sz="1800" spc="5" dirty="0">
                <a:latin typeface="Arial MT"/>
                <a:cs typeface="Arial MT"/>
              </a:rPr>
              <a:t> </a:t>
            </a:r>
            <a:r>
              <a:rPr sz="1800" spc="-10" dirty="0">
                <a:latin typeface="Arial MT"/>
                <a:cs typeface="Arial MT"/>
              </a:rPr>
              <a:t>address.</a:t>
            </a:r>
            <a:endParaRPr sz="1800">
              <a:latin typeface="Arial MT"/>
              <a:cs typeface="Arial MT"/>
            </a:endParaRPr>
          </a:p>
          <a:p>
            <a:pPr marL="83185">
              <a:lnSpc>
                <a:spcPct val="100000"/>
              </a:lnSpc>
              <a:tabLst>
                <a:tab pos="3022600" algn="l"/>
              </a:tabLst>
            </a:pPr>
            <a:r>
              <a:rPr sz="1800" dirty="0">
                <a:latin typeface="Arial MT"/>
                <a:cs typeface="Arial MT"/>
              </a:rPr>
              <a:t>Email: </a:t>
            </a:r>
            <a:r>
              <a:rPr sz="1800" u="sng" dirty="0">
                <a:uFill>
                  <a:solidFill>
                    <a:srgbClr val="000000"/>
                  </a:solidFill>
                </a:uFill>
                <a:latin typeface="Arial MT"/>
                <a:cs typeface="Arial MT"/>
              </a:rPr>
              <a:t>	</a:t>
            </a:r>
            <a:endParaRPr sz="1800">
              <a:latin typeface="Arial MT"/>
              <a:cs typeface="Arial MT"/>
            </a:endParaRPr>
          </a:p>
        </p:txBody>
      </p:sp>
      <p:pic>
        <p:nvPicPr>
          <p:cNvPr id="21" name="object 21"/>
          <p:cNvPicPr/>
          <p:nvPr/>
        </p:nvPicPr>
        <p:blipFill>
          <a:blip r:embed="rId7" cstate="print"/>
          <a:stretch>
            <a:fillRect/>
          </a:stretch>
        </p:blipFill>
        <p:spPr>
          <a:xfrm>
            <a:off x="1146047" y="5942073"/>
            <a:ext cx="3473196" cy="841273"/>
          </a:xfrm>
          <a:prstGeom prst="rect">
            <a:avLst/>
          </a:prstGeom>
        </p:spPr>
      </p:pic>
      <p:sp>
        <p:nvSpPr>
          <p:cNvPr id="22" name="object 22"/>
          <p:cNvSpPr txBox="1"/>
          <p:nvPr/>
        </p:nvSpPr>
        <p:spPr>
          <a:xfrm>
            <a:off x="1258824" y="6054852"/>
            <a:ext cx="3252470" cy="620395"/>
          </a:xfrm>
          <a:prstGeom prst="rect">
            <a:avLst/>
          </a:prstGeom>
          <a:solidFill>
            <a:srgbClr val="FFFFFF"/>
          </a:solidFill>
          <a:ln w="15875">
            <a:solidFill>
              <a:srgbClr val="DFE2E4"/>
            </a:solidFill>
          </a:ln>
        </p:spPr>
        <p:txBody>
          <a:bodyPr vert="horz" wrap="square" lIns="0" tIns="24765" rIns="0" bIns="0" rtlCol="0">
            <a:spAutoFit/>
          </a:bodyPr>
          <a:lstStyle/>
          <a:p>
            <a:pPr marL="90805" marR="103505">
              <a:lnSpc>
                <a:spcPct val="100000"/>
              </a:lnSpc>
              <a:spcBef>
                <a:spcPts val="195"/>
              </a:spcBef>
            </a:pPr>
            <a:r>
              <a:rPr sz="1800" dirty="0">
                <a:latin typeface="Arial MT"/>
                <a:cs typeface="Arial MT"/>
              </a:rPr>
              <a:t>A</a:t>
            </a:r>
            <a:r>
              <a:rPr sz="1800" spc="-5" dirty="0">
                <a:latin typeface="Arial MT"/>
                <a:cs typeface="Arial MT"/>
              </a:rPr>
              <a:t> </a:t>
            </a:r>
            <a:r>
              <a:rPr sz="1800" spc="-170" dirty="0">
                <a:latin typeface="Arial MT"/>
                <a:cs typeface="Arial MT"/>
              </a:rPr>
              <a:t>Password</a:t>
            </a:r>
            <a:r>
              <a:rPr sz="1800" spc="-20" dirty="0">
                <a:latin typeface="Arial MT"/>
                <a:cs typeface="Arial MT"/>
              </a:rPr>
              <a:t> </a:t>
            </a:r>
            <a:r>
              <a:rPr sz="1800" spc="-204" dirty="0">
                <a:latin typeface="Arial MT"/>
                <a:cs typeface="Arial MT"/>
              </a:rPr>
              <a:t>Reset</a:t>
            </a:r>
            <a:r>
              <a:rPr sz="1800" spc="-5" dirty="0">
                <a:latin typeface="Arial MT"/>
                <a:cs typeface="Arial MT"/>
              </a:rPr>
              <a:t> </a:t>
            </a:r>
            <a:r>
              <a:rPr sz="1800" spc="-315" dirty="0">
                <a:latin typeface="Arial MT"/>
                <a:cs typeface="Arial MT"/>
              </a:rPr>
              <a:t>URL</a:t>
            </a:r>
            <a:r>
              <a:rPr sz="1800" spc="5" dirty="0">
                <a:latin typeface="Arial MT"/>
                <a:cs typeface="Arial MT"/>
              </a:rPr>
              <a:t> </a:t>
            </a:r>
            <a:r>
              <a:rPr sz="1800" spc="-165" dirty="0">
                <a:latin typeface="Arial MT"/>
                <a:cs typeface="Arial MT"/>
              </a:rPr>
              <a:t>is</a:t>
            </a:r>
            <a:r>
              <a:rPr sz="1800" spc="-5" dirty="0">
                <a:latin typeface="Arial MT"/>
                <a:cs typeface="Arial MT"/>
              </a:rPr>
              <a:t> </a:t>
            </a:r>
            <a:r>
              <a:rPr sz="1800" spc="-165" dirty="0">
                <a:latin typeface="Arial MT"/>
                <a:cs typeface="Arial MT"/>
              </a:rPr>
              <a:t>sent</a:t>
            </a:r>
            <a:r>
              <a:rPr sz="1800" spc="-15" dirty="0">
                <a:latin typeface="Arial MT"/>
                <a:cs typeface="Arial MT"/>
              </a:rPr>
              <a:t> </a:t>
            </a:r>
            <a:r>
              <a:rPr sz="1800" spc="-70" dirty="0">
                <a:latin typeface="Arial MT"/>
                <a:cs typeface="Arial MT"/>
              </a:rPr>
              <a:t>your </a:t>
            </a:r>
            <a:r>
              <a:rPr sz="1800" spc="-65" dirty="0">
                <a:latin typeface="Arial MT"/>
                <a:cs typeface="Arial MT"/>
              </a:rPr>
              <a:t>registered</a:t>
            </a:r>
            <a:r>
              <a:rPr sz="1800" spc="-10" dirty="0">
                <a:latin typeface="Arial MT"/>
                <a:cs typeface="Arial MT"/>
              </a:rPr>
              <a:t> </a:t>
            </a:r>
            <a:r>
              <a:rPr sz="1800" spc="-160" dirty="0">
                <a:latin typeface="Arial MT"/>
                <a:cs typeface="Arial MT"/>
              </a:rPr>
              <a:t>Email</a:t>
            </a:r>
            <a:r>
              <a:rPr sz="1800" dirty="0">
                <a:latin typeface="Arial MT"/>
                <a:cs typeface="Arial MT"/>
              </a:rPr>
              <a:t> </a:t>
            </a:r>
            <a:r>
              <a:rPr sz="1800" spc="-10" dirty="0">
                <a:latin typeface="Arial MT"/>
                <a:cs typeface="Arial MT"/>
              </a:rPr>
              <a:t>Address.</a:t>
            </a:r>
            <a:endParaRPr sz="180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860125"/>
          </a:xfrm>
          <a:prstGeom prst="rect">
            <a:avLst/>
          </a:prstGeom>
        </p:spPr>
        <p:txBody>
          <a:bodyPr vert="horz" wrap="square" lIns="0" tIns="318135" rIns="0" bIns="0" rtlCol="0">
            <a:spAutoFit/>
          </a:bodyPr>
          <a:lstStyle/>
          <a:p>
            <a:pPr marL="12700">
              <a:lnSpc>
                <a:spcPct val="100000"/>
              </a:lnSpc>
              <a:spcBef>
                <a:spcPts val="105"/>
              </a:spcBef>
            </a:pPr>
            <a:r>
              <a:rPr dirty="0"/>
              <a:t>APPLICATION ATTACKS – REQUEST FORGERY</a:t>
            </a:r>
          </a:p>
        </p:txBody>
      </p:sp>
      <p:grpSp>
        <p:nvGrpSpPr>
          <p:cNvPr id="3" name="object 3"/>
          <p:cNvGrpSpPr/>
          <p:nvPr/>
        </p:nvGrpSpPr>
        <p:grpSpPr>
          <a:xfrm>
            <a:off x="6994715" y="2235263"/>
            <a:ext cx="4925060" cy="2769870"/>
            <a:chOff x="6994715" y="2235263"/>
            <a:chExt cx="4925060" cy="2769870"/>
          </a:xfrm>
        </p:grpSpPr>
        <p:pic>
          <p:nvPicPr>
            <p:cNvPr id="4" name="object 4"/>
            <p:cNvPicPr/>
            <p:nvPr/>
          </p:nvPicPr>
          <p:blipFill>
            <a:blip r:embed="rId2" cstate="print"/>
            <a:stretch>
              <a:fillRect/>
            </a:stretch>
          </p:blipFill>
          <p:spPr>
            <a:xfrm>
              <a:off x="7004304" y="2244852"/>
              <a:ext cx="4775184" cy="2685546"/>
            </a:xfrm>
            <a:prstGeom prst="rect">
              <a:avLst/>
            </a:prstGeom>
          </p:spPr>
        </p:pic>
        <p:sp>
          <p:nvSpPr>
            <p:cNvPr id="5" name="object 5"/>
            <p:cNvSpPr/>
            <p:nvPr/>
          </p:nvSpPr>
          <p:spPr>
            <a:xfrm>
              <a:off x="6999478" y="2240026"/>
              <a:ext cx="4915535" cy="2760345"/>
            </a:xfrm>
            <a:custGeom>
              <a:avLst/>
              <a:gdLst/>
              <a:ahLst/>
              <a:cxnLst/>
              <a:rect l="l" t="t" r="r" b="b"/>
              <a:pathLst>
                <a:path w="4915534" h="2760345">
                  <a:moveTo>
                    <a:pt x="0" y="2760345"/>
                  </a:moveTo>
                  <a:lnTo>
                    <a:pt x="4915281" y="2760345"/>
                  </a:lnTo>
                  <a:lnTo>
                    <a:pt x="4915281" y="0"/>
                  </a:lnTo>
                  <a:lnTo>
                    <a:pt x="0" y="0"/>
                  </a:lnTo>
                  <a:lnTo>
                    <a:pt x="0" y="2760345"/>
                  </a:lnTo>
                  <a:close/>
                </a:path>
              </a:pathLst>
            </a:custGeom>
            <a:ln w="9525">
              <a:solidFill>
                <a:srgbClr val="7E7E7E"/>
              </a:solidFill>
            </a:ln>
          </p:spPr>
          <p:txBody>
            <a:bodyPr wrap="square" lIns="0" tIns="0" rIns="0" bIns="0" rtlCol="0"/>
            <a:lstStyle/>
            <a:p>
              <a:endParaRPr>
                <a:latin typeface="+mj-lt"/>
              </a:endParaRPr>
            </a:p>
          </p:txBody>
        </p:sp>
      </p:grpSp>
      <p:sp>
        <p:nvSpPr>
          <p:cNvPr id="6" name="object 6"/>
          <p:cNvSpPr txBox="1"/>
          <p:nvPr/>
        </p:nvSpPr>
        <p:spPr>
          <a:xfrm>
            <a:off x="7653908" y="5044185"/>
            <a:ext cx="4014470" cy="1177925"/>
          </a:xfrm>
          <a:prstGeom prst="rect">
            <a:avLst/>
          </a:prstGeom>
        </p:spPr>
        <p:txBody>
          <a:bodyPr vert="horz" wrap="square" lIns="0" tIns="12700" rIns="0" bIns="0" rtlCol="0">
            <a:spAutoFit/>
          </a:bodyPr>
          <a:lstStyle/>
          <a:p>
            <a:pPr marL="130175">
              <a:lnSpc>
                <a:spcPct val="100000"/>
              </a:lnSpc>
              <a:spcBef>
                <a:spcPts val="100"/>
              </a:spcBef>
            </a:pPr>
            <a:r>
              <a:rPr sz="1800" b="1" dirty="0">
                <a:latin typeface="+mj-lt"/>
                <a:cs typeface="Arial"/>
              </a:rPr>
              <a:t>Figure</a:t>
            </a:r>
            <a:r>
              <a:rPr sz="1800" dirty="0">
                <a:latin typeface="+mj-lt"/>
                <a:cs typeface="Arial MT"/>
              </a:rPr>
              <a:t>: Cross-site request forgery</a:t>
            </a:r>
            <a:endParaRPr sz="1800">
              <a:latin typeface="+mj-lt"/>
              <a:cs typeface="Arial MT"/>
            </a:endParaRPr>
          </a:p>
          <a:p>
            <a:pPr marL="12700" marR="5080">
              <a:lnSpc>
                <a:spcPct val="100000"/>
              </a:lnSpc>
              <a:spcBef>
                <a:spcPts val="1150"/>
              </a:spcBef>
            </a:pPr>
            <a:r>
              <a:rPr sz="1600" dirty="0">
                <a:latin typeface="+mj-lt"/>
                <a:cs typeface="Arial MT"/>
              </a:rPr>
              <a:t>“CompTIA® Security+ Guide to Network Security Fundamentals” by Mark Ciampa, 7th edition, Publisher: Cengage Learning, © 2022 Cengage</a:t>
            </a:r>
            <a:endParaRPr sz="1600">
              <a:latin typeface="+mj-lt"/>
              <a:cs typeface="Arial MT"/>
            </a:endParaRPr>
          </a:p>
        </p:txBody>
      </p:sp>
      <p:sp>
        <p:nvSpPr>
          <p:cNvPr id="8" name="object 8"/>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9" name="object 9"/>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24</a:t>
            </a:fld>
            <a:endParaRPr dirty="0"/>
          </a:p>
        </p:txBody>
      </p:sp>
      <p:sp>
        <p:nvSpPr>
          <p:cNvPr id="7" name="object 7"/>
          <p:cNvSpPr txBox="1"/>
          <p:nvPr/>
        </p:nvSpPr>
        <p:spPr>
          <a:xfrm>
            <a:off x="762000" y="2580618"/>
            <a:ext cx="5937250" cy="2014013"/>
          </a:xfrm>
          <a:prstGeom prst="rect">
            <a:avLst/>
          </a:prstGeom>
        </p:spPr>
        <p:txBody>
          <a:bodyPr vert="horz" wrap="square" lIns="0" tIns="13335" rIns="0" bIns="0" rtlCol="0">
            <a:spAutoFit/>
          </a:bodyPr>
          <a:lstStyle/>
          <a:p>
            <a:pPr marL="299085" marR="5080" indent="-287020">
              <a:lnSpc>
                <a:spcPct val="100000"/>
              </a:lnSpc>
              <a:spcBef>
                <a:spcPts val="105"/>
              </a:spcBef>
              <a:buChar char="•"/>
              <a:tabLst>
                <a:tab pos="299085" algn="l"/>
              </a:tabLst>
            </a:pPr>
            <a:r>
              <a:rPr sz="2600" dirty="0">
                <a:solidFill>
                  <a:srgbClr val="C00000"/>
                </a:solidFill>
                <a:latin typeface="+mj-lt"/>
                <a:cs typeface="Arial MT"/>
              </a:rPr>
              <a:t>Cross-site request forgery </a:t>
            </a:r>
            <a:r>
              <a:rPr sz="2600" dirty="0">
                <a:latin typeface="+mj-lt"/>
                <a:cs typeface="Arial MT"/>
              </a:rPr>
              <a:t>(CSRF) tricks a web browser (and victim) into </a:t>
            </a:r>
            <a:r>
              <a:rPr sz="2600" dirty="0">
                <a:solidFill>
                  <a:srgbClr val="0000FF"/>
                </a:solidFill>
                <a:latin typeface="+mj-lt"/>
                <a:cs typeface="Arial MT"/>
              </a:rPr>
              <a:t>executing an unwanted action </a:t>
            </a:r>
            <a:r>
              <a:rPr sz="2600" dirty="0">
                <a:latin typeface="+mj-lt"/>
                <a:cs typeface="Arial MT"/>
              </a:rPr>
              <a:t>in an application or on a website, to which a </a:t>
            </a:r>
            <a:r>
              <a:rPr sz="2600" dirty="0">
                <a:solidFill>
                  <a:srgbClr val="0000FF"/>
                </a:solidFill>
                <a:latin typeface="+mj-lt"/>
                <a:cs typeface="Arial MT"/>
              </a:rPr>
              <a:t>user is authenticated </a:t>
            </a:r>
            <a:r>
              <a:rPr sz="2600" dirty="0">
                <a:latin typeface="+mj-lt"/>
                <a:cs typeface="Arial MT"/>
              </a:rPr>
              <a:t>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3881" y="205021"/>
            <a:ext cx="9348470" cy="1860125"/>
          </a:xfrm>
          <a:prstGeom prst="rect">
            <a:avLst/>
          </a:prstGeom>
        </p:spPr>
        <p:txBody>
          <a:bodyPr vert="horz" wrap="square" lIns="0" tIns="318135" rIns="0" bIns="0" rtlCol="0">
            <a:spAutoFit/>
          </a:bodyPr>
          <a:lstStyle/>
          <a:p>
            <a:pPr marL="12700">
              <a:lnSpc>
                <a:spcPct val="100000"/>
              </a:lnSpc>
              <a:spcBef>
                <a:spcPts val="105"/>
              </a:spcBef>
            </a:pPr>
            <a:r>
              <a:rPr dirty="0"/>
              <a:t>APPLICATION ATTACKS – REQUEST FORGERY</a:t>
            </a:r>
          </a:p>
        </p:txBody>
      </p:sp>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25</a:t>
            </a:fld>
            <a:endParaRPr dirty="0"/>
          </a:p>
        </p:txBody>
      </p:sp>
      <p:sp>
        <p:nvSpPr>
          <p:cNvPr id="3" name="object 3"/>
          <p:cNvSpPr txBox="1"/>
          <p:nvPr/>
        </p:nvSpPr>
        <p:spPr>
          <a:xfrm>
            <a:off x="1083881" y="2438400"/>
            <a:ext cx="10574719" cy="3055324"/>
          </a:xfrm>
          <a:prstGeom prst="rect">
            <a:avLst/>
          </a:prstGeom>
        </p:spPr>
        <p:txBody>
          <a:bodyPr vert="horz" wrap="square" lIns="0" tIns="53975" rIns="0" bIns="0" rtlCol="0">
            <a:spAutoFit/>
          </a:bodyPr>
          <a:lstStyle/>
          <a:p>
            <a:pPr marL="12700" marR="557530">
              <a:lnSpc>
                <a:spcPts val="2590"/>
              </a:lnSpc>
              <a:spcBef>
                <a:spcPts val="425"/>
              </a:spcBef>
            </a:pPr>
            <a:r>
              <a:rPr sz="2400" dirty="0">
                <a:solidFill>
                  <a:srgbClr val="C00000"/>
                </a:solidFill>
                <a:latin typeface="Arial MT"/>
                <a:cs typeface="Arial MT"/>
              </a:rPr>
              <a:t>Server-side request forgery </a:t>
            </a:r>
            <a:r>
              <a:rPr sz="2400" dirty="0">
                <a:latin typeface="Arial MT"/>
                <a:cs typeface="Arial MT"/>
              </a:rPr>
              <a:t>(SSRF) attacks exploits how a web server processes </a:t>
            </a:r>
            <a:r>
              <a:rPr sz="2400" dirty="0">
                <a:solidFill>
                  <a:srgbClr val="0000FF"/>
                </a:solidFill>
                <a:latin typeface="Arial MT"/>
                <a:cs typeface="Arial MT"/>
              </a:rPr>
              <a:t>external information </a:t>
            </a:r>
            <a:r>
              <a:rPr sz="2400" dirty="0">
                <a:latin typeface="Arial MT"/>
                <a:cs typeface="Arial MT"/>
              </a:rPr>
              <a:t>received from another server.</a:t>
            </a:r>
          </a:p>
          <a:p>
            <a:pPr marL="391795" indent="-342900">
              <a:lnSpc>
                <a:spcPct val="100000"/>
              </a:lnSpc>
              <a:spcBef>
                <a:spcPts val="150"/>
              </a:spcBef>
              <a:buFont typeface="Arial" panose="020B0604020202020204" pitchFamily="34" charset="0"/>
              <a:buChar char="•"/>
            </a:pPr>
            <a:r>
              <a:rPr sz="2000" dirty="0">
                <a:latin typeface="Arial MT"/>
                <a:cs typeface="Arial MT"/>
              </a:rPr>
              <a:t>SSRF manipulates </a:t>
            </a:r>
            <a:r>
              <a:rPr sz="2000" dirty="0">
                <a:solidFill>
                  <a:srgbClr val="0000FF"/>
                </a:solidFill>
                <a:latin typeface="Arial MT"/>
                <a:cs typeface="Arial MT"/>
              </a:rPr>
              <a:t>trust relationship between web servers</a:t>
            </a:r>
            <a:r>
              <a:rPr sz="2000" dirty="0">
                <a:latin typeface="Arial MT"/>
                <a:cs typeface="Arial MT"/>
              </a:rPr>
              <a:t>.</a:t>
            </a:r>
            <a:endParaRPr lang="en-CA" sz="2000" dirty="0">
              <a:latin typeface="Arial MT"/>
              <a:cs typeface="Arial MT"/>
            </a:endParaRPr>
          </a:p>
          <a:p>
            <a:pPr marL="391795" indent="-342900">
              <a:lnSpc>
                <a:spcPct val="100000"/>
              </a:lnSpc>
              <a:spcBef>
                <a:spcPts val="150"/>
              </a:spcBef>
              <a:buFont typeface="Arial" panose="020B0604020202020204" pitchFamily="34" charset="0"/>
              <a:buChar char="•"/>
            </a:pPr>
            <a:r>
              <a:rPr sz="2000" dirty="0">
                <a:latin typeface="Arial MT"/>
                <a:cs typeface="Arial MT"/>
              </a:rPr>
              <a:t>Some web applications are designed to read information from or write information to a specific</a:t>
            </a:r>
            <a:r>
              <a:rPr lang="en-CA" sz="2000" dirty="0">
                <a:latin typeface="Arial MT"/>
                <a:cs typeface="Arial MT"/>
              </a:rPr>
              <a:t> </a:t>
            </a:r>
            <a:r>
              <a:rPr sz="2000" dirty="0">
                <a:latin typeface="Arial MT"/>
                <a:cs typeface="Arial MT"/>
              </a:rPr>
              <a:t>URL.</a:t>
            </a:r>
            <a:endParaRPr lang="en-CA" sz="2000" dirty="0">
              <a:latin typeface="Arial MT"/>
              <a:cs typeface="Arial MT"/>
            </a:endParaRPr>
          </a:p>
          <a:p>
            <a:pPr marL="391795" indent="-342900">
              <a:lnSpc>
                <a:spcPct val="100000"/>
              </a:lnSpc>
              <a:spcBef>
                <a:spcPts val="150"/>
              </a:spcBef>
              <a:buFont typeface="Arial" panose="020B0604020202020204" pitchFamily="34" charset="0"/>
              <a:buChar char="•"/>
            </a:pPr>
            <a:r>
              <a:rPr sz="2000" dirty="0">
                <a:latin typeface="Arial MT"/>
                <a:cs typeface="Arial MT"/>
              </a:rPr>
              <a:t>Attacker supply or </a:t>
            </a:r>
            <a:r>
              <a:rPr sz="2000" dirty="0">
                <a:solidFill>
                  <a:srgbClr val="0000FF"/>
                </a:solidFill>
                <a:latin typeface="Arial MT"/>
                <a:cs typeface="Arial MT"/>
              </a:rPr>
              <a:t>manipulates target URL</a:t>
            </a:r>
            <a:r>
              <a:rPr sz="2000" dirty="0">
                <a:latin typeface="Arial MT"/>
                <a:cs typeface="Arial MT"/>
              </a:rPr>
              <a:t>, which the code running on the server will read or submit data, to extract sensitive information or inject untrusted input into it.</a:t>
            </a:r>
          </a:p>
          <a:p>
            <a:pPr>
              <a:lnSpc>
                <a:spcPct val="100000"/>
              </a:lnSpc>
              <a:spcBef>
                <a:spcPts val="785"/>
              </a:spcBef>
            </a:pPr>
            <a:endParaRPr sz="2000" dirty="0">
              <a:latin typeface="Arial MT"/>
              <a:cs typeface="Arial MT"/>
            </a:endParaRPr>
          </a:p>
          <a:p>
            <a:pPr marL="48895">
              <a:lnSpc>
                <a:spcPct val="100000"/>
              </a:lnSpc>
            </a:pPr>
            <a:r>
              <a:rPr sz="2000" u="sng" dirty="0">
                <a:solidFill>
                  <a:srgbClr val="6B9F24"/>
                </a:solidFill>
                <a:uFill>
                  <a:solidFill>
                    <a:srgbClr val="6B9F24"/>
                  </a:solidFill>
                </a:uFill>
                <a:latin typeface="Arial MT"/>
                <a:cs typeface="Arial MT"/>
                <a:hlinkClick r:id="rId2"/>
              </a:rPr>
              <a:t>https://my.f5.com/manage/s/article/K36263043</a:t>
            </a:r>
            <a:endParaRPr sz="2000" dirty="0">
              <a:latin typeface="Arial MT"/>
              <a:cs typeface="Arial M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408719"/>
          </a:xfrm>
          <a:prstGeom prst="rect">
            <a:avLst/>
          </a:prstGeom>
        </p:spPr>
        <p:txBody>
          <a:bodyPr vert="horz" wrap="square" lIns="0" tIns="160655" rIns="0" bIns="0" rtlCol="0">
            <a:spAutoFit/>
          </a:bodyPr>
          <a:lstStyle/>
          <a:p>
            <a:pPr marL="12700" marR="5080">
              <a:lnSpc>
                <a:spcPts val="4800"/>
              </a:lnSpc>
              <a:spcBef>
                <a:spcPts val="1265"/>
              </a:spcBef>
            </a:pPr>
            <a:r>
              <a:rPr dirty="0"/>
              <a:t>ATTACKS ON SOFTWARE – MEMORY VULNERABILITIES</a:t>
            </a:r>
          </a:p>
        </p:txBody>
      </p:sp>
      <p:sp>
        <p:nvSpPr>
          <p:cNvPr id="4" name="object 4"/>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26</a:t>
            </a:fld>
            <a:endParaRPr dirty="0"/>
          </a:p>
        </p:txBody>
      </p:sp>
      <p:sp>
        <p:nvSpPr>
          <p:cNvPr id="3" name="object 3"/>
          <p:cNvSpPr txBox="1"/>
          <p:nvPr/>
        </p:nvSpPr>
        <p:spPr>
          <a:xfrm>
            <a:off x="1148892" y="2266315"/>
            <a:ext cx="10204908" cy="3093796"/>
          </a:xfrm>
          <a:prstGeom prst="rect">
            <a:avLst/>
          </a:prstGeom>
        </p:spPr>
        <p:txBody>
          <a:bodyPr vert="horz" wrap="square" lIns="0" tIns="53975" rIns="0" bIns="0" rtlCol="0">
            <a:spAutoFit/>
          </a:bodyPr>
          <a:lstStyle/>
          <a:p>
            <a:pPr marL="12700" marR="5080">
              <a:lnSpc>
                <a:spcPts val="2590"/>
              </a:lnSpc>
              <a:spcBef>
                <a:spcPts val="425"/>
              </a:spcBef>
            </a:pPr>
            <a:r>
              <a:rPr sz="2400" dirty="0">
                <a:latin typeface="+mj-lt"/>
                <a:cs typeface="Arial MT"/>
              </a:rPr>
              <a:t>Several attacks are directed at </a:t>
            </a:r>
            <a:r>
              <a:rPr sz="2400" dirty="0">
                <a:solidFill>
                  <a:srgbClr val="C00000"/>
                </a:solidFill>
                <a:latin typeface="+mj-lt"/>
                <a:cs typeface="Arial MT"/>
              </a:rPr>
              <a:t>vulnerabilities </a:t>
            </a:r>
            <a:r>
              <a:rPr sz="2400" dirty="0">
                <a:latin typeface="+mj-lt"/>
                <a:cs typeface="Arial MT"/>
              </a:rPr>
              <a:t>associated with </a:t>
            </a:r>
            <a:r>
              <a:rPr sz="2400" u="sng" dirty="0">
                <a:uFill>
                  <a:solidFill>
                    <a:srgbClr val="000000"/>
                  </a:solidFill>
                </a:uFill>
                <a:latin typeface="+mj-lt"/>
                <a:cs typeface="Arial MT"/>
              </a:rPr>
              <a:t>how a program</a:t>
            </a:r>
            <a:r>
              <a:rPr sz="2400" dirty="0">
                <a:latin typeface="+mj-lt"/>
                <a:cs typeface="Arial MT"/>
              </a:rPr>
              <a:t> </a:t>
            </a:r>
            <a:r>
              <a:rPr sz="2400" u="sng" dirty="0">
                <a:uFill>
                  <a:solidFill>
                    <a:srgbClr val="000000"/>
                  </a:solidFill>
                </a:uFill>
                <a:latin typeface="+mj-lt"/>
                <a:cs typeface="Arial MT"/>
              </a:rPr>
              <a:t>uses RAM</a:t>
            </a:r>
            <a:r>
              <a:rPr sz="2400" dirty="0">
                <a:latin typeface="+mj-lt"/>
                <a:cs typeface="Arial MT"/>
              </a:rPr>
              <a:t>.</a:t>
            </a:r>
          </a:p>
          <a:p>
            <a:pPr marL="391795" indent="-342900">
              <a:lnSpc>
                <a:spcPct val="100000"/>
              </a:lnSpc>
              <a:spcBef>
                <a:spcPts val="150"/>
              </a:spcBef>
              <a:buFont typeface="Arial" panose="020B0604020202020204" pitchFamily="34" charset="0"/>
              <a:buChar char="•"/>
            </a:pPr>
            <a:r>
              <a:rPr sz="2000" dirty="0">
                <a:latin typeface="+mj-lt"/>
                <a:cs typeface="Arial MT"/>
              </a:rPr>
              <a:t>They are often result of poor techniques (or laziness) by the software developer.</a:t>
            </a:r>
          </a:p>
          <a:p>
            <a:pPr>
              <a:lnSpc>
                <a:spcPct val="100000"/>
              </a:lnSpc>
              <a:spcBef>
                <a:spcPts val="1005"/>
              </a:spcBef>
            </a:pPr>
            <a:endParaRPr sz="2000" dirty="0">
              <a:latin typeface="+mj-lt"/>
              <a:cs typeface="Arial MT"/>
            </a:endParaRPr>
          </a:p>
          <a:p>
            <a:pPr marL="12700" marR="266065">
              <a:lnSpc>
                <a:spcPts val="2590"/>
              </a:lnSpc>
            </a:pPr>
            <a:r>
              <a:rPr sz="2400" dirty="0">
                <a:latin typeface="+mj-lt"/>
                <a:cs typeface="Arial MT"/>
              </a:rPr>
              <a:t>The </a:t>
            </a:r>
            <a:r>
              <a:rPr sz="2400" dirty="0">
                <a:solidFill>
                  <a:srgbClr val="C00000"/>
                </a:solidFill>
                <a:latin typeface="+mj-lt"/>
                <a:cs typeface="Arial MT"/>
              </a:rPr>
              <a:t>resource exhaustion attacks </a:t>
            </a:r>
            <a:r>
              <a:rPr sz="2400" dirty="0">
                <a:latin typeface="+mj-lt"/>
                <a:cs typeface="Arial MT"/>
              </a:rPr>
              <a:t>deplete parts of memory and thus interfere with the normal operation of the program in RAM.</a:t>
            </a:r>
          </a:p>
          <a:p>
            <a:pPr marL="391795" indent="-342900">
              <a:lnSpc>
                <a:spcPts val="2280"/>
              </a:lnSpc>
              <a:spcBef>
                <a:spcPts val="150"/>
              </a:spcBef>
              <a:buFont typeface="Arial" panose="020B0604020202020204" pitchFamily="34" charset="0"/>
              <a:buChar char="•"/>
            </a:pPr>
            <a:r>
              <a:rPr sz="2000" dirty="0">
                <a:latin typeface="+mj-lt"/>
                <a:cs typeface="Arial MT"/>
              </a:rPr>
              <a:t>The most common result of resource exhaustion is </a:t>
            </a:r>
            <a:r>
              <a:rPr sz="2000" dirty="0">
                <a:solidFill>
                  <a:srgbClr val="0000FF"/>
                </a:solidFill>
                <a:latin typeface="+mj-lt"/>
                <a:cs typeface="Arial MT"/>
              </a:rPr>
              <a:t>Denial Of Service (DOS) </a:t>
            </a:r>
            <a:r>
              <a:rPr sz="2000" dirty="0">
                <a:latin typeface="+mj-lt"/>
                <a:cs typeface="Arial MT"/>
              </a:rPr>
              <a:t>– different from</a:t>
            </a:r>
            <a:r>
              <a:rPr lang="en-CA" sz="2000" dirty="0">
                <a:latin typeface="+mj-lt"/>
                <a:cs typeface="Arial MT"/>
              </a:rPr>
              <a:t> </a:t>
            </a:r>
            <a:r>
              <a:rPr sz="2000" dirty="0">
                <a:latin typeface="+mj-lt"/>
                <a:cs typeface="Arial MT"/>
              </a:rPr>
              <a:t>DDOS</a:t>
            </a:r>
            <a:endParaRPr lang="en-CA" sz="2000" dirty="0">
              <a:latin typeface="+mj-lt"/>
              <a:cs typeface="Arial MT"/>
            </a:endParaRPr>
          </a:p>
          <a:p>
            <a:pPr marL="391795" indent="-342900">
              <a:lnSpc>
                <a:spcPts val="2280"/>
              </a:lnSpc>
              <a:spcBef>
                <a:spcPts val="150"/>
              </a:spcBef>
              <a:buFont typeface="Arial" panose="020B0604020202020204" pitchFamily="34" charset="0"/>
              <a:buChar char="•"/>
            </a:pPr>
            <a:r>
              <a:rPr sz="2000" dirty="0">
                <a:solidFill>
                  <a:srgbClr val="0000FF"/>
                </a:solidFill>
                <a:latin typeface="+mj-lt"/>
                <a:cs typeface="Arial MT"/>
              </a:rPr>
              <a:t>Memory leak </a:t>
            </a:r>
            <a:r>
              <a:rPr sz="2000" dirty="0">
                <a:latin typeface="+mj-lt"/>
                <a:cs typeface="Arial MT"/>
              </a:rPr>
              <a:t>- memory is allocated, but not deallocated even when not required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71461" y="457200"/>
            <a:ext cx="10276840" cy="1552348"/>
          </a:xfrm>
          <a:prstGeom prst="rect">
            <a:avLst/>
          </a:prstGeom>
        </p:spPr>
        <p:txBody>
          <a:bodyPr vert="horz" wrap="square" lIns="0" tIns="13335" rIns="0" bIns="0" rtlCol="0">
            <a:spAutoFit/>
          </a:bodyPr>
          <a:lstStyle/>
          <a:p>
            <a:pPr marL="12700">
              <a:lnSpc>
                <a:spcPct val="100000"/>
              </a:lnSpc>
              <a:spcBef>
                <a:spcPts val="105"/>
              </a:spcBef>
            </a:pPr>
            <a:r>
              <a:rPr dirty="0"/>
              <a:t>ATTACKS ON SOFTWARE – MEMORY VULNERABILITIES</a:t>
            </a:r>
          </a:p>
        </p:txBody>
      </p:sp>
      <p:sp>
        <p:nvSpPr>
          <p:cNvPr id="3" name="object 3"/>
          <p:cNvSpPr txBox="1"/>
          <p:nvPr/>
        </p:nvSpPr>
        <p:spPr>
          <a:xfrm>
            <a:off x="750908" y="2127763"/>
            <a:ext cx="6420485" cy="3137397"/>
          </a:xfrm>
          <a:prstGeom prst="rect">
            <a:avLst/>
          </a:prstGeom>
        </p:spPr>
        <p:txBody>
          <a:bodyPr vert="horz" wrap="square" lIns="0" tIns="53975" rIns="0" bIns="0" rtlCol="0">
            <a:spAutoFit/>
          </a:bodyPr>
          <a:lstStyle/>
          <a:p>
            <a:pPr marL="12700" marR="254000">
              <a:lnSpc>
                <a:spcPts val="2590"/>
              </a:lnSpc>
              <a:spcBef>
                <a:spcPts val="425"/>
              </a:spcBef>
            </a:pPr>
            <a:r>
              <a:rPr sz="2400" dirty="0">
                <a:latin typeface="Arial MT"/>
                <a:cs typeface="Arial MT"/>
              </a:rPr>
              <a:t>A </a:t>
            </a:r>
            <a:r>
              <a:rPr sz="2400" dirty="0">
                <a:solidFill>
                  <a:srgbClr val="C00000"/>
                </a:solidFill>
                <a:latin typeface="Arial MT"/>
                <a:cs typeface="Arial MT"/>
              </a:rPr>
              <a:t>buffer overflow </a:t>
            </a:r>
            <a:r>
              <a:rPr sz="2400" dirty="0">
                <a:latin typeface="Arial MT"/>
                <a:cs typeface="Arial MT"/>
              </a:rPr>
              <a:t>condition exists when a program attempts to put data in a memory area past a buffer.</a:t>
            </a:r>
          </a:p>
          <a:p>
            <a:pPr marL="391795" marR="213360" indent="-342900" algn="just">
              <a:lnSpc>
                <a:spcPct val="90100"/>
              </a:lnSpc>
              <a:spcBef>
                <a:spcPts val="390"/>
              </a:spcBef>
              <a:buFont typeface="Arial" panose="020B0604020202020204" pitchFamily="34" charset="0"/>
              <a:buChar char="•"/>
            </a:pPr>
            <a:r>
              <a:rPr sz="2000" dirty="0">
                <a:solidFill>
                  <a:srgbClr val="0000FF"/>
                </a:solidFill>
                <a:latin typeface="Arial MT"/>
                <a:cs typeface="Arial MT"/>
              </a:rPr>
              <a:t>Writing outside </a:t>
            </a:r>
            <a:r>
              <a:rPr sz="2000" dirty="0">
                <a:latin typeface="Arial MT"/>
                <a:cs typeface="Arial MT"/>
              </a:rPr>
              <a:t>the bounds of a block of allocated memory can corrupt data, crash the program, or cause the execution of malicious code, possibly taking over the machine.</a:t>
            </a:r>
            <a:endParaRPr lang="en-CA" sz="2000" dirty="0">
              <a:latin typeface="Arial MT"/>
              <a:cs typeface="Arial MT"/>
            </a:endParaRPr>
          </a:p>
          <a:p>
            <a:pPr marL="391795" marR="213360" indent="-342900" algn="just">
              <a:lnSpc>
                <a:spcPct val="90100"/>
              </a:lnSpc>
              <a:spcBef>
                <a:spcPts val="390"/>
              </a:spcBef>
              <a:buFont typeface="Arial" panose="020B0604020202020204" pitchFamily="34" charset="0"/>
              <a:buChar char="•"/>
            </a:pPr>
            <a:r>
              <a:rPr sz="2000" dirty="0">
                <a:latin typeface="Arial MT"/>
                <a:cs typeface="Arial MT"/>
              </a:rPr>
              <a:t>By sending </a:t>
            </a:r>
            <a:r>
              <a:rPr sz="2000" dirty="0">
                <a:solidFill>
                  <a:srgbClr val="0000FF"/>
                </a:solidFill>
                <a:latin typeface="Arial MT"/>
                <a:cs typeface="Arial MT"/>
              </a:rPr>
              <a:t>carefully crafted input to an application</a:t>
            </a:r>
            <a:r>
              <a:rPr sz="2000" dirty="0">
                <a:latin typeface="Arial MT"/>
                <a:cs typeface="Arial MT"/>
              </a:rPr>
              <a:t>, malicious actor can </a:t>
            </a:r>
            <a:r>
              <a:rPr sz="2000" dirty="0">
                <a:solidFill>
                  <a:srgbClr val="0000FF"/>
                </a:solidFill>
                <a:latin typeface="Arial MT"/>
                <a:cs typeface="Arial MT"/>
              </a:rPr>
              <a:t>overflow the buffer </a:t>
            </a:r>
            <a:r>
              <a:rPr sz="2000" dirty="0">
                <a:latin typeface="Arial MT"/>
                <a:cs typeface="Arial MT"/>
              </a:rPr>
              <a:t>with a new address pointing to the attacker’s malware code.</a:t>
            </a:r>
          </a:p>
        </p:txBody>
      </p:sp>
      <p:grpSp>
        <p:nvGrpSpPr>
          <p:cNvPr id="4" name="object 4"/>
          <p:cNvGrpSpPr/>
          <p:nvPr/>
        </p:nvGrpSpPr>
        <p:grpSpPr>
          <a:xfrm>
            <a:off x="7272083" y="1896935"/>
            <a:ext cx="4704080" cy="3599179"/>
            <a:chOff x="7272083" y="1896935"/>
            <a:chExt cx="4704080" cy="3599179"/>
          </a:xfrm>
        </p:grpSpPr>
        <p:pic>
          <p:nvPicPr>
            <p:cNvPr id="5" name="object 5"/>
            <p:cNvPicPr/>
            <p:nvPr/>
          </p:nvPicPr>
          <p:blipFill>
            <a:blip r:embed="rId2" cstate="print"/>
            <a:stretch>
              <a:fillRect/>
            </a:stretch>
          </p:blipFill>
          <p:spPr>
            <a:xfrm>
              <a:off x="7281671" y="1906524"/>
              <a:ext cx="4584277" cy="3579876"/>
            </a:xfrm>
            <a:prstGeom prst="rect">
              <a:avLst/>
            </a:prstGeom>
          </p:spPr>
        </p:pic>
        <p:sp>
          <p:nvSpPr>
            <p:cNvPr id="6" name="object 6"/>
            <p:cNvSpPr/>
            <p:nvPr/>
          </p:nvSpPr>
          <p:spPr>
            <a:xfrm>
              <a:off x="7276845" y="1901698"/>
              <a:ext cx="4694555" cy="3589654"/>
            </a:xfrm>
            <a:custGeom>
              <a:avLst/>
              <a:gdLst/>
              <a:ahLst/>
              <a:cxnLst/>
              <a:rect l="l" t="t" r="r" b="b"/>
              <a:pathLst>
                <a:path w="4694555" h="3589654">
                  <a:moveTo>
                    <a:pt x="0" y="3589401"/>
                  </a:moveTo>
                  <a:lnTo>
                    <a:pt x="4694301" y="3589401"/>
                  </a:lnTo>
                  <a:lnTo>
                    <a:pt x="4694301" y="0"/>
                  </a:lnTo>
                  <a:lnTo>
                    <a:pt x="0" y="0"/>
                  </a:lnTo>
                  <a:lnTo>
                    <a:pt x="0" y="3589401"/>
                  </a:lnTo>
                  <a:close/>
                </a:path>
              </a:pathLst>
            </a:custGeom>
            <a:ln w="9525">
              <a:solidFill>
                <a:srgbClr val="000000"/>
              </a:solidFill>
            </a:ln>
          </p:spPr>
          <p:txBody>
            <a:bodyPr wrap="square" lIns="0" tIns="0" rIns="0" bIns="0" rtlCol="0"/>
            <a:lstStyle/>
            <a:p>
              <a:endParaRPr/>
            </a:p>
          </p:txBody>
        </p:sp>
      </p:grpSp>
      <p:sp>
        <p:nvSpPr>
          <p:cNvPr id="7" name="object 7"/>
          <p:cNvSpPr txBox="1"/>
          <p:nvPr/>
        </p:nvSpPr>
        <p:spPr>
          <a:xfrm>
            <a:off x="8438515" y="5566054"/>
            <a:ext cx="2893695" cy="566822"/>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273139"/>
                </a:solidFill>
                <a:latin typeface="Calibri"/>
                <a:cs typeface="Calibri"/>
              </a:rPr>
              <a:t>Memory Layout of C Programs</a:t>
            </a:r>
            <a:endParaRPr sz="1800">
              <a:latin typeface="Calibri"/>
              <a:cs typeface="Calibri"/>
            </a:endParaRPr>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dirty="0"/>
              <a:t>ALI HASSAN</a:t>
            </a:r>
          </a:p>
        </p:txBody>
      </p:sp>
      <p:sp>
        <p:nvSpPr>
          <p:cNvPr id="9" name="object 9"/>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27</a:t>
            </a:fld>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70863" y="472440"/>
            <a:ext cx="4925695" cy="1552348"/>
          </a:xfrm>
          <a:prstGeom prst="rect">
            <a:avLst/>
          </a:prstGeom>
        </p:spPr>
        <p:txBody>
          <a:bodyPr vert="horz" wrap="square" lIns="0" tIns="13335" rIns="0" bIns="0" rtlCol="0">
            <a:spAutoFit/>
          </a:bodyPr>
          <a:lstStyle/>
          <a:p>
            <a:pPr marL="12700">
              <a:lnSpc>
                <a:spcPct val="100000"/>
              </a:lnSpc>
              <a:spcBef>
                <a:spcPts val="105"/>
              </a:spcBef>
            </a:pPr>
            <a:r>
              <a:rPr sz="5000" dirty="0">
                <a:solidFill>
                  <a:srgbClr val="0D0D0D"/>
                </a:solidFill>
                <a:latin typeface="+mj-lt"/>
                <a:cs typeface="Trebuchet MS"/>
              </a:rPr>
              <a:t>STACK BUFFER OVERFLOW</a:t>
            </a:r>
            <a:endParaRPr sz="5000" dirty="0">
              <a:latin typeface="+mj-lt"/>
              <a:cs typeface="Trebuchet MS"/>
            </a:endParaRPr>
          </a:p>
        </p:txBody>
      </p:sp>
      <p:sp>
        <p:nvSpPr>
          <p:cNvPr id="3" name="object 3"/>
          <p:cNvSpPr txBox="1"/>
          <p:nvPr/>
        </p:nvSpPr>
        <p:spPr>
          <a:xfrm>
            <a:off x="962916" y="2827834"/>
            <a:ext cx="5133084" cy="2712666"/>
          </a:xfrm>
          <a:prstGeom prst="rect">
            <a:avLst/>
          </a:prstGeom>
        </p:spPr>
        <p:txBody>
          <a:bodyPr vert="horz" wrap="square" lIns="0" tIns="48895" rIns="0" bIns="0" rtlCol="0">
            <a:spAutoFit/>
          </a:bodyPr>
          <a:lstStyle/>
          <a:p>
            <a:pPr marL="12700" marR="5080">
              <a:lnSpc>
                <a:spcPct val="90000"/>
              </a:lnSpc>
              <a:spcBef>
                <a:spcPts val="385"/>
              </a:spcBef>
            </a:pPr>
            <a:r>
              <a:rPr sz="2400" dirty="0">
                <a:latin typeface="+mj-lt"/>
                <a:cs typeface="Arial MT"/>
              </a:rPr>
              <a:t>In </a:t>
            </a:r>
            <a:r>
              <a:rPr sz="2400" dirty="0">
                <a:solidFill>
                  <a:srgbClr val="C00000"/>
                </a:solidFill>
                <a:latin typeface="+mj-lt"/>
                <a:cs typeface="Arial MT"/>
              </a:rPr>
              <a:t>stack buffer overflows</a:t>
            </a:r>
            <a:r>
              <a:rPr sz="2400" dirty="0">
                <a:latin typeface="+mj-lt"/>
                <a:cs typeface="Arial MT"/>
              </a:rPr>
              <a:t>, an attacker </a:t>
            </a:r>
            <a:r>
              <a:rPr sz="2400" dirty="0">
                <a:solidFill>
                  <a:srgbClr val="0000FF"/>
                </a:solidFill>
                <a:latin typeface="+mj-lt"/>
                <a:cs typeface="Arial MT"/>
              </a:rPr>
              <a:t>overwrite </a:t>
            </a:r>
            <a:r>
              <a:rPr sz="2400" dirty="0">
                <a:latin typeface="+mj-lt"/>
                <a:cs typeface="Arial MT"/>
              </a:rPr>
              <a:t>return address on the stack and </a:t>
            </a:r>
            <a:r>
              <a:rPr sz="2400" dirty="0">
                <a:solidFill>
                  <a:srgbClr val="0000FF"/>
                </a:solidFill>
                <a:latin typeface="+mj-lt"/>
                <a:cs typeface="Arial MT"/>
              </a:rPr>
              <a:t>redirect </a:t>
            </a:r>
            <a:r>
              <a:rPr sz="2400" dirty="0">
                <a:latin typeface="+mj-lt"/>
                <a:cs typeface="Arial MT"/>
              </a:rPr>
              <a:t>the execution flow in order to execute malicious shellcode.</a:t>
            </a:r>
          </a:p>
          <a:p>
            <a:pPr marL="391795" indent="-342900">
              <a:lnSpc>
                <a:spcPct val="100000"/>
              </a:lnSpc>
              <a:spcBef>
                <a:spcPts val="185"/>
              </a:spcBef>
              <a:buFont typeface="Arial" panose="020B0604020202020204" pitchFamily="34" charset="0"/>
              <a:buChar char="•"/>
            </a:pPr>
            <a:r>
              <a:rPr sz="2000" dirty="0">
                <a:latin typeface="+mj-lt"/>
                <a:cs typeface="Arial MT"/>
              </a:rPr>
              <a:t>Control </a:t>
            </a:r>
            <a:r>
              <a:rPr sz="2000" dirty="0">
                <a:solidFill>
                  <a:srgbClr val="0000FF"/>
                </a:solidFill>
                <a:latin typeface="+mj-lt"/>
                <a:cs typeface="Arial MT"/>
              </a:rPr>
              <a:t>EIP</a:t>
            </a:r>
            <a:endParaRPr lang="en-CA" sz="2000" dirty="0">
              <a:solidFill>
                <a:srgbClr val="0000FF"/>
              </a:solidFill>
              <a:latin typeface="+mj-lt"/>
              <a:cs typeface="Arial MT"/>
            </a:endParaRPr>
          </a:p>
          <a:p>
            <a:pPr marL="391795" indent="-342900">
              <a:lnSpc>
                <a:spcPct val="100000"/>
              </a:lnSpc>
              <a:spcBef>
                <a:spcPts val="185"/>
              </a:spcBef>
              <a:buFont typeface="Arial" panose="020B0604020202020204" pitchFamily="34" charset="0"/>
              <a:buChar char="•"/>
            </a:pPr>
            <a:r>
              <a:rPr sz="2000" dirty="0">
                <a:latin typeface="+mj-lt"/>
                <a:cs typeface="Arial MT"/>
              </a:rPr>
              <a:t>Locate </a:t>
            </a:r>
            <a:r>
              <a:rPr sz="2000" dirty="0">
                <a:solidFill>
                  <a:srgbClr val="0000FF"/>
                </a:solidFill>
                <a:latin typeface="+mj-lt"/>
                <a:cs typeface="Arial MT"/>
              </a:rPr>
              <a:t>space </a:t>
            </a:r>
            <a:r>
              <a:rPr sz="2000" dirty="0">
                <a:latin typeface="+mj-lt"/>
                <a:cs typeface="Arial MT"/>
              </a:rPr>
              <a:t>for shellcode</a:t>
            </a:r>
            <a:endParaRPr lang="en-CA" sz="2000" dirty="0">
              <a:latin typeface="+mj-lt"/>
              <a:cs typeface="Arial MT"/>
            </a:endParaRPr>
          </a:p>
          <a:p>
            <a:pPr marL="391795" indent="-342900">
              <a:lnSpc>
                <a:spcPct val="100000"/>
              </a:lnSpc>
              <a:spcBef>
                <a:spcPts val="185"/>
              </a:spcBef>
              <a:buFont typeface="Arial" panose="020B0604020202020204" pitchFamily="34" charset="0"/>
              <a:buChar char="•"/>
            </a:pPr>
            <a:r>
              <a:rPr sz="2000" dirty="0">
                <a:solidFill>
                  <a:srgbClr val="0000FF"/>
                </a:solidFill>
                <a:latin typeface="+mj-lt"/>
                <a:cs typeface="Arial MT"/>
              </a:rPr>
              <a:t>Redirect </a:t>
            </a:r>
            <a:r>
              <a:rPr sz="2000" dirty="0">
                <a:latin typeface="+mj-lt"/>
                <a:cs typeface="Arial MT"/>
              </a:rPr>
              <a:t>the execution flow</a:t>
            </a:r>
            <a:endParaRPr lang="en-CA" sz="2000" dirty="0">
              <a:latin typeface="+mj-lt"/>
              <a:cs typeface="Arial MT"/>
            </a:endParaRPr>
          </a:p>
          <a:p>
            <a:pPr marL="391795" indent="-342900">
              <a:lnSpc>
                <a:spcPct val="100000"/>
              </a:lnSpc>
              <a:spcBef>
                <a:spcPts val="185"/>
              </a:spcBef>
              <a:buFont typeface="Arial" panose="020B0604020202020204" pitchFamily="34" charset="0"/>
              <a:buChar char="•"/>
            </a:pPr>
            <a:r>
              <a:rPr sz="2000" dirty="0">
                <a:latin typeface="+mj-lt"/>
                <a:cs typeface="Arial MT"/>
              </a:rPr>
              <a:t>Get reverse </a:t>
            </a:r>
            <a:r>
              <a:rPr sz="2000" dirty="0">
                <a:solidFill>
                  <a:srgbClr val="0000FF"/>
                </a:solidFill>
                <a:latin typeface="+mj-lt"/>
                <a:cs typeface="Arial MT"/>
              </a:rPr>
              <a:t>shell</a:t>
            </a:r>
            <a:endParaRPr sz="2000" dirty="0">
              <a:latin typeface="+mj-lt"/>
              <a:cs typeface="Arial MT"/>
            </a:endParaRPr>
          </a:p>
        </p:txBody>
      </p:sp>
      <p:sp>
        <p:nvSpPr>
          <p:cNvPr id="4" name="object 4"/>
          <p:cNvSpPr/>
          <p:nvPr/>
        </p:nvSpPr>
        <p:spPr>
          <a:xfrm>
            <a:off x="9742931" y="539495"/>
            <a:ext cx="300355" cy="5767070"/>
          </a:xfrm>
          <a:custGeom>
            <a:avLst/>
            <a:gdLst/>
            <a:ahLst/>
            <a:cxnLst/>
            <a:rect l="l" t="t" r="r" b="b"/>
            <a:pathLst>
              <a:path w="300354" h="5767070">
                <a:moveTo>
                  <a:pt x="0" y="3454907"/>
                </a:moveTo>
                <a:lnTo>
                  <a:pt x="58441" y="3456870"/>
                </a:lnTo>
                <a:lnTo>
                  <a:pt x="106156" y="3462226"/>
                </a:lnTo>
                <a:lnTo>
                  <a:pt x="138320" y="3470177"/>
                </a:lnTo>
                <a:lnTo>
                  <a:pt x="150114" y="3479927"/>
                </a:lnTo>
                <a:lnTo>
                  <a:pt x="150114" y="4039489"/>
                </a:lnTo>
                <a:lnTo>
                  <a:pt x="161907" y="4049238"/>
                </a:lnTo>
                <a:lnTo>
                  <a:pt x="194071" y="4057189"/>
                </a:lnTo>
                <a:lnTo>
                  <a:pt x="241786" y="4062545"/>
                </a:lnTo>
                <a:lnTo>
                  <a:pt x="300227" y="4064507"/>
                </a:lnTo>
                <a:lnTo>
                  <a:pt x="241786" y="4066470"/>
                </a:lnTo>
                <a:lnTo>
                  <a:pt x="194071" y="4071826"/>
                </a:lnTo>
                <a:lnTo>
                  <a:pt x="161907" y="4079777"/>
                </a:lnTo>
                <a:lnTo>
                  <a:pt x="150114" y="4089527"/>
                </a:lnTo>
                <a:lnTo>
                  <a:pt x="150114" y="4649089"/>
                </a:lnTo>
                <a:lnTo>
                  <a:pt x="138320" y="4658838"/>
                </a:lnTo>
                <a:lnTo>
                  <a:pt x="106156" y="4666789"/>
                </a:lnTo>
                <a:lnTo>
                  <a:pt x="58441" y="4672145"/>
                </a:lnTo>
                <a:lnTo>
                  <a:pt x="0" y="4674108"/>
                </a:lnTo>
              </a:path>
              <a:path w="300354" h="5767070">
                <a:moveTo>
                  <a:pt x="0" y="0"/>
                </a:moveTo>
                <a:lnTo>
                  <a:pt x="48059" y="1625"/>
                </a:lnTo>
                <a:lnTo>
                  <a:pt x="87296" y="6048"/>
                </a:lnTo>
                <a:lnTo>
                  <a:pt x="113746" y="12590"/>
                </a:lnTo>
                <a:lnTo>
                  <a:pt x="123444" y="20574"/>
                </a:lnTo>
                <a:lnTo>
                  <a:pt x="123444" y="1682495"/>
                </a:lnTo>
                <a:lnTo>
                  <a:pt x="133139" y="1690479"/>
                </a:lnTo>
                <a:lnTo>
                  <a:pt x="159575" y="1697021"/>
                </a:lnTo>
                <a:lnTo>
                  <a:pt x="198774" y="1701444"/>
                </a:lnTo>
                <a:lnTo>
                  <a:pt x="246761" y="1703069"/>
                </a:lnTo>
                <a:lnTo>
                  <a:pt x="198774" y="1704677"/>
                </a:lnTo>
                <a:lnTo>
                  <a:pt x="159575" y="1709070"/>
                </a:lnTo>
                <a:lnTo>
                  <a:pt x="133139" y="1715607"/>
                </a:lnTo>
                <a:lnTo>
                  <a:pt x="123444" y="1723643"/>
                </a:lnTo>
                <a:lnTo>
                  <a:pt x="123444" y="3385566"/>
                </a:lnTo>
                <a:lnTo>
                  <a:pt x="113746" y="3393549"/>
                </a:lnTo>
                <a:lnTo>
                  <a:pt x="87296" y="3400091"/>
                </a:lnTo>
                <a:lnTo>
                  <a:pt x="48059" y="3404514"/>
                </a:lnTo>
                <a:lnTo>
                  <a:pt x="0" y="3406140"/>
                </a:lnTo>
              </a:path>
              <a:path w="300354" h="5767070">
                <a:moveTo>
                  <a:pt x="0" y="4724400"/>
                </a:moveTo>
                <a:lnTo>
                  <a:pt x="58441" y="4726362"/>
                </a:lnTo>
                <a:lnTo>
                  <a:pt x="106156" y="4731718"/>
                </a:lnTo>
                <a:lnTo>
                  <a:pt x="138320" y="4739669"/>
                </a:lnTo>
                <a:lnTo>
                  <a:pt x="150114" y="4749419"/>
                </a:lnTo>
                <a:lnTo>
                  <a:pt x="150114" y="5220589"/>
                </a:lnTo>
                <a:lnTo>
                  <a:pt x="161907" y="5230327"/>
                </a:lnTo>
                <a:lnTo>
                  <a:pt x="194071" y="5238280"/>
                </a:lnTo>
                <a:lnTo>
                  <a:pt x="241786" y="5243641"/>
                </a:lnTo>
                <a:lnTo>
                  <a:pt x="300227" y="5245608"/>
                </a:lnTo>
                <a:lnTo>
                  <a:pt x="241786" y="5247574"/>
                </a:lnTo>
                <a:lnTo>
                  <a:pt x="194071" y="5252935"/>
                </a:lnTo>
                <a:lnTo>
                  <a:pt x="161907" y="5260888"/>
                </a:lnTo>
                <a:lnTo>
                  <a:pt x="150114" y="5270627"/>
                </a:lnTo>
                <a:lnTo>
                  <a:pt x="150114" y="5741797"/>
                </a:lnTo>
                <a:lnTo>
                  <a:pt x="138320" y="5751535"/>
                </a:lnTo>
                <a:lnTo>
                  <a:pt x="106156" y="5759488"/>
                </a:lnTo>
                <a:lnTo>
                  <a:pt x="58441" y="5764849"/>
                </a:lnTo>
                <a:lnTo>
                  <a:pt x="0" y="5766816"/>
                </a:lnTo>
              </a:path>
            </a:pathLst>
          </a:custGeom>
          <a:ln w="9525">
            <a:solidFill>
              <a:srgbClr val="000000"/>
            </a:solidFill>
          </a:ln>
        </p:spPr>
        <p:txBody>
          <a:bodyPr wrap="square" lIns="0" tIns="0" rIns="0" bIns="0" rtlCol="0"/>
          <a:lstStyle/>
          <a:p>
            <a:endParaRPr/>
          </a:p>
        </p:txBody>
      </p:sp>
      <p:sp>
        <p:nvSpPr>
          <p:cNvPr id="5" name="object 5"/>
          <p:cNvSpPr txBox="1"/>
          <p:nvPr/>
        </p:nvSpPr>
        <p:spPr>
          <a:xfrm>
            <a:off x="10085323" y="1618615"/>
            <a:ext cx="1802764" cy="1123315"/>
          </a:xfrm>
          <a:prstGeom prst="rect">
            <a:avLst/>
          </a:prstGeom>
        </p:spPr>
        <p:txBody>
          <a:bodyPr vert="horz" wrap="square" lIns="0" tIns="12700" rIns="0" bIns="0" rtlCol="0">
            <a:spAutoFit/>
          </a:bodyPr>
          <a:lstStyle/>
          <a:p>
            <a:pPr marL="12065" marR="5080" indent="-2540" algn="ctr">
              <a:lnSpc>
                <a:spcPct val="100000"/>
              </a:lnSpc>
              <a:spcBef>
                <a:spcPts val="100"/>
              </a:spcBef>
            </a:pPr>
            <a:r>
              <a:rPr sz="1800" b="1" dirty="0">
                <a:solidFill>
                  <a:srgbClr val="0000FF"/>
                </a:solidFill>
                <a:latin typeface="Courier New"/>
                <a:cs typeface="Courier New"/>
              </a:rPr>
              <a:t>Current</a:t>
            </a:r>
            <a:r>
              <a:rPr sz="1800" b="1" spc="-65" dirty="0">
                <a:solidFill>
                  <a:srgbClr val="0000FF"/>
                </a:solidFill>
                <a:latin typeface="Courier New"/>
                <a:cs typeface="Courier New"/>
              </a:rPr>
              <a:t> </a:t>
            </a:r>
            <a:r>
              <a:rPr sz="1800" b="1" spc="-20" dirty="0">
                <a:solidFill>
                  <a:srgbClr val="0000FF"/>
                </a:solidFill>
                <a:latin typeface="Courier New"/>
                <a:cs typeface="Courier New"/>
              </a:rPr>
              <a:t>Stack </a:t>
            </a:r>
            <a:r>
              <a:rPr sz="1800" b="1" dirty="0">
                <a:solidFill>
                  <a:srgbClr val="0000FF"/>
                </a:solidFill>
                <a:latin typeface="Courier New"/>
                <a:cs typeface="Courier New"/>
              </a:rPr>
              <a:t>Frame</a:t>
            </a:r>
            <a:r>
              <a:rPr sz="1800" b="1" spc="-55" dirty="0">
                <a:solidFill>
                  <a:srgbClr val="0000FF"/>
                </a:solidFill>
                <a:latin typeface="Courier New"/>
                <a:cs typeface="Courier New"/>
              </a:rPr>
              <a:t> </a:t>
            </a:r>
            <a:r>
              <a:rPr sz="1800" b="1" spc="-25" dirty="0">
                <a:solidFill>
                  <a:srgbClr val="0000FF"/>
                </a:solidFill>
                <a:latin typeface="Courier New"/>
                <a:cs typeface="Courier New"/>
              </a:rPr>
              <a:t>of </a:t>
            </a:r>
            <a:r>
              <a:rPr sz="1800" b="1" spc="-10" dirty="0">
                <a:solidFill>
                  <a:srgbClr val="0000FF"/>
                </a:solidFill>
                <a:latin typeface="Courier New"/>
                <a:cs typeface="Courier New"/>
              </a:rPr>
              <a:t>Callee DoSomeThing()</a:t>
            </a:r>
            <a:endParaRPr sz="1800">
              <a:latin typeface="Courier New"/>
              <a:cs typeface="Courier New"/>
            </a:endParaRPr>
          </a:p>
        </p:txBody>
      </p:sp>
      <p:sp>
        <p:nvSpPr>
          <p:cNvPr id="6" name="object 6"/>
          <p:cNvSpPr txBox="1"/>
          <p:nvPr/>
        </p:nvSpPr>
        <p:spPr>
          <a:xfrm>
            <a:off x="10269093" y="4130420"/>
            <a:ext cx="1527810" cy="848360"/>
          </a:xfrm>
          <a:prstGeom prst="rect">
            <a:avLst/>
          </a:prstGeom>
        </p:spPr>
        <p:txBody>
          <a:bodyPr vert="horz" wrap="square" lIns="0" tIns="12700" rIns="0" bIns="0" rtlCol="0">
            <a:spAutoFit/>
          </a:bodyPr>
          <a:lstStyle/>
          <a:p>
            <a:pPr marL="12700" marR="5080" algn="ctr">
              <a:lnSpc>
                <a:spcPct val="100000"/>
              </a:lnSpc>
              <a:spcBef>
                <a:spcPts val="100"/>
              </a:spcBef>
            </a:pPr>
            <a:r>
              <a:rPr sz="1800" b="1" dirty="0">
                <a:solidFill>
                  <a:srgbClr val="205D4A"/>
                </a:solidFill>
                <a:latin typeface="Courier New"/>
                <a:cs typeface="Courier New"/>
              </a:rPr>
              <a:t>Stack</a:t>
            </a:r>
            <a:r>
              <a:rPr sz="1800" b="1" spc="-55" dirty="0">
                <a:solidFill>
                  <a:srgbClr val="205D4A"/>
                </a:solidFill>
                <a:latin typeface="Courier New"/>
                <a:cs typeface="Courier New"/>
              </a:rPr>
              <a:t> </a:t>
            </a:r>
            <a:r>
              <a:rPr sz="1800" b="1" spc="-20" dirty="0">
                <a:solidFill>
                  <a:srgbClr val="205D4A"/>
                </a:solidFill>
                <a:latin typeface="Courier New"/>
                <a:cs typeface="Courier New"/>
              </a:rPr>
              <a:t>Frame </a:t>
            </a:r>
            <a:r>
              <a:rPr sz="1800" b="1" dirty="0">
                <a:solidFill>
                  <a:srgbClr val="205D4A"/>
                </a:solidFill>
                <a:latin typeface="Courier New"/>
                <a:cs typeface="Courier New"/>
              </a:rPr>
              <a:t>of</a:t>
            </a:r>
            <a:r>
              <a:rPr sz="1800" b="1" spc="-20" dirty="0">
                <a:solidFill>
                  <a:srgbClr val="205D4A"/>
                </a:solidFill>
                <a:latin typeface="Courier New"/>
                <a:cs typeface="Courier New"/>
              </a:rPr>
              <a:t> </a:t>
            </a:r>
            <a:r>
              <a:rPr sz="1800" b="1" spc="-10" dirty="0">
                <a:solidFill>
                  <a:srgbClr val="205D4A"/>
                </a:solidFill>
                <a:latin typeface="Courier New"/>
                <a:cs typeface="Courier New"/>
              </a:rPr>
              <a:t>Caller Main()</a:t>
            </a:r>
            <a:endParaRPr sz="1800">
              <a:latin typeface="Courier New"/>
              <a:cs typeface="Courier New"/>
            </a:endParaRPr>
          </a:p>
        </p:txBody>
      </p:sp>
      <p:sp>
        <p:nvSpPr>
          <p:cNvPr id="7" name="object 7"/>
          <p:cNvSpPr txBox="1"/>
          <p:nvPr/>
        </p:nvSpPr>
        <p:spPr>
          <a:xfrm>
            <a:off x="10495533" y="5339588"/>
            <a:ext cx="982344" cy="574040"/>
          </a:xfrm>
          <a:prstGeom prst="rect">
            <a:avLst/>
          </a:prstGeom>
        </p:spPr>
        <p:txBody>
          <a:bodyPr vert="horz" wrap="square" lIns="0" tIns="12700" rIns="0" bIns="0" rtlCol="0">
            <a:spAutoFit/>
          </a:bodyPr>
          <a:lstStyle/>
          <a:p>
            <a:pPr marL="81280" marR="5080" indent="-68580">
              <a:lnSpc>
                <a:spcPct val="100000"/>
              </a:lnSpc>
              <a:spcBef>
                <a:spcPts val="100"/>
              </a:spcBef>
            </a:pPr>
            <a:r>
              <a:rPr sz="1800" b="1" spc="-10" dirty="0">
                <a:solidFill>
                  <a:srgbClr val="00AF50"/>
                </a:solidFill>
                <a:latin typeface="Courier New"/>
                <a:cs typeface="Courier New"/>
              </a:rPr>
              <a:t>Earlier Frames</a:t>
            </a:r>
            <a:endParaRPr sz="1800">
              <a:latin typeface="Courier New"/>
              <a:cs typeface="Courier New"/>
            </a:endParaRPr>
          </a:p>
        </p:txBody>
      </p:sp>
      <p:grpSp>
        <p:nvGrpSpPr>
          <p:cNvPr id="8" name="object 8"/>
          <p:cNvGrpSpPr/>
          <p:nvPr/>
        </p:nvGrpSpPr>
        <p:grpSpPr>
          <a:xfrm>
            <a:off x="7313041" y="2732938"/>
            <a:ext cx="2271395" cy="423545"/>
            <a:chOff x="7313041" y="2732938"/>
            <a:chExt cx="2271395" cy="423545"/>
          </a:xfrm>
        </p:grpSpPr>
        <p:sp>
          <p:nvSpPr>
            <p:cNvPr id="9" name="object 9"/>
            <p:cNvSpPr/>
            <p:nvPr/>
          </p:nvSpPr>
          <p:spPr>
            <a:xfrm>
              <a:off x="7313041" y="2732938"/>
              <a:ext cx="2271395" cy="423545"/>
            </a:xfrm>
            <a:custGeom>
              <a:avLst/>
              <a:gdLst/>
              <a:ahLst/>
              <a:cxnLst/>
              <a:rect l="l" t="t" r="r" b="b"/>
              <a:pathLst>
                <a:path w="2271395" h="423544">
                  <a:moveTo>
                    <a:pt x="2271268" y="0"/>
                  </a:moveTo>
                  <a:lnTo>
                    <a:pt x="0" y="0"/>
                  </a:lnTo>
                  <a:lnTo>
                    <a:pt x="0" y="423265"/>
                  </a:lnTo>
                  <a:lnTo>
                    <a:pt x="2271268" y="423265"/>
                  </a:lnTo>
                  <a:lnTo>
                    <a:pt x="2271268" y="0"/>
                  </a:lnTo>
                  <a:close/>
                </a:path>
              </a:pathLst>
            </a:custGeom>
            <a:solidFill>
              <a:srgbClr val="D3EBDB"/>
            </a:solidFill>
          </p:spPr>
          <p:txBody>
            <a:bodyPr wrap="square" lIns="0" tIns="0" rIns="0" bIns="0" rtlCol="0"/>
            <a:lstStyle/>
            <a:p>
              <a:endParaRPr/>
            </a:p>
          </p:txBody>
        </p:sp>
        <p:sp>
          <p:nvSpPr>
            <p:cNvPr id="10" name="object 10"/>
            <p:cNvSpPr/>
            <p:nvPr/>
          </p:nvSpPr>
          <p:spPr>
            <a:xfrm>
              <a:off x="7593965" y="2792349"/>
              <a:ext cx="1710055" cy="230504"/>
            </a:xfrm>
            <a:custGeom>
              <a:avLst/>
              <a:gdLst/>
              <a:ahLst/>
              <a:cxnLst/>
              <a:rect l="l" t="t" r="r" b="b"/>
              <a:pathLst>
                <a:path w="1710054" h="230505">
                  <a:moveTo>
                    <a:pt x="1709927" y="0"/>
                  </a:moveTo>
                  <a:lnTo>
                    <a:pt x="0" y="0"/>
                  </a:lnTo>
                  <a:lnTo>
                    <a:pt x="0" y="230124"/>
                  </a:lnTo>
                  <a:lnTo>
                    <a:pt x="1709927" y="230124"/>
                  </a:lnTo>
                  <a:lnTo>
                    <a:pt x="1709927" y="0"/>
                  </a:lnTo>
                  <a:close/>
                </a:path>
              </a:pathLst>
            </a:custGeom>
            <a:solidFill>
              <a:srgbClr val="FFFF00"/>
            </a:solidFill>
          </p:spPr>
          <p:txBody>
            <a:bodyPr wrap="square" lIns="0" tIns="0" rIns="0" bIns="0" rtlCol="0"/>
            <a:lstStyle/>
            <a:p>
              <a:endParaRPr/>
            </a:p>
          </p:txBody>
        </p:sp>
      </p:grpSp>
      <p:sp>
        <p:nvSpPr>
          <p:cNvPr id="11" name="object 11"/>
          <p:cNvSpPr txBox="1"/>
          <p:nvPr/>
        </p:nvSpPr>
        <p:spPr>
          <a:xfrm>
            <a:off x="6448805" y="521588"/>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0x420</a:t>
            </a:r>
            <a:endParaRPr sz="1600">
              <a:latin typeface="Courier New"/>
              <a:cs typeface="Courier New"/>
            </a:endParaRPr>
          </a:p>
        </p:txBody>
      </p:sp>
      <p:sp>
        <p:nvSpPr>
          <p:cNvPr id="12" name="object 12"/>
          <p:cNvSpPr txBox="1"/>
          <p:nvPr/>
        </p:nvSpPr>
        <p:spPr>
          <a:xfrm>
            <a:off x="6448805" y="2320289"/>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0x438</a:t>
            </a:r>
            <a:endParaRPr sz="1600">
              <a:latin typeface="Courier New"/>
              <a:cs typeface="Courier New"/>
            </a:endParaRPr>
          </a:p>
        </p:txBody>
      </p:sp>
      <p:sp>
        <p:nvSpPr>
          <p:cNvPr id="13" name="object 13"/>
          <p:cNvSpPr txBox="1"/>
          <p:nvPr/>
        </p:nvSpPr>
        <p:spPr>
          <a:xfrm>
            <a:off x="6448805" y="2743580"/>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0x43c</a:t>
            </a:r>
            <a:endParaRPr sz="1600">
              <a:latin typeface="Courier New"/>
              <a:cs typeface="Courier New"/>
            </a:endParaRPr>
          </a:p>
        </p:txBody>
      </p:sp>
      <p:sp>
        <p:nvSpPr>
          <p:cNvPr id="14" name="object 14"/>
          <p:cNvSpPr txBox="1"/>
          <p:nvPr/>
        </p:nvSpPr>
        <p:spPr>
          <a:xfrm>
            <a:off x="6448805" y="4413630"/>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0x46c</a:t>
            </a:r>
            <a:endParaRPr sz="1600">
              <a:latin typeface="Courier New"/>
              <a:cs typeface="Courier New"/>
            </a:endParaRPr>
          </a:p>
        </p:txBody>
      </p:sp>
      <p:sp>
        <p:nvSpPr>
          <p:cNvPr id="15" name="object 15"/>
          <p:cNvSpPr txBox="1"/>
          <p:nvPr/>
        </p:nvSpPr>
        <p:spPr>
          <a:xfrm>
            <a:off x="6448805" y="5991859"/>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0x30A</a:t>
            </a:r>
            <a:endParaRPr sz="1600">
              <a:latin typeface="Courier New"/>
              <a:cs typeface="Courier New"/>
            </a:endParaRPr>
          </a:p>
        </p:txBody>
      </p:sp>
      <p:graphicFrame>
        <p:nvGraphicFramePr>
          <p:cNvPr id="16" name="object 16"/>
          <p:cNvGraphicFramePr>
            <a:graphicFrameLocks noGrp="1"/>
          </p:cNvGraphicFramePr>
          <p:nvPr/>
        </p:nvGraphicFramePr>
        <p:xfrm>
          <a:off x="7306691" y="504951"/>
          <a:ext cx="2271395" cy="5802625"/>
        </p:xfrm>
        <a:graphic>
          <a:graphicData uri="http://schemas.openxmlformats.org/drawingml/2006/table">
            <a:tbl>
              <a:tblPr firstRow="1" bandRow="1">
                <a:tableStyleId>{2D5ABB26-0587-4C30-8999-92F81FD0307C}</a:tableStyleId>
              </a:tblPr>
              <a:tblGrid>
                <a:gridCol w="2271395">
                  <a:extLst>
                    <a:ext uri="{9D8B030D-6E8A-4147-A177-3AD203B41FA5}">
                      <a16:colId xmlns:a16="http://schemas.microsoft.com/office/drawing/2014/main" val="20000"/>
                    </a:ext>
                  </a:extLst>
                </a:gridCol>
              </a:tblGrid>
              <a:tr h="1798320">
                <a:tc>
                  <a:txBody>
                    <a:bodyPr/>
                    <a:lstStyle/>
                    <a:p>
                      <a:pPr>
                        <a:lnSpc>
                          <a:spcPct val="100000"/>
                        </a:lnSpc>
                      </a:pPr>
                      <a:endParaRPr sz="1600">
                        <a:latin typeface="Times New Roman"/>
                        <a:cs typeface="Times New Roman"/>
                      </a:endParaRPr>
                    </a:p>
                    <a:p>
                      <a:pPr>
                        <a:lnSpc>
                          <a:spcPct val="100000"/>
                        </a:lnSpc>
                      </a:pPr>
                      <a:endParaRPr sz="1600">
                        <a:latin typeface="Times New Roman"/>
                        <a:cs typeface="Times New Roman"/>
                      </a:endParaRPr>
                    </a:p>
                    <a:p>
                      <a:pPr>
                        <a:lnSpc>
                          <a:spcPct val="100000"/>
                        </a:lnSpc>
                        <a:spcBef>
                          <a:spcPts val="415"/>
                        </a:spcBef>
                      </a:pPr>
                      <a:endParaRPr sz="1600">
                        <a:latin typeface="Times New Roman"/>
                        <a:cs typeface="Times New Roman"/>
                      </a:endParaRPr>
                    </a:p>
                    <a:p>
                      <a:pPr marL="1270" algn="ctr">
                        <a:lnSpc>
                          <a:spcPct val="100000"/>
                        </a:lnSpc>
                      </a:pPr>
                      <a:r>
                        <a:rPr sz="1600" b="1" dirty="0">
                          <a:latin typeface="Courier New"/>
                          <a:cs typeface="Courier New"/>
                        </a:rPr>
                        <a:t>Local</a:t>
                      </a:r>
                      <a:r>
                        <a:rPr sz="1600" b="1" spc="-70" dirty="0">
                          <a:latin typeface="Courier New"/>
                          <a:cs typeface="Courier New"/>
                        </a:rPr>
                        <a:t> </a:t>
                      </a:r>
                      <a:r>
                        <a:rPr sz="1600" b="1" spc="-10" dirty="0">
                          <a:latin typeface="Courier New"/>
                          <a:cs typeface="Courier New"/>
                        </a:rPr>
                        <a:t>Variables</a:t>
                      </a:r>
                      <a:endParaRPr sz="1600">
                        <a:latin typeface="Courier New"/>
                        <a:cs typeface="Courier New"/>
                      </a:endParaRPr>
                    </a:p>
                    <a:p>
                      <a:pPr algn="ctr">
                        <a:lnSpc>
                          <a:spcPct val="100000"/>
                        </a:lnSpc>
                        <a:spcBef>
                          <a:spcPts val="5"/>
                        </a:spcBef>
                      </a:pPr>
                      <a:r>
                        <a:rPr sz="1600" b="1" spc="-10" dirty="0">
                          <a:latin typeface="Courier New"/>
                          <a:cs typeface="Courier New"/>
                        </a:rPr>
                        <a:t>(BUFFER)</a:t>
                      </a:r>
                      <a:endParaRPr sz="1600">
                        <a:latin typeface="Courier New"/>
                        <a:cs typeface="Courier New"/>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3EBDB"/>
                    </a:solidFill>
                  </a:tcPr>
                </a:tc>
                <a:extLst>
                  <a:ext uri="{0D108BD9-81ED-4DB2-BD59-A6C34878D82A}">
                    <a16:rowId xmlns:a16="http://schemas.microsoft.com/office/drawing/2014/main" val="10000"/>
                  </a:ext>
                </a:extLst>
              </a:tr>
              <a:tr h="422909">
                <a:tc>
                  <a:txBody>
                    <a:bodyPr/>
                    <a:lstStyle/>
                    <a:p>
                      <a:pPr algn="ctr">
                        <a:lnSpc>
                          <a:spcPct val="100000"/>
                        </a:lnSpc>
                        <a:spcBef>
                          <a:spcPts val="180"/>
                        </a:spcBef>
                      </a:pPr>
                      <a:r>
                        <a:rPr sz="1600" b="1" dirty="0">
                          <a:latin typeface="Courier New"/>
                          <a:cs typeface="Courier New"/>
                        </a:rPr>
                        <a:t>Saved</a:t>
                      </a:r>
                      <a:r>
                        <a:rPr sz="1600" b="1" spc="-40" dirty="0">
                          <a:latin typeface="Courier New"/>
                          <a:cs typeface="Courier New"/>
                        </a:rPr>
                        <a:t> </a:t>
                      </a:r>
                      <a:r>
                        <a:rPr sz="1600" b="1" dirty="0">
                          <a:latin typeface="Courier New"/>
                          <a:cs typeface="Courier New"/>
                        </a:rPr>
                        <a:t>%ebp</a:t>
                      </a:r>
                      <a:r>
                        <a:rPr sz="1600" b="1" spc="-40" dirty="0">
                          <a:latin typeface="Courier New"/>
                          <a:cs typeface="Courier New"/>
                        </a:rPr>
                        <a:t> </a:t>
                      </a:r>
                      <a:r>
                        <a:rPr sz="1600" b="1" spc="-20" dirty="0">
                          <a:latin typeface="Courier New"/>
                          <a:cs typeface="Courier New"/>
                        </a:rPr>
                        <a:t>0x46c</a:t>
                      </a:r>
                      <a:endParaRPr sz="1600">
                        <a:latin typeface="Courier New"/>
                        <a:cs typeface="Courier New"/>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3EBDB"/>
                    </a:solidFill>
                  </a:tcPr>
                </a:tc>
                <a:extLst>
                  <a:ext uri="{0D108BD9-81ED-4DB2-BD59-A6C34878D82A}">
                    <a16:rowId xmlns:a16="http://schemas.microsoft.com/office/drawing/2014/main" val="10001"/>
                  </a:ext>
                </a:extLst>
              </a:tr>
              <a:tr h="422909">
                <a:tc>
                  <a:txBody>
                    <a:bodyPr/>
                    <a:lstStyle/>
                    <a:p>
                      <a:pPr algn="ctr">
                        <a:lnSpc>
                          <a:spcPct val="100000"/>
                        </a:lnSpc>
                        <a:spcBef>
                          <a:spcPts val="180"/>
                        </a:spcBef>
                      </a:pPr>
                      <a:r>
                        <a:rPr sz="1600" b="1" dirty="0">
                          <a:solidFill>
                            <a:srgbClr val="FF0000"/>
                          </a:solidFill>
                          <a:latin typeface="Courier New"/>
                          <a:cs typeface="Courier New"/>
                        </a:rPr>
                        <a:t>Return</a:t>
                      </a:r>
                      <a:r>
                        <a:rPr sz="1600" b="1" spc="-65" dirty="0">
                          <a:solidFill>
                            <a:srgbClr val="FF0000"/>
                          </a:solidFill>
                          <a:latin typeface="Courier New"/>
                          <a:cs typeface="Courier New"/>
                        </a:rPr>
                        <a:t> </a:t>
                      </a:r>
                      <a:r>
                        <a:rPr sz="1600" b="1" spc="-10" dirty="0">
                          <a:solidFill>
                            <a:srgbClr val="FF0000"/>
                          </a:solidFill>
                          <a:latin typeface="Courier New"/>
                          <a:cs typeface="Courier New"/>
                        </a:rPr>
                        <a:t>Address</a:t>
                      </a:r>
                      <a:endParaRPr sz="1600">
                        <a:latin typeface="Courier New"/>
                        <a:cs typeface="Courier New"/>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822960">
                <a:tc>
                  <a:txBody>
                    <a:bodyPr/>
                    <a:lstStyle/>
                    <a:p>
                      <a:pPr algn="ctr">
                        <a:lnSpc>
                          <a:spcPct val="100000"/>
                        </a:lnSpc>
                        <a:spcBef>
                          <a:spcPts val="180"/>
                        </a:spcBef>
                      </a:pPr>
                      <a:r>
                        <a:rPr sz="1600" b="1" dirty="0">
                          <a:latin typeface="Courier New"/>
                          <a:cs typeface="Courier New"/>
                        </a:rPr>
                        <a:t>Argument</a:t>
                      </a:r>
                      <a:r>
                        <a:rPr sz="1600" b="1" spc="-85" dirty="0">
                          <a:latin typeface="Courier New"/>
                          <a:cs typeface="Courier New"/>
                        </a:rPr>
                        <a:t> </a:t>
                      </a:r>
                      <a:r>
                        <a:rPr sz="1600" b="1" spc="-50" dirty="0">
                          <a:latin typeface="Courier New"/>
                          <a:cs typeface="Courier New"/>
                        </a:rPr>
                        <a:t>1</a:t>
                      </a:r>
                      <a:endParaRPr sz="1600">
                        <a:latin typeface="Courier New"/>
                        <a:cs typeface="Courier New"/>
                      </a:endParaRPr>
                    </a:p>
                    <a:p>
                      <a:pPr algn="ctr">
                        <a:lnSpc>
                          <a:spcPct val="100000"/>
                        </a:lnSpc>
                      </a:pPr>
                      <a:r>
                        <a:rPr sz="1600" b="1" spc="-25" dirty="0">
                          <a:latin typeface="Courier New"/>
                          <a:cs typeface="Courier New"/>
                        </a:rPr>
                        <a:t>...</a:t>
                      </a:r>
                      <a:endParaRPr sz="1600">
                        <a:latin typeface="Courier New"/>
                        <a:cs typeface="Courier New"/>
                      </a:endParaRPr>
                    </a:p>
                    <a:p>
                      <a:pPr algn="ctr">
                        <a:lnSpc>
                          <a:spcPct val="100000"/>
                        </a:lnSpc>
                      </a:pPr>
                      <a:r>
                        <a:rPr sz="1600" b="1" dirty="0">
                          <a:latin typeface="Courier New"/>
                          <a:cs typeface="Courier New"/>
                        </a:rPr>
                        <a:t>Argument</a:t>
                      </a:r>
                      <a:r>
                        <a:rPr sz="1600" b="1" spc="-85" dirty="0">
                          <a:latin typeface="Courier New"/>
                          <a:cs typeface="Courier New"/>
                        </a:rPr>
                        <a:t> </a:t>
                      </a:r>
                      <a:r>
                        <a:rPr sz="1600" b="1" spc="-50" dirty="0">
                          <a:latin typeface="Courier New"/>
                          <a:cs typeface="Courier New"/>
                        </a:rPr>
                        <a:t>n</a:t>
                      </a:r>
                      <a:endParaRPr sz="1600">
                        <a:latin typeface="Courier New"/>
                        <a:cs typeface="Courier New"/>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3EBDB"/>
                    </a:solidFill>
                  </a:tcPr>
                </a:tc>
                <a:extLst>
                  <a:ext uri="{0D108BD9-81ED-4DB2-BD59-A6C34878D82A}">
                    <a16:rowId xmlns:a16="http://schemas.microsoft.com/office/drawing/2014/main" val="10003"/>
                  </a:ext>
                </a:extLst>
              </a:tr>
              <a:tr h="422909">
                <a:tc>
                  <a:txBody>
                    <a:bodyPr/>
                    <a:lstStyle/>
                    <a:p>
                      <a:pPr algn="ctr">
                        <a:lnSpc>
                          <a:spcPct val="100000"/>
                        </a:lnSpc>
                        <a:spcBef>
                          <a:spcPts val="180"/>
                        </a:spcBef>
                      </a:pPr>
                      <a:r>
                        <a:rPr sz="1600" b="1" spc="-25" dirty="0">
                          <a:latin typeface="Courier New"/>
                          <a:cs typeface="Courier New"/>
                        </a:rPr>
                        <a:t>...</a:t>
                      </a:r>
                      <a:endParaRPr sz="1600">
                        <a:latin typeface="Courier New"/>
                        <a:cs typeface="Courier New"/>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2B996"/>
                    </a:solidFill>
                  </a:tcPr>
                </a:tc>
                <a:extLst>
                  <a:ext uri="{0D108BD9-81ED-4DB2-BD59-A6C34878D82A}">
                    <a16:rowId xmlns:a16="http://schemas.microsoft.com/office/drawing/2014/main" val="10004"/>
                  </a:ext>
                </a:extLst>
              </a:tr>
              <a:tr h="422909">
                <a:tc>
                  <a:txBody>
                    <a:bodyPr/>
                    <a:lstStyle/>
                    <a:p>
                      <a:pPr algn="ctr">
                        <a:lnSpc>
                          <a:spcPct val="100000"/>
                        </a:lnSpc>
                        <a:spcBef>
                          <a:spcPts val="185"/>
                        </a:spcBef>
                      </a:pPr>
                      <a:r>
                        <a:rPr sz="1600" b="1" dirty="0">
                          <a:latin typeface="Courier New"/>
                          <a:cs typeface="Courier New"/>
                        </a:rPr>
                        <a:t>Old</a:t>
                      </a:r>
                      <a:r>
                        <a:rPr sz="1600" b="1" spc="-30" dirty="0">
                          <a:latin typeface="Courier New"/>
                          <a:cs typeface="Courier New"/>
                        </a:rPr>
                        <a:t> </a:t>
                      </a:r>
                      <a:r>
                        <a:rPr sz="1600" b="1" spc="-20" dirty="0">
                          <a:latin typeface="Courier New"/>
                          <a:cs typeface="Courier New"/>
                        </a:rPr>
                        <a:t>%ebp</a:t>
                      </a:r>
                      <a:endParaRPr sz="1600">
                        <a:latin typeface="Courier New"/>
                        <a:cs typeface="Courier New"/>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2B996"/>
                    </a:solidFill>
                  </a:tcPr>
                </a:tc>
                <a:extLst>
                  <a:ext uri="{0D108BD9-81ED-4DB2-BD59-A6C34878D82A}">
                    <a16:rowId xmlns:a16="http://schemas.microsoft.com/office/drawing/2014/main" val="10005"/>
                  </a:ext>
                </a:extLst>
              </a:tr>
              <a:tr h="422909">
                <a:tc>
                  <a:txBody>
                    <a:bodyPr/>
                    <a:lstStyle/>
                    <a:p>
                      <a:pPr algn="ctr">
                        <a:lnSpc>
                          <a:spcPct val="100000"/>
                        </a:lnSpc>
                        <a:spcBef>
                          <a:spcPts val="180"/>
                        </a:spcBef>
                      </a:pPr>
                      <a:r>
                        <a:rPr sz="1600" b="1" spc="-25" dirty="0">
                          <a:latin typeface="Courier New"/>
                          <a:cs typeface="Courier New"/>
                        </a:rPr>
                        <a:t>...</a:t>
                      </a:r>
                      <a:endParaRPr sz="1600">
                        <a:latin typeface="Courier New"/>
                        <a:cs typeface="Courier New"/>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2B996"/>
                    </a:solidFill>
                  </a:tcPr>
                </a:tc>
                <a:extLst>
                  <a:ext uri="{0D108BD9-81ED-4DB2-BD59-A6C34878D82A}">
                    <a16:rowId xmlns:a16="http://schemas.microsoft.com/office/drawing/2014/main" val="10006"/>
                  </a:ext>
                </a:extLst>
              </a:tr>
              <a:tr h="1066800">
                <a:tc>
                  <a:txBody>
                    <a:bodyPr/>
                    <a:lstStyle/>
                    <a:p>
                      <a:pPr>
                        <a:lnSpc>
                          <a:spcPct val="100000"/>
                        </a:lnSpc>
                        <a:spcBef>
                          <a:spcPts val="265"/>
                        </a:spcBef>
                      </a:pPr>
                      <a:endParaRPr sz="1600">
                        <a:latin typeface="Times New Roman"/>
                        <a:cs typeface="Times New Roman"/>
                      </a:endParaRPr>
                    </a:p>
                    <a:p>
                      <a:pPr marL="768985" marR="334010" indent="-426720">
                        <a:lnSpc>
                          <a:spcPct val="100000"/>
                        </a:lnSpc>
                      </a:pPr>
                      <a:r>
                        <a:rPr sz="1600" b="1" dirty="0">
                          <a:latin typeface="Courier New"/>
                          <a:cs typeface="Courier New"/>
                        </a:rPr>
                        <a:t>Earlier</a:t>
                      </a:r>
                      <a:r>
                        <a:rPr sz="1600" b="1" spc="-75" dirty="0">
                          <a:latin typeface="Courier New"/>
                          <a:cs typeface="Courier New"/>
                        </a:rPr>
                        <a:t> </a:t>
                      </a:r>
                      <a:r>
                        <a:rPr sz="1600" b="1" spc="-20" dirty="0">
                          <a:latin typeface="Courier New"/>
                          <a:cs typeface="Courier New"/>
                        </a:rPr>
                        <a:t>Stack </a:t>
                      </a:r>
                      <a:r>
                        <a:rPr sz="1600" b="1" spc="-10" dirty="0">
                          <a:latin typeface="Courier New"/>
                          <a:cs typeface="Courier New"/>
                        </a:rPr>
                        <a:t>Frames</a:t>
                      </a:r>
                      <a:endParaRPr sz="1600">
                        <a:latin typeface="Courier New"/>
                        <a:cs typeface="Courier New"/>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ECEB"/>
                    </a:solidFill>
                  </a:tcPr>
                </a:tc>
                <a:extLst>
                  <a:ext uri="{0D108BD9-81ED-4DB2-BD59-A6C34878D82A}">
                    <a16:rowId xmlns:a16="http://schemas.microsoft.com/office/drawing/2014/main" val="10007"/>
                  </a:ext>
                </a:extLst>
              </a:tr>
            </a:tbl>
          </a:graphicData>
        </a:graphic>
      </p:graphicFrame>
      <p:sp>
        <p:nvSpPr>
          <p:cNvPr id="17" name="object 17"/>
          <p:cNvSpPr txBox="1"/>
          <p:nvPr/>
        </p:nvSpPr>
        <p:spPr>
          <a:xfrm>
            <a:off x="7846568" y="51561"/>
            <a:ext cx="12553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a:cs typeface="Courier New"/>
              </a:rPr>
              <a:t>Stack</a:t>
            </a:r>
            <a:r>
              <a:rPr sz="1800" b="1" spc="-45" dirty="0">
                <a:solidFill>
                  <a:srgbClr val="C00000"/>
                </a:solidFill>
                <a:latin typeface="Courier New"/>
                <a:cs typeface="Courier New"/>
              </a:rPr>
              <a:t> </a:t>
            </a:r>
            <a:r>
              <a:rPr sz="1800" b="1" spc="-25" dirty="0">
                <a:solidFill>
                  <a:srgbClr val="C00000"/>
                </a:solidFill>
                <a:latin typeface="Courier New"/>
                <a:cs typeface="Courier New"/>
              </a:rPr>
              <a:t>Top</a:t>
            </a:r>
            <a:endParaRPr sz="1800">
              <a:latin typeface="Courier New"/>
              <a:cs typeface="Courier New"/>
            </a:endParaRPr>
          </a:p>
        </p:txBody>
      </p:sp>
      <p:sp>
        <p:nvSpPr>
          <p:cNvPr id="18" name="object 18"/>
          <p:cNvSpPr txBox="1"/>
          <p:nvPr/>
        </p:nvSpPr>
        <p:spPr>
          <a:xfrm>
            <a:off x="4927091" y="2426207"/>
            <a:ext cx="509270" cy="307975"/>
          </a:xfrm>
          <a:prstGeom prst="rect">
            <a:avLst/>
          </a:prstGeom>
          <a:solidFill>
            <a:srgbClr val="DFE2E4"/>
          </a:solidFill>
          <a:ln w="12700">
            <a:solidFill>
              <a:srgbClr val="000000"/>
            </a:solidFill>
          </a:ln>
        </p:spPr>
        <p:txBody>
          <a:bodyPr vert="horz" wrap="square" lIns="0" tIns="26034" rIns="0" bIns="0" rtlCol="0">
            <a:spAutoFit/>
          </a:bodyPr>
          <a:lstStyle/>
          <a:p>
            <a:pPr marL="94615">
              <a:lnSpc>
                <a:spcPct val="100000"/>
              </a:lnSpc>
              <a:spcBef>
                <a:spcPts val="204"/>
              </a:spcBef>
            </a:pPr>
            <a:r>
              <a:rPr sz="1400" b="1" spc="-25" dirty="0">
                <a:latin typeface="Courier New"/>
                <a:cs typeface="Courier New"/>
              </a:rPr>
              <a:t>EBP</a:t>
            </a:r>
            <a:endParaRPr sz="1400">
              <a:latin typeface="Courier New"/>
              <a:cs typeface="Courier New"/>
            </a:endParaRPr>
          </a:p>
        </p:txBody>
      </p:sp>
      <p:sp>
        <p:nvSpPr>
          <p:cNvPr id="19" name="object 19"/>
          <p:cNvSpPr txBox="1"/>
          <p:nvPr/>
        </p:nvSpPr>
        <p:spPr>
          <a:xfrm>
            <a:off x="4920996" y="358140"/>
            <a:ext cx="520065" cy="306705"/>
          </a:xfrm>
          <a:prstGeom prst="rect">
            <a:avLst/>
          </a:prstGeom>
          <a:solidFill>
            <a:srgbClr val="DFE2E4"/>
          </a:solidFill>
          <a:ln w="12700">
            <a:solidFill>
              <a:srgbClr val="000000"/>
            </a:solidFill>
          </a:ln>
        </p:spPr>
        <p:txBody>
          <a:bodyPr vert="horz" wrap="square" lIns="0" tIns="24130" rIns="0" bIns="0" rtlCol="0">
            <a:spAutoFit/>
          </a:bodyPr>
          <a:lstStyle/>
          <a:p>
            <a:pPr marL="100330">
              <a:lnSpc>
                <a:spcPct val="100000"/>
              </a:lnSpc>
              <a:spcBef>
                <a:spcPts val="190"/>
              </a:spcBef>
            </a:pPr>
            <a:r>
              <a:rPr sz="1400" b="1" spc="-25" dirty="0">
                <a:latin typeface="Courier New"/>
                <a:cs typeface="Courier New"/>
              </a:rPr>
              <a:t>ESP</a:t>
            </a:r>
            <a:endParaRPr sz="1400">
              <a:latin typeface="Courier New"/>
              <a:cs typeface="Courier New"/>
            </a:endParaRPr>
          </a:p>
        </p:txBody>
      </p:sp>
      <p:sp>
        <p:nvSpPr>
          <p:cNvPr id="20" name="object 20"/>
          <p:cNvSpPr/>
          <p:nvPr/>
        </p:nvSpPr>
        <p:spPr>
          <a:xfrm>
            <a:off x="5440679" y="472440"/>
            <a:ext cx="1852295" cy="76200"/>
          </a:xfrm>
          <a:custGeom>
            <a:avLst/>
            <a:gdLst/>
            <a:ahLst/>
            <a:cxnLst/>
            <a:rect l="l" t="t" r="r" b="b"/>
            <a:pathLst>
              <a:path w="1852295" h="76200">
                <a:moveTo>
                  <a:pt x="1775587" y="0"/>
                </a:moveTo>
                <a:lnTo>
                  <a:pt x="1775587" y="76200"/>
                </a:lnTo>
                <a:lnTo>
                  <a:pt x="1839087" y="44450"/>
                </a:lnTo>
                <a:lnTo>
                  <a:pt x="1788287" y="44450"/>
                </a:lnTo>
                <a:lnTo>
                  <a:pt x="1788287" y="31750"/>
                </a:lnTo>
                <a:lnTo>
                  <a:pt x="1839087" y="31750"/>
                </a:lnTo>
                <a:lnTo>
                  <a:pt x="1775587" y="0"/>
                </a:lnTo>
                <a:close/>
              </a:path>
              <a:path w="1852295" h="76200">
                <a:moveTo>
                  <a:pt x="1775587" y="31750"/>
                </a:moveTo>
                <a:lnTo>
                  <a:pt x="0" y="31750"/>
                </a:lnTo>
                <a:lnTo>
                  <a:pt x="0" y="44450"/>
                </a:lnTo>
                <a:lnTo>
                  <a:pt x="1775587" y="44450"/>
                </a:lnTo>
                <a:lnTo>
                  <a:pt x="1775587" y="31750"/>
                </a:lnTo>
                <a:close/>
              </a:path>
              <a:path w="1852295" h="76200">
                <a:moveTo>
                  <a:pt x="1839087" y="31750"/>
                </a:moveTo>
                <a:lnTo>
                  <a:pt x="1788287" y="31750"/>
                </a:lnTo>
                <a:lnTo>
                  <a:pt x="1788287" y="44450"/>
                </a:lnTo>
                <a:lnTo>
                  <a:pt x="1839087" y="44450"/>
                </a:lnTo>
                <a:lnTo>
                  <a:pt x="1851787" y="38100"/>
                </a:lnTo>
                <a:lnTo>
                  <a:pt x="1839087" y="31750"/>
                </a:lnTo>
                <a:close/>
              </a:path>
            </a:pathLst>
          </a:custGeom>
          <a:solidFill>
            <a:srgbClr val="000000"/>
          </a:solidFill>
        </p:spPr>
        <p:txBody>
          <a:bodyPr wrap="square" lIns="0" tIns="0" rIns="0" bIns="0" rtlCol="0"/>
          <a:lstStyle/>
          <a:p>
            <a:endParaRPr/>
          </a:p>
        </p:txBody>
      </p:sp>
      <p:sp>
        <p:nvSpPr>
          <p:cNvPr id="21" name="object 21"/>
          <p:cNvSpPr/>
          <p:nvPr/>
        </p:nvSpPr>
        <p:spPr>
          <a:xfrm>
            <a:off x="5451347" y="2542032"/>
            <a:ext cx="1841500" cy="76200"/>
          </a:xfrm>
          <a:custGeom>
            <a:avLst/>
            <a:gdLst/>
            <a:ahLst/>
            <a:cxnLst/>
            <a:rect l="l" t="t" r="r" b="b"/>
            <a:pathLst>
              <a:path w="1841500" h="76200">
                <a:moveTo>
                  <a:pt x="1764919" y="0"/>
                </a:moveTo>
                <a:lnTo>
                  <a:pt x="1764919" y="76200"/>
                </a:lnTo>
                <a:lnTo>
                  <a:pt x="1828419" y="44450"/>
                </a:lnTo>
                <a:lnTo>
                  <a:pt x="1777619" y="44450"/>
                </a:lnTo>
                <a:lnTo>
                  <a:pt x="1777619" y="31750"/>
                </a:lnTo>
                <a:lnTo>
                  <a:pt x="1828419" y="31750"/>
                </a:lnTo>
                <a:lnTo>
                  <a:pt x="1764919" y="0"/>
                </a:lnTo>
                <a:close/>
              </a:path>
              <a:path w="1841500" h="76200">
                <a:moveTo>
                  <a:pt x="1764919" y="31750"/>
                </a:moveTo>
                <a:lnTo>
                  <a:pt x="0" y="31750"/>
                </a:lnTo>
                <a:lnTo>
                  <a:pt x="0" y="44450"/>
                </a:lnTo>
                <a:lnTo>
                  <a:pt x="1764919" y="44450"/>
                </a:lnTo>
                <a:lnTo>
                  <a:pt x="1764919" y="31750"/>
                </a:lnTo>
                <a:close/>
              </a:path>
              <a:path w="1841500" h="76200">
                <a:moveTo>
                  <a:pt x="1828419" y="31750"/>
                </a:moveTo>
                <a:lnTo>
                  <a:pt x="1777619" y="31750"/>
                </a:lnTo>
                <a:lnTo>
                  <a:pt x="1777619" y="44450"/>
                </a:lnTo>
                <a:lnTo>
                  <a:pt x="1828419" y="44450"/>
                </a:lnTo>
                <a:lnTo>
                  <a:pt x="1841119" y="38100"/>
                </a:lnTo>
                <a:lnTo>
                  <a:pt x="1828419" y="31750"/>
                </a:lnTo>
                <a:close/>
              </a:path>
            </a:pathLst>
          </a:custGeom>
          <a:solidFill>
            <a:srgbClr val="000000"/>
          </a:solidFill>
        </p:spPr>
        <p:txBody>
          <a:bodyPr wrap="square" lIns="0" tIns="0" rIns="0" bIns="0" rtlCol="0"/>
          <a:lstStyle/>
          <a:p>
            <a:endParaRPr/>
          </a:p>
        </p:txBody>
      </p:sp>
      <p:sp>
        <p:nvSpPr>
          <p:cNvPr id="22" name="object 22"/>
          <p:cNvSpPr txBox="1"/>
          <p:nvPr/>
        </p:nvSpPr>
        <p:spPr>
          <a:xfrm>
            <a:off x="7710931" y="6409317"/>
            <a:ext cx="1527810" cy="284480"/>
          </a:xfrm>
          <a:prstGeom prst="rect">
            <a:avLst/>
          </a:prstGeom>
        </p:spPr>
        <p:txBody>
          <a:bodyPr vert="horz" wrap="square" lIns="0" tIns="0" rIns="0" bIns="0" rtlCol="0">
            <a:spAutoFit/>
          </a:bodyPr>
          <a:lstStyle/>
          <a:p>
            <a:pPr marL="12700">
              <a:lnSpc>
                <a:spcPts val="1960"/>
              </a:lnSpc>
            </a:pPr>
            <a:r>
              <a:rPr sz="1800" b="1" dirty="0">
                <a:solidFill>
                  <a:srgbClr val="C00000"/>
                </a:solidFill>
                <a:latin typeface="Courier New"/>
                <a:cs typeface="Courier New"/>
              </a:rPr>
              <a:t>Stack</a:t>
            </a:r>
            <a:r>
              <a:rPr sz="1800" b="1" spc="-55" dirty="0">
                <a:solidFill>
                  <a:srgbClr val="C00000"/>
                </a:solidFill>
                <a:latin typeface="Courier New"/>
                <a:cs typeface="Courier New"/>
              </a:rPr>
              <a:t> </a:t>
            </a:r>
            <a:r>
              <a:rPr sz="1800" b="1" spc="-20" dirty="0">
                <a:solidFill>
                  <a:srgbClr val="C00000"/>
                </a:solidFill>
                <a:latin typeface="Courier New"/>
                <a:cs typeface="Courier New"/>
              </a:rPr>
              <a:t>Start</a:t>
            </a:r>
            <a:endParaRPr sz="1800">
              <a:latin typeface="Courier New"/>
              <a:cs typeface="Courier New"/>
            </a:endParaRPr>
          </a:p>
        </p:txBody>
      </p:sp>
      <p:sp>
        <p:nvSpPr>
          <p:cNvPr id="23" name="object 23"/>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24" name="object 24"/>
          <p:cNvSpPr txBox="1"/>
          <p:nvPr/>
        </p:nvSpPr>
        <p:spPr>
          <a:xfrm>
            <a:off x="10917428" y="6533103"/>
            <a:ext cx="116839" cy="160655"/>
          </a:xfrm>
          <a:prstGeom prst="rect">
            <a:avLst/>
          </a:prstGeom>
        </p:spPr>
        <p:txBody>
          <a:bodyPr vert="horz" wrap="square" lIns="0" tIns="0" rIns="0" bIns="0" rtlCol="0">
            <a:spAutoFit/>
          </a:bodyPr>
          <a:lstStyle/>
          <a:p>
            <a:pPr marL="12700">
              <a:lnSpc>
                <a:spcPts val="1125"/>
              </a:lnSpc>
            </a:pPr>
            <a:r>
              <a:rPr sz="1000" spc="-150" dirty="0">
                <a:solidFill>
                  <a:srgbClr val="0D0D0D"/>
                </a:solidFill>
                <a:latin typeface="Trebuchet MS"/>
                <a:cs typeface="Trebuchet MS"/>
              </a:rPr>
              <a:t>27</a:t>
            </a:r>
            <a:endParaRPr sz="1000">
              <a:latin typeface="Trebuchet MS"/>
              <a:cs typeface="Trebuchet M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42931" y="565404"/>
            <a:ext cx="300355" cy="5767070"/>
          </a:xfrm>
          <a:custGeom>
            <a:avLst/>
            <a:gdLst/>
            <a:ahLst/>
            <a:cxnLst/>
            <a:rect l="l" t="t" r="r" b="b"/>
            <a:pathLst>
              <a:path w="300354" h="5767070">
                <a:moveTo>
                  <a:pt x="0" y="3454908"/>
                </a:moveTo>
                <a:lnTo>
                  <a:pt x="58441" y="3456870"/>
                </a:lnTo>
                <a:lnTo>
                  <a:pt x="106156" y="3462226"/>
                </a:lnTo>
                <a:lnTo>
                  <a:pt x="138320" y="3470177"/>
                </a:lnTo>
                <a:lnTo>
                  <a:pt x="150114" y="3479927"/>
                </a:lnTo>
                <a:lnTo>
                  <a:pt x="150114" y="4039489"/>
                </a:lnTo>
                <a:lnTo>
                  <a:pt x="161907" y="4049238"/>
                </a:lnTo>
                <a:lnTo>
                  <a:pt x="194071" y="4057189"/>
                </a:lnTo>
                <a:lnTo>
                  <a:pt x="241786" y="4062545"/>
                </a:lnTo>
                <a:lnTo>
                  <a:pt x="300227" y="4064508"/>
                </a:lnTo>
                <a:lnTo>
                  <a:pt x="241786" y="4066470"/>
                </a:lnTo>
                <a:lnTo>
                  <a:pt x="194071" y="4071826"/>
                </a:lnTo>
                <a:lnTo>
                  <a:pt x="161907" y="4079777"/>
                </a:lnTo>
                <a:lnTo>
                  <a:pt x="150114" y="4089527"/>
                </a:lnTo>
                <a:lnTo>
                  <a:pt x="150114" y="4649089"/>
                </a:lnTo>
                <a:lnTo>
                  <a:pt x="138320" y="4658838"/>
                </a:lnTo>
                <a:lnTo>
                  <a:pt x="106156" y="4666789"/>
                </a:lnTo>
                <a:lnTo>
                  <a:pt x="58441" y="4672145"/>
                </a:lnTo>
                <a:lnTo>
                  <a:pt x="0" y="4674108"/>
                </a:lnTo>
              </a:path>
              <a:path w="300354" h="5767070">
                <a:moveTo>
                  <a:pt x="0" y="0"/>
                </a:moveTo>
                <a:lnTo>
                  <a:pt x="48059" y="1625"/>
                </a:lnTo>
                <a:lnTo>
                  <a:pt x="87296" y="6048"/>
                </a:lnTo>
                <a:lnTo>
                  <a:pt x="113746" y="12590"/>
                </a:lnTo>
                <a:lnTo>
                  <a:pt x="123444" y="20574"/>
                </a:lnTo>
                <a:lnTo>
                  <a:pt x="123444" y="1681734"/>
                </a:lnTo>
                <a:lnTo>
                  <a:pt x="133141" y="1689717"/>
                </a:lnTo>
                <a:lnTo>
                  <a:pt x="159591" y="1696259"/>
                </a:lnTo>
                <a:lnTo>
                  <a:pt x="198828" y="1700682"/>
                </a:lnTo>
                <a:lnTo>
                  <a:pt x="246888" y="1702308"/>
                </a:lnTo>
                <a:lnTo>
                  <a:pt x="198828" y="1703933"/>
                </a:lnTo>
                <a:lnTo>
                  <a:pt x="159591" y="1708356"/>
                </a:lnTo>
                <a:lnTo>
                  <a:pt x="133141" y="1714898"/>
                </a:lnTo>
                <a:lnTo>
                  <a:pt x="123444" y="1722882"/>
                </a:lnTo>
                <a:lnTo>
                  <a:pt x="123444" y="3384042"/>
                </a:lnTo>
                <a:lnTo>
                  <a:pt x="113746" y="3392025"/>
                </a:lnTo>
                <a:lnTo>
                  <a:pt x="87296" y="3398567"/>
                </a:lnTo>
                <a:lnTo>
                  <a:pt x="48059" y="3402990"/>
                </a:lnTo>
                <a:lnTo>
                  <a:pt x="0" y="3404616"/>
                </a:lnTo>
              </a:path>
              <a:path w="300354" h="5767070">
                <a:moveTo>
                  <a:pt x="0" y="4724400"/>
                </a:moveTo>
                <a:lnTo>
                  <a:pt x="58441" y="4726362"/>
                </a:lnTo>
                <a:lnTo>
                  <a:pt x="106156" y="4731718"/>
                </a:lnTo>
                <a:lnTo>
                  <a:pt x="138320" y="4739669"/>
                </a:lnTo>
                <a:lnTo>
                  <a:pt x="150114" y="4749419"/>
                </a:lnTo>
                <a:lnTo>
                  <a:pt x="150114" y="5220589"/>
                </a:lnTo>
                <a:lnTo>
                  <a:pt x="161907" y="5230327"/>
                </a:lnTo>
                <a:lnTo>
                  <a:pt x="194071" y="5238280"/>
                </a:lnTo>
                <a:lnTo>
                  <a:pt x="241786" y="5243641"/>
                </a:lnTo>
                <a:lnTo>
                  <a:pt x="300227" y="5245608"/>
                </a:lnTo>
                <a:lnTo>
                  <a:pt x="241786" y="5247574"/>
                </a:lnTo>
                <a:lnTo>
                  <a:pt x="194071" y="5252935"/>
                </a:lnTo>
                <a:lnTo>
                  <a:pt x="161907" y="5260888"/>
                </a:lnTo>
                <a:lnTo>
                  <a:pt x="150114" y="5270627"/>
                </a:lnTo>
                <a:lnTo>
                  <a:pt x="150114" y="5741797"/>
                </a:lnTo>
                <a:lnTo>
                  <a:pt x="138320" y="5751535"/>
                </a:lnTo>
                <a:lnTo>
                  <a:pt x="106156" y="5759488"/>
                </a:lnTo>
                <a:lnTo>
                  <a:pt x="58441" y="5764849"/>
                </a:lnTo>
                <a:lnTo>
                  <a:pt x="0" y="5766816"/>
                </a:lnTo>
              </a:path>
            </a:pathLst>
          </a:custGeom>
          <a:ln w="9525">
            <a:solidFill>
              <a:srgbClr val="000000"/>
            </a:solidFill>
          </a:ln>
        </p:spPr>
        <p:txBody>
          <a:bodyPr wrap="square" lIns="0" tIns="0" rIns="0" bIns="0" rtlCol="0"/>
          <a:lstStyle/>
          <a:p>
            <a:endParaRPr/>
          </a:p>
        </p:txBody>
      </p:sp>
      <p:sp>
        <p:nvSpPr>
          <p:cNvPr id="3" name="object 3"/>
          <p:cNvSpPr txBox="1"/>
          <p:nvPr/>
        </p:nvSpPr>
        <p:spPr>
          <a:xfrm>
            <a:off x="10085323" y="1699386"/>
            <a:ext cx="1802764" cy="1122680"/>
          </a:xfrm>
          <a:prstGeom prst="rect">
            <a:avLst/>
          </a:prstGeom>
        </p:spPr>
        <p:txBody>
          <a:bodyPr vert="horz" wrap="square" lIns="0" tIns="12700" rIns="0" bIns="0" rtlCol="0">
            <a:spAutoFit/>
          </a:bodyPr>
          <a:lstStyle/>
          <a:p>
            <a:pPr marL="12065" marR="5080" indent="-2540" algn="ctr">
              <a:lnSpc>
                <a:spcPct val="100000"/>
              </a:lnSpc>
              <a:spcBef>
                <a:spcPts val="100"/>
              </a:spcBef>
            </a:pPr>
            <a:r>
              <a:rPr sz="1800" b="1" dirty="0">
                <a:solidFill>
                  <a:srgbClr val="0000FF"/>
                </a:solidFill>
                <a:latin typeface="Courier New"/>
                <a:cs typeface="Courier New"/>
              </a:rPr>
              <a:t>Current</a:t>
            </a:r>
            <a:r>
              <a:rPr sz="1800" b="1" spc="-65" dirty="0">
                <a:solidFill>
                  <a:srgbClr val="0000FF"/>
                </a:solidFill>
                <a:latin typeface="Courier New"/>
                <a:cs typeface="Courier New"/>
              </a:rPr>
              <a:t> </a:t>
            </a:r>
            <a:r>
              <a:rPr sz="1800" b="1" spc="-20" dirty="0">
                <a:solidFill>
                  <a:srgbClr val="0000FF"/>
                </a:solidFill>
                <a:latin typeface="Courier New"/>
                <a:cs typeface="Courier New"/>
              </a:rPr>
              <a:t>Stack </a:t>
            </a:r>
            <a:r>
              <a:rPr sz="1800" b="1" dirty="0">
                <a:solidFill>
                  <a:srgbClr val="0000FF"/>
                </a:solidFill>
                <a:latin typeface="Courier New"/>
                <a:cs typeface="Courier New"/>
              </a:rPr>
              <a:t>Frame</a:t>
            </a:r>
            <a:r>
              <a:rPr sz="1800" b="1" spc="-55" dirty="0">
                <a:solidFill>
                  <a:srgbClr val="0000FF"/>
                </a:solidFill>
                <a:latin typeface="Courier New"/>
                <a:cs typeface="Courier New"/>
              </a:rPr>
              <a:t> </a:t>
            </a:r>
            <a:r>
              <a:rPr sz="1800" b="1" spc="-25" dirty="0">
                <a:solidFill>
                  <a:srgbClr val="0000FF"/>
                </a:solidFill>
                <a:latin typeface="Courier New"/>
                <a:cs typeface="Courier New"/>
              </a:rPr>
              <a:t>of </a:t>
            </a:r>
            <a:r>
              <a:rPr sz="1800" b="1" spc="-10" dirty="0">
                <a:solidFill>
                  <a:srgbClr val="0000FF"/>
                </a:solidFill>
                <a:latin typeface="Courier New"/>
                <a:cs typeface="Courier New"/>
              </a:rPr>
              <a:t>Callee DoSomeThing()</a:t>
            </a:r>
            <a:endParaRPr sz="1800">
              <a:latin typeface="Courier New"/>
              <a:cs typeface="Courier New"/>
            </a:endParaRPr>
          </a:p>
        </p:txBody>
      </p:sp>
      <p:sp>
        <p:nvSpPr>
          <p:cNvPr id="4" name="object 4"/>
          <p:cNvSpPr txBox="1"/>
          <p:nvPr/>
        </p:nvSpPr>
        <p:spPr>
          <a:xfrm>
            <a:off x="10269093" y="4210939"/>
            <a:ext cx="1527810" cy="848994"/>
          </a:xfrm>
          <a:prstGeom prst="rect">
            <a:avLst/>
          </a:prstGeom>
        </p:spPr>
        <p:txBody>
          <a:bodyPr vert="horz" wrap="square" lIns="0" tIns="12700" rIns="0" bIns="0" rtlCol="0">
            <a:spAutoFit/>
          </a:bodyPr>
          <a:lstStyle/>
          <a:p>
            <a:pPr marL="12700" marR="5080" algn="ctr">
              <a:lnSpc>
                <a:spcPct val="100000"/>
              </a:lnSpc>
              <a:spcBef>
                <a:spcPts val="100"/>
              </a:spcBef>
            </a:pPr>
            <a:r>
              <a:rPr sz="1800" b="1" dirty="0">
                <a:solidFill>
                  <a:srgbClr val="205D4A"/>
                </a:solidFill>
                <a:latin typeface="Courier New"/>
                <a:cs typeface="Courier New"/>
              </a:rPr>
              <a:t>Stack</a:t>
            </a:r>
            <a:r>
              <a:rPr sz="1800" b="1" spc="-55" dirty="0">
                <a:solidFill>
                  <a:srgbClr val="205D4A"/>
                </a:solidFill>
                <a:latin typeface="Courier New"/>
                <a:cs typeface="Courier New"/>
              </a:rPr>
              <a:t> </a:t>
            </a:r>
            <a:r>
              <a:rPr sz="1800" b="1" spc="-20" dirty="0">
                <a:solidFill>
                  <a:srgbClr val="205D4A"/>
                </a:solidFill>
                <a:latin typeface="Courier New"/>
                <a:cs typeface="Courier New"/>
              </a:rPr>
              <a:t>Frame </a:t>
            </a:r>
            <a:r>
              <a:rPr sz="1800" b="1" dirty="0">
                <a:solidFill>
                  <a:srgbClr val="205D4A"/>
                </a:solidFill>
                <a:latin typeface="Courier New"/>
                <a:cs typeface="Courier New"/>
              </a:rPr>
              <a:t>of</a:t>
            </a:r>
            <a:r>
              <a:rPr sz="1800" b="1" spc="-20" dirty="0">
                <a:solidFill>
                  <a:srgbClr val="205D4A"/>
                </a:solidFill>
                <a:latin typeface="Courier New"/>
                <a:cs typeface="Courier New"/>
              </a:rPr>
              <a:t> </a:t>
            </a:r>
            <a:r>
              <a:rPr sz="1800" b="1" spc="-10" dirty="0">
                <a:solidFill>
                  <a:srgbClr val="205D4A"/>
                </a:solidFill>
                <a:latin typeface="Courier New"/>
                <a:cs typeface="Courier New"/>
              </a:rPr>
              <a:t>Caller Main()</a:t>
            </a:r>
            <a:endParaRPr sz="1800">
              <a:latin typeface="Courier New"/>
              <a:cs typeface="Courier New"/>
            </a:endParaRPr>
          </a:p>
        </p:txBody>
      </p:sp>
      <p:sp>
        <p:nvSpPr>
          <p:cNvPr id="5" name="object 5"/>
          <p:cNvSpPr txBox="1"/>
          <p:nvPr/>
        </p:nvSpPr>
        <p:spPr>
          <a:xfrm>
            <a:off x="10495533" y="5420055"/>
            <a:ext cx="982344" cy="574675"/>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00AF50"/>
                </a:solidFill>
                <a:latin typeface="Courier New"/>
                <a:cs typeface="Courier New"/>
              </a:rPr>
              <a:t>Earlier</a:t>
            </a:r>
            <a:endParaRPr sz="1800">
              <a:latin typeface="Courier New"/>
              <a:cs typeface="Courier New"/>
            </a:endParaRPr>
          </a:p>
          <a:p>
            <a:pPr marL="81280">
              <a:lnSpc>
                <a:spcPct val="100000"/>
              </a:lnSpc>
            </a:pPr>
            <a:r>
              <a:rPr sz="1800" b="1" spc="-10" dirty="0">
                <a:solidFill>
                  <a:srgbClr val="00AF50"/>
                </a:solidFill>
                <a:latin typeface="Courier New"/>
                <a:cs typeface="Courier New"/>
              </a:rPr>
              <a:t>Frames</a:t>
            </a:r>
            <a:endParaRPr sz="1800">
              <a:latin typeface="Courier New"/>
              <a:cs typeface="Courier New"/>
            </a:endParaRPr>
          </a:p>
        </p:txBody>
      </p:sp>
      <p:sp>
        <p:nvSpPr>
          <p:cNvPr id="6" name="object 6"/>
          <p:cNvSpPr txBox="1"/>
          <p:nvPr/>
        </p:nvSpPr>
        <p:spPr>
          <a:xfrm>
            <a:off x="6448805" y="552653"/>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0x420</a:t>
            </a:r>
            <a:endParaRPr sz="1600">
              <a:latin typeface="Courier New"/>
              <a:cs typeface="Courier New"/>
            </a:endParaRPr>
          </a:p>
        </p:txBody>
      </p:sp>
      <p:sp>
        <p:nvSpPr>
          <p:cNvPr id="7" name="object 7"/>
          <p:cNvSpPr txBox="1"/>
          <p:nvPr/>
        </p:nvSpPr>
        <p:spPr>
          <a:xfrm>
            <a:off x="6448805" y="2351912"/>
            <a:ext cx="635000" cy="69215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0x438</a:t>
            </a:r>
            <a:endParaRPr sz="1600">
              <a:latin typeface="Courier New"/>
              <a:cs typeface="Courier New"/>
            </a:endParaRPr>
          </a:p>
          <a:p>
            <a:pPr marL="12700">
              <a:lnSpc>
                <a:spcPct val="100000"/>
              </a:lnSpc>
              <a:spcBef>
                <a:spcPts val="1415"/>
              </a:spcBef>
            </a:pPr>
            <a:r>
              <a:rPr sz="1600" b="1" spc="-10" dirty="0">
                <a:latin typeface="Courier New"/>
                <a:cs typeface="Courier New"/>
              </a:rPr>
              <a:t>0x43c</a:t>
            </a:r>
            <a:endParaRPr sz="1600">
              <a:latin typeface="Courier New"/>
              <a:cs typeface="Courier New"/>
            </a:endParaRPr>
          </a:p>
        </p:txBody>
      </p:sp>
      <p:sp>
        <p:nvSpPr>
          <p:cNvPr id="8" name="object 8"/>
          <p:cNvSpPr txBox="1"/>
          <p:nvPr/>
        </p:nvSpPr>
        <p:spPr>
          <a:xfrm>
            <a:off x="7471536" y="1331505"/>
            <a:ext cx="1953260" cy="2631440"/>
          </a:xfrm>
          <a:prstGeom prst="rect">
            <a:avLst/>
          </a:prstGeom>
        </p:spPr>
        <p:txBody>
          <a:bodyPr vert="horz" wrap="square" lIns="0" tIns="0" rIns="0" bIns="0" rtlCol="0">
            <a:spAutoFit/>
          </a:bodyPr>
          <a:lstStyle/>
          <a:p>
            <a:pPr algn="ctr">
              <a:lnSpc>
                <a:spcPts val="1650"/>
              </a:lnSpc>
            </a:pPr>
            <a:r>
              <a:rPr sz="1600" b="1" dirty="0">
                <a:latin typeface="Courier New"/>
                <a:cs typeface="Courier New"/>
              </a:rPr>
              <a:t>Local</a:t>
            </a:r>
            <a:r>
              <a:rPr sz="1600" b="1" spc="-60" dirty="0">
                <a:latin typeface="Courier New"/>
                <a:cs typeface="Courier New"/>
              </a:rPr>
              <a:t> </a:t>
            </a:r>
            <a:r>
              <a:rPr sz="1600" b="1" spc="-10" dirty="0">
                <a:latin typeface="Courier New"/>
                <a:cs typeface="Courier New"/>
              </a:rPr>
              <a:t>Variables</a:t>
            </a:r>
            <a:endParaRPr sz="1600">
              <a:latin typeface="Courier New"/>
              <a:cs typeface="Courier New"/>
            </a:endParaRPr>
          </a:p>
          <a:p>
            <a:pPr>
              <a:lnSpc>
                <a:spcPct val="100000"/>
              </a:lnSpc>
            </a:pPr>
            <a:endParaRPr sz="1600">
              <a:latin typeface="Courier New"/>
              <a:cs typeface="Courier New"/>
            </a:endParaRPr>
          </a:p>
          <a:p>
            <a:pPr>
              <a:lnSpc>
                <a:spcPct val="100000"/>
              </a:lnSpc>
              <a:spcBef>
                <a:spcPts val="1440"/>
              </a:spcBef>
            </a:pPr>
            <a:endParaRPr sz="1600">
              <a:latin typeface="Courier New"/>
              <a:cs typeface="Courier New"/>
            </a:endParaRPr>
          </a:p>
          <a:p>
            <a:pPr algn="ctr">
              <a:lnSpc>
                <a:spcPct val="173600"/>
              </a:lnSpc>
            </a:pPr>
            <a:r>
              <a:rPr sz="1600" b="1" dirty="0">
                <a:latin typeface="Courier New"/>
                <a:cs typeface="Courier New"/>
              </a:rPr>
              <a:t>Saved</a:t>
            </a:r>
            <a:r>
              <a:rPr sz="1600" b="1" spc="-40" dirty="0">
                <a:latin typeface="Courier New"/>
                <a:cs typeface="Courier New"/>
              </a:rPr>
              <a:t> </a:t>
            </a:r>
            <a:r>
              <a:rPr sz="1600" b="1" dirty="0">
                <a:latin typeface="Courier New"/>
                <a:cs typeface="Courier New"/>
              </a:rPr>
              <a:t>%ebp</a:t>
            </a:r>
            <a:r>
              <a:rPr sz="1600" b="1" spc="-40" dirty="0">
                <a:latin typeface="Courier New"/>
                <a:cs typeface="Courier New"/>
              </a:rPr>
              <a:t> </a:t>
            </a:r>
            <a:r>
              <a:rPr sz="1600" b="1" spc="-20" dirty="0">
                <a:latin typeface="Courier New"/>
                <a:cs typeface="Courier New"/>
              </a:rPr>
              <a:t>0x46c </a:t>
            </a:r>
            <a:r>
              <a:rPr sz="1600" b="1" dirty="0">
                <a:solidFill>
                  <a:srgbClr val="FF0000"/>
                </a:solidFill>
                <a:latin typeface="Courier New"/>
                <a:cs typeface="Courier New"/>
              </a:rPr>
              <a:t>Return</a:t>
            </a:r>
            <a:r>
              <a:rPr sz="1600" b="1" spc="-65" dirty="0">
                <a:solidFill>
                  <a:srgbClr val="FF0000"/>
                </a:solidFill>
                <a:latin typeface="Courier New"/>
                <a:cs typeface="Courier New"/>
              </a:rPr>
              <a:t> </a:t>
            </a:r>
            <a:r>
              <a:rPr sz="1600" b="1" spc="-10" dirty="0">
                <a:solidFill>
                  <a:srgbClr val="FF0000"/>
                </a:solidFill>
                <a:latin typeface="Courier New"/>
                <a:cs typeface="Courier New"/>
              </a:rPr>
              <a:t>Address </a:t>
            </a:r>
            <a:r>
              <a:rPr sz="1600" b="1" dirty="0">
                <a:latin typeface="Courier New"/>
                <a:cs typeface="Courier New"/>
              </a:rPr>
              <a:t>Argument</a:t>
            </a:r>
            <a:r>
              <a:rPr sz="1600" b="1" spc="-85" dirty="0">
                <a:latin typeface="Courier New"/>
                <a:cs typeface="Courier New"/>
              </a:rPr>
              <a:t> </a:t>
            </a:r>
            <a:r>
              <a:rPr sz="1600" b="1" spc="-50" dirty="0">
                <a:latin typeface="Courier New"/>
                <a:cs typeface="Courier New"/>
              </a:rPr>
              <a:t>1</a:t>
            </a:r>
            <a:endParaRPr sz="1600">
              <a:latin typeface="Courier New"/>
              <a:cs typeface="Courier New"/>
            </a:endParaRPr>
          </a:p>
          <a:p>
            <a:pPr marL="635" algn="ctr">
              <a:lnSpc>
                <a:spcPct val="100000"/>
              </a:lnSpc>
            </a:pPr>
            <a:r>
              <a:rPr sz="1600" b="1" spc="-25" dirty="0">
                <a:latin typeface="Courier New"/>
                <a:cs typeface="Courier New"/>
              </a:rPr>
              <a:t>...</a:t>
            </a:r>
            <a:endParaRPr sz="1600">
              <a:latin typeface="Courier New"/>
              <a:cs typeface="Courier New"/>
            </a:endParaRPr>
          </a:p>
          <a:p>
            <a:pPr marL="635" algn="ctr">
              <a:lnSpc>
                <a:spcPct val="100000"/>
              </a:lnSpc>
            </a:pPr>
            <a:r>
              <a:rPr sz="1600" b="1" dirty="0">
                <a:latin typeface="Courier New"/>
                <a:cs typeface="Courier New"/>
              </a:rPr>
              <a:t>Argument</a:t>
            </a:r>
            <a:r>
              <a:rPr sz="1600" b="1" spc="-85" dirty="0">
                <a:latin typeface="Courier New"/>
                <a:cs typeface="Courier New"/>
              </a:rPr>
              <a:t> </a:t>
            </a:r>
            <a:r>
              <a:rPr sz="1600" b="1" spc="-50" dirty="0">
                <a:latin typeface="Courier New"/>
                <a:cs typeface="Courier New"/>
              </a:rPr>
              <a:t>n</a:t>
            </a:r>
            <a:endParaRPr sz="1600">
              <a:latin typeface="Courier New"/>
              <a:cs typeface="Courier New"/>
            </a:endParaRPr>
          </a:p>
        </p:txBody>
      </p:sp>
      <p:sp>
        <p:nvSpPr>
          <p:cNvPr id="9" name="object 9"/>
          <p:cNvSpPr txBox="1"/>
          <p:nvPr/>
        </p:nvSpPr>
        <p:spPr>
          <a:xfrm>
            <a:off x="6448805" y="4445000"/>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0x46c</a:t>
            </a:r>
            <a:endParaRPr sz="1600">
              <a:latin typeface="Courier New"/>
              <a:cs typeface="Courier New"/>
            </a:endParaRPr>
          </a:p>
        </p:txBody>
      </p:sp>
      <p:sp>
        <p:nvSpPr>
          <p:cNvPr id="10" name="object 10"/>
          <p:cNvSpPr txBox="1"/>
          <p:nvPr/>
        </p:nvSpPr>
        <p:spPr>
          <a:xfrm>
            <a:off x="6448805" y="6022949"/>
            <a:ext cx="63500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Courier New"/>
                <a:cs typeface="Courier New"/>
              </a:rPr>
              <a:t>0x30A</a:t>
            </a:r>
            <a:endParaRPr sz="1600">
              <a:latin typeface="Courier New"/>
              <a:cs typeface="Courier New"/>
            </a:endParaRPr>
          </a:p>
        </p:txBody>
      </p:sp>
      <p:sp>
        <p:nvSpPr>
          <p:cNvPr id="11" name="object 11"/>
          <p:cNvSpPr txBox="1"/>
          <p:nvPr/>
        </p:nvSpPr>
        <p:spPr>
          <a:xfrm>
            <a:off x="7846568" y="83311"/>
            <a:ext cx="1255395"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C00000"/>
                </a:solidFill>
                <a:latin typeface="Courier New"/>
                <a:cs typeface="Courier New"/>
              </a:rPr>
              <a:t>Stack</a:t>
            </a:r>
            <a:r>
              <a:rPr sz="1800" b="1" spc="-45" dirty="0">
                <a:solidFill>
                  <a:srgbClr val="C00000"/>
                </a:solidFill>
                <a:latin typeface="Courier New"/>
                <a:cs typeface="Courier New"/>
              </a:rPr>
              <a:t> </a:t>
            </a:r>
            <a:r>
              <a:rPr sz="1800" b="1" spc="-25" dirty="0">
                <a:solidFill>
                  <a:srgbClr val="C00000"/>
                </a:solidFill>
                <a:latin typeface="Courier New"/>
                <a:cs typeface="Courier New"/>
              </a:rPr>
              <a:t>Top</a:t>
            </a:r>
            <a:endParaRPr sz="1800">
              <a:latin typeface="Courier New"/>
              <a:cs typeface="Courier New"/>
            </a:endParaRPr>
          </a:p>
        </p:txBody>
      </p:sp>
      <p:grpSp>
        <p:nvGrpSpPr>
          <p:cNvPr id="12" name="object 12"/>
          <p:cNvGrpSpPr/>
          <p:nvPr/>
        </p:nvGrpSpPr>
        <p:grpSpPr>
          <a:xfrm>
            <a:off x="7306691" y="536448"/>
            <a:ext cx="2284095" cy="3430904"/>
            <a:chOff x="7306691" y="536448"/>
            <a:chExt cx="2284095" cy="3430904"/>
          </a:xfrm>
        </p:grpSpPr>
        <p:pic>
          <p:nvPicPr>
            <p:cNvPr id="13" name="object 13"/>
            <p:cNvPicPr/>
            <p:nvPr/>
          </p:nvPicPr>
          <p:blipFill>
            <a:blip r:embed="rId2" cstate="print"/>
            <a:stretch>
              <a:fillRect/>
            </a:stretch>
          </p:blipFill>
          <p:spPr>
            <a:xfrm>
              <a:off x="7306691" y="536448"/>
              <a:ext cx="2283967" cy="3430524"/>
            </a:xfrm>
            <a:prstGeom prst="rect">
              <a:avLst/>
            </a:prstGeom>
          </p:spPr>
        </p:pic>
        <p:sp>
          <p:nvSpPr>
            <p:cNvPr id="14" name="object 14"/>
            <p:cNvSpPr/>
            <p:nvPr/>
          </p:nvSpPr>
          <p:spPr>
            <a:xfrm>
              <a:off x="7411974" y="2797555"/>
              <a:ext cx="2005964" cy="268605"/>
            </a:xfrm>
            <a:custGeom>
              <a:avLst/>
              <a:gdLst/>
              <a:ahLst/>
              <a:cxnLst/>
              <a:rect l="l" t="t" r="r" b="b"/>
              <a:pathLst>
                <a:path w="2005965" h="268605">
                  <a:moveTo>
                    <a:pt x="2005584" y="0"/>
                  </a:moveTo>
                  <a:lnTo>
                    <a:pt x="2005584" y="0"/>
                  </a:lnTo>
                  <a:lnTo>
                    <a:pt x="0" y="0"/>
                  </a:lnTo>
                  <a:lnTo>
                    <a:pt x="0" y="268224"/>
                  </a:lnTo>
                  <a:lnTo>
                    <a:pt x="2005584" y="268224"/>
                  </a:lnTo>
                  <a:lnTo>
                    <a:pt x="2005584" y="0"/>
                  </a:lnTo>
                  <a:close/>
                </a:path>
              </a:pathLst>
            </a:custGeom>
            <a:solidFill>
              <a:srgbClr val="FFFF00"/>
            </a:solidFill>
          </p:spPr>
          <p:txBody>
            <a:bodyPr wrap="square" lIns="0" tIns="0" rIns="0" bIns="0" rtlCol="0"/>
            <a:lstStyle/>
            <a:p>
              <a:endParaRPr/>
            </a:p>
          </p:txBody>
        </p:sp>
      </p:grpSp>
      <p:graphicFrame>
        <p:nvGraphicFramePr>
          <p:cNvPr id="15" name="object 15"/>
          <p:cNvGraphicFramePr>
            <a:graphicFrameLocks noGrp="1"/>
          </p:cNvGraphicFramePr>
          <p:nvPr/>
        </p:nvGraphicFramePr>
        <p:xfrm>
          <a:off x="7304785" y="530098"/>
          <a:ext cx="2270125" cy="5808342"/>
        </p:xfrm>
        <a:graphic>
          <a:graphicData uri="http://schemas.openxmlformats.org/drawingml/2006/table">
            <a:tbl>
              <a:tblPr firstRow="1" bandRow="1">
                <a:tableStyleId>{2D5ABB26-0587-4C30-8999-92F81FD0307C}</a:tableStyleId>
              </a:tblPr>
              <a:tblGrid>
                <a:gridCol w="2270125">
                  <a:extLst>
                    <a:ext uri="{9D8B030D-6E8A-4147-A177-3AD203B41FA5}">
                      <a16:colId xmlns:a16="http://schemas.microsoft.com/office/drawing/2014/main" val="20000"/>
                    </a:ext>
                  </a:extLst>
                </a:gridCol>
              </a:tblGrid>
              <a:tr h="1443355">
                <a:tc>
                  <a:txBody>
                    <a:bodyPr/>
                    <a:lstStyle/>
                    <a:p>
                      <a:pPr marL="98425">
                        <a:lnSpc>
                          <a:spcPct val="100000"/>
                        </a:lnSpc>
                        <a:spcBef>
                          <a:spcPts val="370"/>
                        </a:spcBef>
                      </a:pPr>
                      <a:r>
                        <a:rPr sz="1800" b="1" spc="-10" dirty="0">
                          <a:latin typeface="Consolas"/>
                          <a:cs typeface="Consolas"/>
                        </a:rPr>
                        <a:t>\xbb\xc8\xc1\x9d</a:t>
                      </a:r>
                      <a:endParaRPr sz="1800">
                        <a:latin typeface="Consolas"/>
                        <a:cs typeface="Consolas"/>
                      </a:endParaRPr>
                    </a:p>
                    <a:p>
                      <a:pPr marL="98425">
                        <a:lnSpc>
                          <a:spcPct val="100000"/>
                        </a:lnSpc>
                      </a:pPr>
                      <a:r>
                        <a:rPr sz="1800" b="1" spc="-10" dirty="0">
                          <a:latin typeface="Consolas"/>
                          <a:cs typeface="Consolas"/>
                        </a:rPr>
                        <a:t>\x44\xd9\xf7\xd9</a:t>
                      </a:r>
                      <a:endParaRPr sz="1800">
                        <a:latin typeface="Consolas"/>
                        <a:cs typeface="Consolas"/>
                      </a:endParaRPr>
                    </a:p>
                    <a:p>
                      <a:pPr marL="98425">
                        <a:lnSpc>
                          <a:spcPct val="100000"/>
                        </a:lnSpc>
                      </a:pPr>
                      <a:r>
                        <a:rPr sz="1800" b="1" spc="-10" dirty="0">
                          <a:latin typeface="Consolas"/>
                          <a:cs typeface="Consolas"/>
                        </a:rPr>
                        <a:t>\x74\x24\xf4\x5d</a:t>
                      </a:r>
                      <a:endParaRPr sz="1800">
                        <a:latin typeface="Consolas"/>
                        <a:cs typeface="Consolas"/>
                      </a:endParaRPr>
                    </a:p>
                    <a:p>
                      <a:pPr marL="98425">
                        <a:lnSpc>
                          <a:spcPct val="100000"/>
                        </a:lnSpc>
                      </a:pPr>
                      <a:r>
                        <a:rPr sz="1800" b="1" spc="-10" dirty="0">
                          <a:latin typeface="Consolas"/>
                          <a:cs typeface="Consolas"/>
                        </a:rPr>
                        <a:t>\x31\xc9\xb1\x52</a:t>
                      </a:r>
                      <a:endParaRPr sz="1800">
                        <a:latin typeface="Consolas"/>
                        <a:cs typeface="Consolas"/>
                      </a:endParaRPr>
                    </a:p>
                    <a:p>
                      <a:pPr marL="98425">
                        <a:lnSpc>
                          <a:spcPct val="100000"/>
                        </a:lnSpc>
                      </a:pPr>
                      <a:r>
                        <a:rPr sz="1800" b="1" spc="-10" dirty="0">
                          <a:latin typeface="Consolas"/>
                          <a:cs typeface="Consolas"/>
                        </a:rPr>
                        <a:t>\x31\x5d\x12\x83</a:t>
                      </a:r>
                      <a:endParaRPr sz="1800">
                        <a:latin typeface="Consolas"/>
                        <a:cs typeface="Consolas"/>
                      </a:endParaRPr>
                    </a:p>
                  </a:txBody>
                  <a:tcPr marL="0" marR="0" marT="46990" marB="0">
                    <a:lnL w="12700">
                      <a:solidFill>
                        <a:srgbClr val="000000"/>
                      </a:solidFill>
                      <a:prstDash val="solid"/>
                    </a:lnL>
                    <a:lnR w="12700">
                      <a:solidFill>
                        <a:srgbClr val="000000"/>
                      </a:solidFill>
                      <a:prstDash val="solid"/>
                    </a:lnR>
                  </a:tcPr>
                </a:tc>
                <a:extLst>
                  <a:ext uri="{0D108BD9-81ED-4DB2-BD59-A6C34878D82A}">
                    <a16:rowId xmlns:a16="http://schemas.microsoft.com/office/drawing/2014/main" val="10000"/>
                  </a:ext>
                </a:extLst>
              </a:tr>
              <a:tr h="817244">
                <a:tc>
                  <a:txBody>
                    <a:bodyPr/>
                    <a:lstStyle/>
                    <a:p>
                      <a:pPr marL="98425">
                        <a:lnSpc>
                          <a:spcPts val="1964"/>
                        </a:lnSpc>
                      </a:pPr>
                      <a:r>
                        <a:rPr sz="1800" b="1" spc="-10" dirty="0">
                          <a:latin typeface="Consolas"/>
                          <a:cs typeface="Consolas"/>
                        </a:rPr>
                        <a:t>\xed\xfc\x03\x95</a:t>
                      </a:r>
                      <a:endParaRPr sz="1800">
                        <a:latin typeface="Consolas"/>
                        <a:cs typeface="Consolas"/>
                      </a:endParaRPr>
                    </a:p>
                    <a:p>
                      <a:pPr marL="98425">
                        <a:lnSpc>
                          <a:spcPct val="100000"/>
                        </a:lnSpc>
                      </a:pPr>
                      <a:r>
                        <a:rPr sz="1800" b="1" spc="-10" dirty="0">
                          <a:latin typeface="Consolas"/>
                          <a:cs typeface="Consolas"/>
                        </a:rPr>
                        <a:t>\xcf\x7f\xb1\xd9</a:t>
                      </a:r>
                      <a:endParaRPr sz="1800">
                        <a:latin typeface="Consolas"/>
                        <a:cs typeface="Consolas"/>
                      </a:endParaRPr>
                    </a:p>
                    <a:p>
                      <a:pPr marL="98425">
                        <a:lnSpc>
                          <a:spcPct val="100000"/>
                        </a:lnSpc>
                      </a:pPr>
                      <a:r>
                        <a:rPr sz="1800" b="1" spc="-10" dirty="0">
                          <a:latin typeface="Consolas"/>
                          <a:cs typeface="Consolas"/>
                        </a:rPr>
                        <a:t>\x38\xfd\x3a\x21</a:t>
                      </a:r>
                      <a:endParaRPr sz="1800">
                        <a:latin typeface="Consolas"/>
                        <a:cs typeface="Consolas"/>
                      </a:endParaRPr>
                    </a:p>
                  </a:txBody>
                  <a:tcPr marL="0" marR="0" marT="0" marB="0">
                    <a:lnL w="19050">
                      <a:solidFill>
                        <a:srgbClr val="000000"/>
                      </a:solidFill>
                      <a:prstDash val="solid"/>
                    </a:lnL>
                    <a:lnR w="19050">
                      <a:solidFill>
                        <a:srgbClr val="000000"/>
                      </a:solidFill>
                      <a:prstDash val="solid"/>
                    </a:lnR>
                  </a:tcPr>
                </a:tc>
                <a:extLst>
                  <a:ext uri="{0D108BD9-81ED-4DB2-BD59-A6C34878D82A}">
                    <a16:rowId xmlns:a16="http://schemas.microsoft.com/office/drawing/2014/main" val="10001"/>
                  </a:ext>
                </a:extLst>
              </a:tr>
              <a:tr h="267970">
                <a:tc>
                  <a:txBody>
                    <a:bodyPr/>
                    <a:lstStyle/>
                    <a:p>
                      <a:pPr marR="60325" algn="ctr">
                        <a:lnSpc>
                          <a:spcPts val="2010"/>
                        </a:lnSpc>
                      </a:pPr>
                      <a:r>
                        <a:rPr sz="1800" b="1" spc="-10" dirty="0">
                          <a:latin typeface="Consolas"/>
                          <a:cs typeface="Consolas"/>
                        </a:rPr>
                        <a:t>\xb9\x62\xb2\xc4</a:t>
                      </a:r>
                      <a:endParaRPr sz="1800">
                        <a:latin typeface="Consolas"/>
                        <a:cs typeface="Consolas"/>
                      </a:endParaRPr>
                    </a:p>
                  </a:txBody>
                  <a:tcPr marL="0" marR="0" marT="0" marB="0">
                    <a:lnL w="12700">
                      <a:solidFill>
                        <a:srgbClr val="000000"/>
                      </a:solidFill>
                      <a:prstDash val="solid"/>
                    </a:lnL>
                    <a:lnR w="12700">
                      <a:solidFill>
                        <a:srgbClr val="000000"/>
                      </a:solidFill>
                      <a:prstDash val="solid"/>
                    </a:lnR>
                    <a:solidFill>
                      <a:srgbClr val="FFFF00"/>
                    </a:solidFill>
                  </a:tcPr>
                </a:tc>
                <a:extLst>
                  <a:ext uri="{0D108BD9-81ED-4DB2-BD59-A6C34878D82A}">
                    <a16:rowId xmlns:a16="http://schemas.microsoft.com/office/drawing/2014/main" val="10002"/>
                  </a:ext>
                </a:extLst>
              </a:tr>
              <a:tr h="925830">
                <a:tc>
                  <a:txBody>
                    <a:bodyPr/>
                    <a:lstStyle/>
                    <a:p>
                      <a:pPr algn="ctr">
                        <a:lnSpc>
                          <a:spcPts val="2060"/>
                        </a:lnSpc>
                      </a:pPr>
                      <a:r>
                        <a:rPr sz="1800" b="1" spc="-25" dirty="0">
                          <a:latin typeface="Consolas"/>
                          <a:cs typeface="Consolas"/>
                        </a:rPr>
                        <a:t>...</a:t>
                      </a:r>
                      <a:endParaRPr sz="1800">
                        <a:latin typeface="Consolas"/>
                        <a:cs typeface="Consolas"/>
                      </a:endParaRPr>
                    </a:p>
                    <a:p>
                      <a:pPr algn="ctr">
                        <a:lnSpc>
                          <a:spcPct val="100000"/>
                        </a:lnSpc>
                      </a:pPr>
                      <a:r>
                        <a:rPr sz="1800" b="1" spc="-25" dirty="0">
                          <a:latin typeface="Consolas"/>
                          <a:cs typeface="Consolas"/>
                        </a:rPr>
                        <a:t>...</a:t>
                      </a:r>
                      <a:endParaRPr sz="1800">
                        <a:latin typeface="Consolas"/>
                        <a:cs typeface="Consolas"/>
                      </a:endParaRPr>
                    </a:p>
                    <a:p>
                      <a:pPr algn="ctr">
                        <a:lnSpc>
                          <a:spcPct val="100000"/>
                        </a:lnSpc>
                      </a:pPr>
                      <a:r>
                        <a:rPr sz="1800" b="1" spc="-25" dirty="0">
                          <a:latin typeface="Consolas"/>
                          <a:cs typeface="Consolas"/>
                        </a:rPr>
                        <a:t>...</a:t>
                      </a:r>
                      <a:endParaRPr sz="1800">
                        <a:latin typeface="Consolas"/>
                        <a:cs typeface="Consolas"/>
                      </a:endParaRPr>
                    </a:p>
                  </a:txBody>
                  <a:tcPr marL="0" marR="0" marT="0" marB="0">
                    <a:lnL w="19050">
                      <a:solidFill>
                        <a:srgbClr val="000000"/>
                      </a:solidFill>
                      <a:prstDash val="solid"/>
                    </a:lnL>
                    <a:lnR w="19050">
                      <a:solidFill>
                        <a:srgbClr val="000000"/>
                      </a:solidFill>
                      <a:prstDash val="solid"/>
                    </a:lnR>
                    <a:lnB w="57150">
                      <a:solidFill>
                        <a:srgbClr val="D3EBDB"/>
                      </a:solidFill>
                      <a:prstDash val="solid"/>
                    </a:lnB>
                  </a:tcPr>
                </a:tc>
                <a:extLst>
                  <a:ext uri="{0D108BD9-81ED-4DB2-BD59-A6C34878D82A}">
                    <a16:rowId xmlns:a16="http://schemas.microsoft.com/office/drawing/2014/main" val="10003"/>
                  </a:ext>
                </a:extLst>
              </a:tr>
              <a:tr h="441325">
                <a:tc>
                  <a:txBody>
                    <a:bodyPr/>
                    <a:lstStyle/>
                    <a:p>
                      <a:pPr algn="ctr">
                        <a:lnSpc>
                          <a:spcPct val="100000"/>
                        </a:lnSpc>
                        <a:spcBef>
                          <a:spcPts val="325"/>
                        </a:spcBef>
                      </a:pPr>
                      <a:r>
                        <a:rPr sz="1600" b="1" spc="-25" dirty="0">
                          <a:latin typeface="Courier New"/>
                          <a:cs typeface="Courier New"/>
                        </a:rPr>
                        <a:t>...</a:t>
                      </a:r>
                      <a:endParaRPr sz="1600">
                        <a:latin typeface="Courier New"/>
                        <a:cs typeface="Courier New"/>
                      </a:endParaRPr>
                    </a:p>
                  </a:txBody>
                  <a:tcPr marL="0" marR="0" marT="41275" marB="0">
                    <a:lnL w="12700">
                      <a:solidFill>
                        <a:srgbClr val="000000"/>
                      </a:solidFill>
                      <a:prstDash val="solid"/>
                    </a:lnL>
                    <a:lnR w="12700">
                      <a:solidFill>
                        <a:srgbClr val="000000"/>
                      </a:solidFill>
                      <a:prstDash val="solid"/>
                    </a:lnR>
                    <a:lnT w="57150">
                      <a:solidFill>
                        <a:srgbClr val="D3EBDB"/>
                      </a:solidFill>
                      <a:prstDash val="solid"/>
                    </a:lnT>
                    <a:lnB w="12700">
                      <a:solidFill>
                        <a:srgbClr val="000000"/>
                      </a:solidFill>
                      <a:prstDash val="solid"/>
                    </a:lnB>
                    <a:solidFill>
                      <a:srgbClr val="42B996"/>
                    </a:solidFill>
                  </a:tcPr>
                </a:tc>
                <a:extLst>
                  <a:ext uri="{0D108BD9-81ED-4DB2-BD59-A6C34878D82A}">
                    <a16:rowId xmlns:a16="http://schemas.microsoft.com/office/drawing/2014/main" val="10004"/>
                  </a:ext>
                </a:extLst>
              </a:tr>
              <a:tr h="422909">
                <a:tc>
                  <a:txBody>
                    <a:bodyPr/>
                    <a:lstStyle/>
                    <a:p>
                      <a:pPr algn="ctr">
                        <a:lnSpc>
                          <a:spcPct val="100000"/>
                        </a:lnSpc>
                        <a:spcBef>
                          <a:spcPts val="180"/>
                        </a:spcBef>
                      </a:pPr>
                      <a:r>
                        <a:rPr sz="1600" b="1" dirty="0">
                          <a:latin typeface="Courier New"/>
                          <a:cs typeface="Courier New"/>
                        </a:rPr>
                        <a:t>Old</a:t>
                      </a:r>
                      <a:r>
                        <a:rPr sz="1600" b="1" spc="-30" dirty="0">
                          <a:latin typeface="Courier New"/>
                          <a:cs typeface="Courier New"/>
                        </a:rPr>
                        <a:t> </a:t>
                      </a:r>
                      <a:r>
                        <a:rPr sz="1600" b="1" spc="-20" dirty="0">
                          <a:latin typeface="Courier New"/>
                          <a:cs typeface="Courier New"/>
                        </a:rPr>
                        <a:t>%ebp</a:t>
                      </a:r>
                      <a:endParaRPr sz="1600">
                        <a:latin typeface="Courier New"/>
                        <a:cs typeface="Courier New"/>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2B996"/>
                    </a:solidFill>
                  </a:tcPr>
                </a:tc>
                <a:extLst>
                  <a:ext uri="{0D108BD9-81ED-4DB2-BD59-A6C34878D82A}">
                    <a16:rowId xmlns:a16="http://schemas.microsoft.com/office/drawing/2014/main" val="10005"/>
                  </a:ext>
                </a:extLst>
              </a:tr>
              <a:tr h="422909">
                <a:tc>
                  <a:txBody>
                    <a:bodyPr/>
                    <a:lstStyle/>
                    <a:p>
                      <a:pPr algn="ctr">
                        <a:lnSpc>
                          <a:spcPct val="100000"/>
                        </a:lnSpc>
                        <a:spcBef>
                          <a:spcPts val="185"/>
                        </a:spcBef>
                      </a:pPr>
                      <a:r>
                        <a:rPr sz="1600" b="1" spc="-25" dirty="0">
                          <a:latin typeface="Courier New"/>
                          <a:cs typeface="Courier New"/>
                        </a:rPr>
                        <a:t>...</a:t>
                      </a:r>
                      <a:endParaRPr sz="1600">
                        <a:latin typeface="Courier New"/>
                        <a:cs typeface="Courier New"/>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42B996"/>
                    </a:solidFill>
                  </a:tcPr>
                </a:tc>
                <a:extLst>
                  <a:ext uri="{0D108BD9-81ED-4DB2-BD59-A6C34878D82A}">
                    <a16:rowId xmlns:a16="http://schemas.microsoft.com/office/drawing/2014/main" val="10006"/>
                  </a:ext>
                </a:extLst>
              </a:tr>
              <a:tr h="1066800">
                <a:tc>
                  <a:txBody>
                    <a:bodyPr/>
                    <a:lstStyle/>
                    <a:p>
                      <a:pPr>
                        <a:lnSpc>
                          <a:spcPct val="100000"/>
                        </a:lnSpc>
                        <a:spcBef>
                          <a:spcPts val="265"/>
                        </a:spcBef>
                      </a:pPr>
                      <a:endParaRPr sz="1600">
                        <a:latin typeface="Times New Roman"/>
                        <a:cs typeface="Times New Roman"/>
                      </a:endParaRPr>
                    </a:p>
                    <a:p>
                      <a:pPr marL="768350" marR="334010" indent="-426720">
                        <a:lnSpc>
                          <a:spcPct val="100000"/>
                        </a:lnSpc>
                      </a:pPr>
                      <a:r>
                        <a:rPr sz="1600" b="1" dirty="0">
                          <a:latin typeface="Courier New"/>
                          <a:cs typeface="Courier New"/>
                        </a:rPr>
                        <a:t>Earlier</a:t>
                      </a:r>
                      <a:r>
                        <a:rPr sz="1600" b="1" spc="-75" dirty="0">
                          <a:latin typeface="Courier New"/>
                          <a:cs typeface="Courier New"/>
                        </a:rPr>
                        <a:t> </a:t>
                      </a:r>
                      <a:r>
                        <a:rPr sz="1600" b="1" spc="-20" dirty="0">
                          <a:latin typeface="Courier New"/>
                          <a:cs typeface="Courier New"/>
                        </a:rPr>
                        <a:t>Stack </a:t>
                      </a:r>
                      <a:r>
                        <a:rPr sz="1600" b="1" spc="-10" dirty="0">
                          <a:latin typeface="Courier New"/>
                          <a:cs typeface="Courier New"/>
                        </a:rPr>
                        <a:t>Frames</a:t>
                      </a:r>
                      <a:endParaRPr sz="1600">
                        <a:latin typeface="Courier New"/>
                        <a:cs typeface="Courier New"/>
                      </a:endParaRPr>
                    </a:p>
                  </a:txBody>
                  <a:tcPr marL="0" marR="0" marT="336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FECEB"/>
                    </a:solidFill>
                  </a:tcPr>
                </a:tc>
                <a:extLst>
                  <a:ext uri="{0D108BD9-81ED-4DB2-BD59-A6C34878D82A}">
                    <a16:rowId xmlns:a16="http://schemas.microsoft.com/office/drawing/2014/main" val="10007"/>
                  </a:ext>
                </a:extLst>
              </a:tr>
            </a:tbl>
          </a:graphicData>
        </a:graphic>
      </p:graphicFrame>
      <p:sp>
        <p:nvSpPr>
          <p:cNvPr id="16" name="object 16"/>
          <p:cNvSpPr txBox="1"/>
          <p:nvPr/>
        </p:nvSpPr>
        <p:spPr>
          <a:xfrm>
            <a:off x="4942332" y="3611879"/>
            <a:ext cx="509270" cy="307975"/>
          </a:xfrm>
          <a:prstGeom prst="rect">
            <a:avLst/>
          </a:prstGeom>
          <a:solidFill>
            <a:srgbClr val="FFFF00"/>
          </a:solidFill>
          <a:ln w="12700">
            <a:solidFill>
              <a:srgbClr val="000000"/>
            </a:solidFill>
          </a:ln>
        </p:spPr>
        <p:txBody>
          <a:bodyPr vert="horz" wrap="square" lIns="0" tIns="24765" rIns="0" bIns="0" rtlCol="0">
            <a:spAutoFit/>
          </a:bodyPr>
          <a:lstStyle/>
          <a:p>
            <a:pPr marL="95250">
              <a:lnSpc>
                <a:spcPct val="100000"/>
              </a:lnSpc>
              <a:spcBef>
                <a:spcPts val="195"/>
              </a:spcBef>
            </a:pPr>
            <a:r>
              <a:rPr sz="1400" b="1" spc="-25" dirty="0">
                <a:latin typeface="Courier New"/>
                <a:cs typeface="Courier New"/>
              </a:rPr>
              <a:t>EIP</a:t>
            </a:r>
            <a:endParaRPr sz="1400">
              <a:latin typeface="Courier New"/>
              <a:cs typeface="Courier New"/>
            </a:endParaRPr>
          </a:p>
        </p:txBody>
      </p:sp>
      <p:sp>
        <p:nvSpPr>
          <p:cNvPr id="17" name="object 17"/>
          <p:cNvSpPr/>
          <p:nvPr/>
        </p:nvSpPr>
        <p:spPr>
          <a:xfrm>
            <a:off x="5451347" y="3727703"/>
            <a:ext cx="1841500" cy="76200"/>
          </a:xfrm>
          <a:custGeom>
            <a:avLst/>
            <a:gdLst/>
            <a:ahLst/>
            <a:cxnLst/>
            <a:rect l="l" t="t" r="r" b="b"/>
            <a:pathLst>
              <a:path w="1841500" h="76200">
                <a:moveTo>
                  <a:pt x="1764919" y="0"/>
                </a:moveTo>
                <a:lnTo>
                  <a:pt x="1764919" y="76200"/>
                </a:lnTo>
                <a:lnTo>
                  <a:pt x="1828419" y="44450"/>
                </a:lnTo>
                <a:lnTo>
                  <a:pt x="1777619" y="44450"/>
                </a:lnTo>
                <a:lnTo>
                  <a:pt x="1777619" y="31750"/>
                </a:lnTo>
                <a:lnTo>
                  <a:pt x="1828419" y="31750"/>
                </a:lnTo>
                <a:lnTo>
                  <a:pt x="1764919" y="0"/>
                </a:lnTo>
                <a:close/>
              </a:path>
              <a:path w="1841500" h="76200">
                <a:moveTo>
                  <a:pt x="1764919" y="31750"/>
                </a:moveTo>
                <a:lnTo>
                  <a:pt x="0" y="31750"/>
                </a:lnTo>
                <a:lnTo>
                  <a:pt x="0" y="44450"/>
                </a:lnTo>
                <a:lnTo>
                  <a:pt x="1764919" y="44450"/>
                </a:lnTo>
                <a:lnTo>
                  <a:pt x="1764919" y="31750"/>
                </a:lnTo>
                <a:close/>
              </a:path>
              <a:path w="1841500" h="76200">
                <a:moveTo>
                  <a:pt x="1828419" y="31750"/>
                </a:moveTo>
                <a:lnTo>
                  <a:pt x="1777619" y="31750"/>
                </a:lnTo>
                <a:lnTo>
                  <a:pt x="1777619" y="44450"/>
                </a:lnTo>
                <a:lnTo>
                  <a:pt x="1828419" y="44450"/>
                </a:lnTo>
                <a:lnTo>
                  <a:pt x="1841119" y="38100"/>
                </a:lnTo>
                <a:lnTo>
                  <a:pt x="1828419" y="31750"/>
                </a:lnTo>
                <a:close/>
              </a:path>
            </a:pathLst>
          </a:custGeom>
          <a:solidFill>
            <a:srgbClr val="000000"/>
          </a:solidFill>
        </p:spPr>
        <p:txBody>
          <a:bodyPr wrap="square" lIns="0" tIns="0" rIns="0" bIns="0" rtlCol="0"/>
          <a:lstStyle/>
          <a:p>
            <a:endParaRPr/>
          </a:p>
        </p:txBody>
      </p:sp>
      <p:sp>
        <p:nvSpPr>
          <p:cNvPr id="18" name="object 18"/>
          <p:cNvSpPr/>
          <p:nvPr/>
        </p:nvSpPr>
        <p:spPr>
          <a:xfrm>
            <a:off x="7256526" y="2751582"/>
            <a:ext cx="2350135" cy="407034"/>
          </a:xfrm>
          <a:custGeom>
            <a:avLst/>
            <a:gdLst/>
            <a:ahLst/>
            <a:cxnLst/>
            <a:rect l="l" t="t" r="r" b="b"/>
            <a:pathLst>
              <a:path w="2350134" h="407035">
                <a:moveTo>
                  <a:pt x="0" y="203453"/>
                </a:moveTo>
                <a:lnTo>
                  <a:pt x="22028" y="164033"/>
                </a:lnTo>
                <a:lnTo>
                  <a:pt x="59899" y="139135"/>
                </a:lnTo>
                <a:lnTo>
                  <a:pt x="114874" y="115590"/>
                </a:lnTo>
                <a:lnTo>
                  <a:pt x="185715" y="93615"/>
                </a:lnTo>
                <a:lnTo>
                  <a:pt x="226698" y="83283"/>
                </a:lnTo>
                <a:lnTo>
                  <a:pt x="271183" y="73423"/>
                </a:lnTo>
                <a:lnTo>
                  <a:pt x="319015" y="64063"/>
                </a:lnTo>
                <a:lnTo>
                  <a:pt x="370039" y="55229"/>
                </a:lnTo>
                <a:lnTo>
                  <a:pt x="424102" y="46947"/>
                </a:lnTo>
                <a:lnTo>
                  <a:pt x="481047" y="39246"/>
                </a:lnTo>
                <a:lnTo>
                  <a:pt x="540720" y="32150"/>
                </a:lnTo>
                <a:lnTo>
                  <a:pt x="602967" y="25688"/>
                </a:lnTo>
                <a:lnTo>
                  <a:pt x="667632" y="19886"/>
                </a:lnTo>
                <a:lnTo>
                  <a:pt x="734561" y="14771"/>
                </a:lnTo>
                <a:lnTo>
                  <a:pt x="803599" y="10369"/>
                </a:lnTo>
                <a:lnTo>
                  <a:pt x="874590" y="6707"/>
                </a:lnTo>
                <a:lnTo>
                  <a:pt x="947382" y="3813"/>
                </a:lnTo>
                <a:lnTo>
                  <a:pt x="1021817" y="1712"/>
                </a:lnTo>
                <a:lnTo>
                  <a:pt x="1097743" y="432"/>
                </a:lnTo>
                <a:lnTo>
                  <a:pt x="1175003" y="0"/>
                </a:lnTo>
                <a:lnTo>
                  <a:pt x="1252264" y="432"/>
                </a:lnTo>
                <a:lnTo>
                  <a:pt x="1328190" y="1712"/>
                </a:lnTo>
                <a:lnTo>
                  <a:pt x="1402625" y="3813"/>
                </a:lnTo>
                <a:lnTo>
                  <a:pt x="1475417" y="6707"/>
                </a:lnTo>
                <a:lnTo>
                  <a:pt x="1546408" y="10369"/>
                </a:lnTo>
                <a:lnTo>
                  <a:pt x="1615446" y="14771"/>
                </a:lnTo>
                <a:lnTo>
                  <a:pt x="1682375" y="19886"/>
                </a:lnTo>
                <a:lnTo>
                  <a:pt x="1747040" y="25688"/>
                </a:lnTo>
                <a:lnTo>
                  <a:pt x="1809287" y="32150"/>
                </a:lnTo>
                <a:lnTo>
                  <a:pt x="1868960" y="39246"/>
                </a:lnTo>
                <a:lnTo>
                  <a:pt x="1925905" y="46947"/>
                </a:lnTo>
                <a:lnTo>
                  <a:pt x="1979968" y="55229"/>
                </a:lnTo>
                <a:lnTo>
                  <a:pt x="2030992" y="64063"/>
                </a:lnTo>
                <a:lnTo>
                  <a:pt x="2078824" y="73423"/>
                </a:lnTo>
                <a:lnTo>
                  <a:pt x="2123309" y="83283"/>
                </a:lnTo>
                <a:lnTo>
                  <a:pt x="2164292" y="93615"/>
                </a:lnTo>
                <a:lnTo>
                  <a:pt x="2201619" y="104393"/>
                </a:lnTo>
                <a:lnTo>
                  <a:pt x="2264681" y="127180"/>
                </a:lnTo>
                <a:lnTo>
                  <a:pt x="2311259" y="151428"/>
                </a:lnTo>
                <a:lnTo>
                  <a:pt x="2340114" y="176924"/>
                </a:lnTo>
                <a:lnTo>
                  <a:pt x="2350007" y="203453"/>
                </a:lnTo>
                <a:lnTo>
                  <a:pt x="2347508" y="216834"/>
                </a:lnTo>
                <a:lnTo>
                  <a:pt x="2311259" y="255479"/>
                </a:lnTo>
                <a:lnTo>
                  <a:pt x="2264681" y="279727"/>
                </a:lnTo>
                <a:lnTo>
                  <a:pt x="2201619" y="302514"/>
                </a:lnTo>
                <a:lnTo>
                  <a:pt x="2164292" y="313292"/>
                </a:lnTo>
                <a:lnTo>
                  <a:pt x="2123309" y="323624"/>
                </a:lnTo>
                <a:lnTo>
                  <a:pt x="2078824" y="333484"/>
                </a:lnTo>
                <a:lnTo>
                  <a:pt x="2030992" y="342844"/>
                </a:lnTo>
                <a:lnTo>
                  <a:pt x="1979968" y="351678"/>
                </a:lnTo>
                <a:lnTo>
                  <a:pt x="1925905" y="359960"/>
                </a:lnTo>
                <a:lnTo>
                  <a:pt x="1868960" y="367661"/>
                </a:lnTo>
                <a:lnTo>
                  <a:pt x="1809287" y="374757"/>
                </a:lnTo>
                <a:lnTo>
                  <a:pt x="1747040" y="381219"/>
                </a:lnTo>
                <a:lnTo>
                  <a:pt x="1682375" y="387021"/>
                </a:lnTo>
                <a:lnTo>
                  <a:pt x="1615446" y="392136"/>
                </a:lnTo>
                <a:lnTo>
                  <a:pt x="1546408" y="396538"/>
                </a:lnTo>
                <a:lnTo>
                  <a:pt x="1475417" y="400200"/>
                </a:lnTo>
                <a:lnTo>
                  <a:pt x="1402625" y="403094"/>
                </a:lnTo>
                <a:lnTo>
                  <a:pt x="1328190" y="405195"/>
                </a:lnTo>
                <a:lnTo>
                  <a:pt x="1252264" y="406475"/>
                </a:lnTo>
                <a:lnTo>
                  <a:pt x="1175003" y="406907"/>
                </a:lnTo>
                <a:lnTo>
                  <a:pt x="1097743" y="406475"/>
                </a:lnTo>
                <a:lnTo>
                  <a:pt x="1021817" y="405195"/>
                </a:lnTo>
                <a:lnTo>
                  <a:pt x="947382" y="403094"/>
                </a:lnTo>
                <a:lnTo>
                  <a:pt x="874590" y="400200"/>
                </a:lnTo>
                <a:lnTo>
                  <a:pt x="803599" y="396538"/>
                </a:lnTo>
                <a:lnTo>
                  <a:pt x="734561" y="392136"/>
                </a:lnTo>
                <a:lnTo>
                  <a:pt x="667632" y="387021"/>
                </a:lnTo>
                <a:lnTo>
                  <a:pt x="602967" y="381219"/>
                </a:lnTo>
                <a:lnTo>
                  <a:pt x="540720" y="374757"/>
                </a:lnTo>
                <a:lnTo>
                  <a:pt x="481047" y="367661"/>
                </a:lnTo>
                <a:lnTo>
                  <a:pt x="424102" y="359960"/>
                </a:lnTo>
                <a:lnTo>
                  <a:pt x="370039" y="351678"/>
                </a:lnTo>
                <a:lnTo>
                  <a:pt x="319015" y="342844"/>
                </a:lnTo>
                <a:lnTo>
                  <a:pt x="271183" y="333484"/>
                </a:lnTo>
                <a:lnTo>
                  <a:pt x="226698" y="323624"/>
                </a:lnTo>
                <a:lnTo>
                  <a:pt x="185715" y="313292"/>
                </a:lnTo>
                <a:lnTo>
                  <a:pt x="148388" y="302514"/>
                </a:lnTo>
                <a:lnTo>
                  <a:pt x="85326" y="279727"/>
                </a:lnTo>
                <a:lnTo>
                  <a:pt x="38748" y="255479"/>
                </a:lnTo>
                <a:lnTo>
                  <a:pt x="9893" y="229983"/>
                </a:lnTo>
                <a:lnTo>
                  <a:pt x="0" y="203453"/>
                </a:lnTo>
                <a:close/>
              </a:path>
            </a:pathLst>
          </a:custGeom>
          <a:ln w="28574">
            <a:solidFill>
              <a:srgbClr val="FF0000"/>
            </a:solidFill>
          </a:ln>
        </p:spPr>
        <p:txBody>
          <a:bodyPr wrap="square" lIns="0" tIns="0" rIns="0" bIns="0" rtlCol="0"/>
          <a:lstStyle/>
          <a:p>
            <a:endParaRPr/>
          </a:p>
        </p:txBody>
      </p:sp>
      <p:sp>
        <p:nvSpPr>
          <p:cNvPr id="19" name="object 19"/>
          <p:cNvSpPr txBox="1"/>
          <p:nvPr/>
        </p:nvSpPr>
        <p:spPr>
          <a:xfrm>
            <a:off x="4920996" y="358140"/>
            <a:ext cx="520065" cy="306705"/>
          </a:xfrm>
          <a:prstGeom prst="rect">
            <a:avLst/>
          </a:prstGeom>
          <a:solidFill>
            <a:srgbClr val="92D050">
              <a:alpha val="50195"/>
            </a:srgbClr>
          </a:solidFill>
          <a:ln w="12700">
            <a:solidFill>
              <a:srgbClr val="000000"/>
            </a:solidFill>
          </a:ln>
        </p:spPr>
        <p:txBody>
          <a:bodyPr vert="horz" wrap="square" lIns="0" tIns="24130" rIns="0" bIns="0" rtlCol="0">
            <a:spAutoFit/>
          </a:bodyPr>
          <a:lstStyle/>
          <a:p>
            <a:pPr marL="100330">
              <a:lnSpc>
                <a:spcPct val="100000"/>
              </a:lnSpc>
              <a:spcBef>
                <a:spcPts val="190"/>
              </a:spcBef>
            </a:pPr>
            <a:r>
              <a:rPr sz="1400" b="1" spc="-25" dirty="0">
                <a:latin typeface="Courier New"/>
                <a:cs typeface="Courier New"/>
              </a:rPr>
              <a:t>ESP</a:t>
            </a:r>
            <a:endParaRPr sz="1400">
              <a:latin typeface="Courier New"/>
              <a:cs typeface="Courier New"/>
            </a:endParaRPr>
          </a:p>
        </p:txBody>
      </p:sp>
      <p:sp>
        <p:nvSpPr>
          <p:cNvPr id="20" name="object 20"/>
          <p:cNvSpPr/>
          <p:nvPr/>
        </p:nvSpPr>
        <p:spPr>
          <a:xfrm>
            <a:off x="5440679" y="472440"/>
            <a:ext cx="1852295" cy="76200"/>
          </a:xfrm>
          <a:custGeom>
            <a:avLst/>
            <a:gdLst/>
            <a:ahLst/>
            <a:cxnLst/>
            <a:rect l="l" t="t" r="r" b="b"/>
            <a:pathLst>
              <a:path w="1852295" h="76200">
                <a:moveTo>
                  <a:pt x="1775587" y="0"/>
                </a:moveTo>
                <a:lnTo>
                  <a:pt x="1775587" y="76200"/>
                </a:lnTo>
                <a:lnTo>
                  <a:pt x="1839087" y="44450"/>
                </a:lnTo>
                <a:lnTo>
                  <a:pt x="1788287" y="44450"/>
                </a:lnTo>
                <a:lnTo>
                  <a:pt x="1788287" y="31750"/>
                </a:lnTo>
                <a:lnTo>
                  <a:pt x="1839087" y="31750"/>
                </a:lnTo>
                <a:lnTo>
                  <a:pt x="1775587" y="0"/>
                </a:lnTo>
                <a:close/>
              </a:path>
              <a:path w="1852295" h="76200">
                <a:moveTo>
                  <a:pt x="1775587" y="31750"/>
                </a:moveTo>
                <a:lnTo>
                  <a:pt x="0" y="31750"/>
                </a:lnTo>
                <a:lnTo>
                  <a:pt x="0" y="44450"/>
                </a:lnTo>
                <a:lnTo>
                  <a:pt x="1775587" y="44450"/>
                </a:lnTo>
                <a:lnTo>
                  <a:pt x="1775587" y="31750"/>
                </a:lnTo>
                <a:close/>
              </a:path>
              <a:path w="1852295" h="76200">
                <a:moveTo>
                  <a:pt x="1839087" y="31750"/>
                </a:moveTo>
                <a:lnTo>
                  <a:pt x="1788287" y="31750"/>
                </a:lnTo>
                <a:lnTo>
                  <a:pt x="1788287" y="44450"/>
                </a:lnTo>
                <a:lnTo>
                  <a:pt x="1839087" y="44450"/>
                </a:lnTo>
                <a:lnTo>
                  <a:pt x="1851787" y="38100"/>
                </a:lnTo>
                <a:lnTo>
                  <a:pt x="1839087" y="31750"/>
                </a:lnTo>
                <a:close/>
              </a:path>
            </a:pathLst>
          </a:custGeom>
          <a:solidFill>
            <a:srgbClr val="000000"/>
          </a:solidFill>
        </p:spPr>
        <p:txBody>
          <a:bodyPr wrap="square" lIns="0" tIns="0" rIns="0" bIns="0" rtlCol="0"/>
          <a:lstStyle/>
          <a:p>
            <a:endParaRPr/>
          </a:p>
        </p:txBody>
      </p:sp>
      <p:sp>
        <p:nvSpPr>
          <p:cNvPr id="21" name="object 21"/>
          <p:cNvSpPr txBox="1"/>
          <p:nvPr/>
        </p:nvSpPr>
        <p:spPr>
          <a:xfrm>
            <a:off x="5639815" y="3393440"/>
            <a:ext cx="982344"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0000"/>
                </a:solidFill>
                <a:latin typeface="Courier New"/>
                <a:cs typeface="Courier New"/>
              </a:rPr>
              <a:t>JMP</a:t>
            </a:r>
            <a:r>
              <a:rPr sz="1800" b="1" spc="-25" dirty="0">
                <a:solidFill>
                  <a:srgbClr val="FF0000"/>
                </a:solidFill>
                <a:latin typeface="Courier New"/>
                <a:cs typeface="Courier New"/>
              </a:rPr>
              <a:t> ESP</a:t>
            </a:r>
            <a:endParaRPr sz="1800">
              <a:latin typeface="Courier New"/>
              <a:cs typeface="Courier New"/>
            </a:endParaRPr>
          </a:p>
        </p:txBody>
      </p:sp>
      <p:sp>
        <p:nvSpPr>
          <p:cNvPr id="24" name="object 24"/>
          <p:cNvSpPr txBox="1"/>
          <p:nvPr/>
        </p:nvSpPr>
        <p:spPr>
          <a:xfrm>
            <a:off x="7710931" y="6441016"/>
            <a:ext cx="1527810" cy="284480"/>
          </a:xfrm>
          <a:prstGeom prst="rect">
            <a:avLst/>
          </a:prstGeom>
        </p:spPr>
        <p:txBody>
          <a:bodyPr vert="horz" wrap="square" lIns="0" tIns="0" rIns="0" bIns="0" rtlCol="0">
            <a:spAutoFit/>
          </a:bodyPr>
          <a:lstStyle/>
          <a:p>
            <a:pPr marL="12700">
              <a:lnSpc>
                <a:spcPts val="1960"/>
              </a:lnSpc>
            </a:pPr>
            <a:r>
              <a:rPr sz="1800" b="1" dirty="0">
                <a:solidFill>
                  <a:srgbClr val="C00000"/>
                </a:solidFill>
                <a:latin typeface="Courier New"/>
                <a:cs typeface="Courier New"/>
              </a:rPr>
              <a:t>Stack</a:t>
            </a:r>
            <a:r>
              <a:rPr sz="1800" b="1" spc="-55" dirty="0">
                <a:solidFill>
                  <a:srgbClr val="C00000"/>
                </a:solidFill>
                <a:latin typeface="Courier New"/>
                <a:cs typeface="Courier New"/>
              </a:rPr>
              <a:t> </a:t>
            </a:r>
            <a:r>
              <a:rPr sz="1800" b="1" spc="-20" dirty="0">
                <a:solidFill>
                  <a:srgbClr val="C00000"/>
                </a:solidFill>
                <a:latin typeface="Courier New"/>
                <a:cs typeface="Courier New"/>
              </a:rPr>
              <a:t>Start</a:t>
            </a:r>
            <a:endParaRPr sz="1800">
              <a:latin typeface="Courier New"/>
              <a:cs typeface="Courier New"/>
            </a:endParaRPr>
          </a:p>
        </p:txBody>
      </p:sp>
      <p:sp>
        <p:nvSpPr>
          <p:cNvPr id="25" name="object 25"/>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25" dirty="0"/>
              <a:t>29</a:t>
            </a:fld>
            <a:endParaRPr spc="-25" dirty="0"/>
          </a:p>
        </p:txBody>
      </p:sp>
      <p:sp>
        <p:nvSpPr>
          <p:cNvPr id="22" name="object 22"/>
          <p:cNvSpPr txBox="1"/>
          <p:nvPr/>
        </p:nvSpPr>
        <p:spPr>
          <a:xfrm>
            <a:off x="962659" y="536448"/>
            <a:ext cx="6277863" cy="1552348"/>
          </a:xfrm>
          <a:prstGeom prst="rect">
            <a:avLst/>
          </a:prstGeom>
        </p:spPr>
        <p:txBody>
          <a:bodyPr vert="horz" wrap="square" lIns="0" tIns="13335" rIns="0" bIns="0" rtlCol="0">
            <a:spAutoFit/>
          </a:bodyPr>
          <a:lstStyle/>
          <a:p>
            <a:pPr marL="153035">
              <a:lnSpc>
                <a:spcPct val="100000"/>
              </a:lnSpc>
              <a:spcBef>
                <a:spcPts val="105"/>
              </a:spcBef>
            </a:pPr>
            <a:r>
              <a:rPr sz="5000" dirty="0">
                <a:solidFill>
                  <a:srgbClr val="0D0D0D"/>
                </a:solidFill>
                <a:latin typeface="+mj-lt"/>
                <a:cs typeface="Trebuchet MS"/>
              </a:rPr>
              <a:t>STACK BUFFER OVERFLOW</a:t>
            </a:r>
            <a:endParaRPr lang="en-US" sz="5000" dirty="0">
              <a:latin typeface="+mj-lt"/>
              <a:cs typeface="Trebuchet MS"/>
            </a:endParaRPr>
          </a:p>
        </p:txBody>
      </p:sp>
      <p:sp>
        <p:nvSpPr>
          <p:cNvPr id="23" name="object 23"/>
          <p:cNvSpPr txBox="1"/>
          <p:nvPr/>
        </p:nvSpPr>
        <p:spPr>
          <a:xfrm>
            <a:off x="863343" y="2625102"/>
            <a:ext cx="4640202" cy="3077766"/>
          </a:xfrm>
          <a:prstGeom prst="rect">
            <a:avLst/>
          </a:prstGeom>
        </p:spPr>
        <p:txBody>
          <a:bodyPr vert="horz" wrap="square" lIns="0" tIns="12700" rIns="0" bIns="0" rtlCol="0">
            <a:spAutoFit/>
          </a:bodyPr>
          <a:lstStyle/>
          <a:p>
            <a:pPr marL="12700">
              <a:lnSpc>
                <a:spcPts val="2735"/>
              </a:lnSpc>
              <a:spcBef>
                <a:spcPts val="100"/>
              </a:spcBef>
            </a:pPr>
            <a:r>
              <a:rPr lang="en-US" sz="2400" dirty="0">
                <a:latin typeface="+mj-lt"/>
                <a:cs typeface="Arial MT"/>
              </a:rPr>
              <a:t>In </a:t>
            </a:r>
            <a:r>
              <a:rPr lang="en-US" sz="2400" dirty="0">
                <a:solidFill>
                  <a:srgbClr val="C00000"/>
                </a:solidFill>
                <a:latin typeface="+mj-lt"/>
                <a:cs typeface="Arial MT"/>
              </a:rPr>
              <a:t>stack buffer overflows</a:t>
            </a:r>
            <a:r>
              <a:rPr lang="en-US" sz="2400" dirty="0">
                <a:latin typeface="+mj-lt"/>
                <a:cs typeface="Arial MT"/>
              </a:rPr>
              <a:t>, an attacker </a:t>
            </a:r>
            <a:r>
              <a:rPr lang="en-US" sz="2400" dirty="0">
                <a:solidFill>
                  <a:srgbClr val="0000FF"/>
                </a:solidFill>
                <a:latin typeface="+mj-lt"/>
                <a:cs typeface="Arial MT"/>
              </a:rPr>
              <a:t>overwrite </a:t>
            </a:r>
            <a:r>
              <a:rPr lang="en-US" sz="2400" dirty="0">
                <a:latin typeface="+mj-lt"/>
                <a:cs typeface="Arial MT"/>
              </a:rPr>
              <a:t>return address on the stack and redirect the execution flow in </a:t>
            </a:r>
            <a:r>
              <a:rPr sz="2400" dirty="0">
                <a:latin typeface="+mj-lt"/>
                <a:cs typeface="Arial MT"/>
              </a:rPr>
              <a:t>order to execute malicious</a:t>
            </a:r>
          </a:p>
          <a:p>
            <a:pPr marL="12700">
              <a:lnSpc>
                <a:spcPts val="2735"/>
              </a:lnSpc>
            </a:pPr>
            <a:r>
              <a:rPr sz="2400" dirty="0">
                <a:latin typeface="+mj-lt"/>
                <a:cs typeface="Arial MT"/>
              </a:rPr>
              <a:t>shellcode.</a:t>
            </a:r>
          </a:p>
          <a:p>
            <a:pPr marL="391795" indent="-342900">
              <a:lnSpc>
                <a:spcPct val="100000"/>
              </a:lnSpc>
              <a:spcBef>
                <a:spcPts val="185"/>
              </a:spcBef>
              <a:buFont typeface="Arial" panose="020B0604020202020204" pitchFamily="34" charset="0"/>
              <a:buChar char="•"/>
            </a:pPr>
            <a:r>
              <a:rPr sz="2000" dirty="0">
                <a:latin typeface="+mj-lt"/>
                <a:cs typeface="Arial MT"/>
              </a:rPr>
              <a:t>Control </a:t>
            </a:r>
            <a:r>
              <a:rPr sz="2000" dirty="0">
                <a:solidFill>
                  <a:srgbClr val="0000FF"/>
                </a:solidFill>
                <a:latin typeface="+mj-lt"/>
                <a:cs typeface="Arial MT"/>
              </a:rPr>
              <a:t>EIP</a:t>
            </a:r>
            <a:endParaRPr lang="en-CA" sz="2000" dirty="0">
              <a:solidFill>
                <a:srgbClr val="0000FF"/>
              </a:solidFill>
              <a:latin typeface="+mj-lt"/>
              <a:cs typeface="Arial MT"/>
            </a:endParaRPr>
          </a:p>
          <a:p>
            <a:pPr marL="391795" indent="-342900">
              <a:lnSpc>
                <a:spcPct val="100000"/>
              </a:lnSpc>
              <a:spcBef>
                <a:spcPts val="185"/>
              </a:spcBef>
              <a:buFont typeface="Arial" panose="020B0604020202020204" pitchFamily="34" charset="0"/>
              <a:buChar char="•"/>
            </a:pPr>
            <a:r>
              <a:rPr sz="2000" dirty="0">
                <a:latin typeface="+mj-lt"/>
                <a:cs typeface="Arial MT"/>
              </a:rPr>
              <a:t>Locate </a:t>
            </a:r>
            <a:r>
              <a:rPr sz="2000" dirty="0">
                <a:solidFill>
                  <a:srgbClr val="0000FF"/>
                </a:solidFill>
                <a:latin typeface="+mj-lt"/>
                <a:cs typeface="Arial MT"/>
              </a:rPr>
              <a:t>space </a:t>
            </a:r>
            <a:r>
              <a:rPr sz="2000" dirty="0">
                <a:latin typeface="+mj-lt"/>
                <a:cs typeface="Arial MT"/>
              </a:rPr>
              <a:t>for shellcode</a:t>
            </a:r>
            <a:endParaRPr lang="en-CA" sz="2000" dirty="0">
              <a:latin typeface="+mj-lt"/>
              <a:cs typeface="Arial MT"/>
            </a:endParaRPr>
          </a:p>
          <a:p>
            <a:pPr marL="391795" indent="-342900">
              <a:lnSpc>
                <a:spcPct val="100000"/>
              </a:lnSpc>
              <a:spcBef>
                <a:spcPts val="185"/>
              </a:spcBef>
              <a:buFont typeface="Arial" panose="020B0604020202020204" pitchFamily="34" charset="0"/>
              <a:buChar char="•"/>
            </a:pPr>
            <a:r>
              <a:rPr sz="2000" dirty="0">
                <a:solidFill>
                  <a:srgbClr val="0000FF"/>
                </a:solidFill>
                <a:latin typeface="+mj-lt"/>
                <a:cs typeface="Arial MT"/>
              </a:rPr>
              <a:t>Redirect </a:t>
            </a:r>
            <a:r>
              <a:rPr sz="2000" dirty="0">
                <a:latin typeface="+mj-lt"/>
                <a:cs typeface="Arial MT"/>
              </a:rPr>
              <a:t>the execution flow</a:t>
            </a:r>
            <a:endParaRPr lang="en-CA" sz="2000" dirty="0">
              <a:latin typeface="+mj-lt"/>
              <a:cs typeface="Arial MT"/>
            </a:endParaRPr>
          </a:p>
          <a:p>
            <a:pPr marL="391795" indent="-342900">
              <a:lnSpc>
                <a:spcPct val="100000"/>
              </a:lnSpc>
              <a:spcBef>
                <a:spcPts val="185"/>
              </a:spcBef>
              <a:buFont typeface="Arial" panose="020B0604020202020204" pitchFamily="34" charset="0"/>
              <a:buChar char="•"/>
            </a:pPr>
            <a:r>
              <a:rPr sz="2000" dirty="0">
                <a:latin typeface="+mj-lt"/>
                <a:cs typeface="Arial MT"/>
              </a:rPr>
              <a:t>Get reverse </a:t>
            </a:r>
            <a:r>
              <a:rPr sz="2000" dirty="0">
                <a:solidFill>
                  <a:srgbClr val="0000FF"/>
                </a:solidFill>
                <a:latin typeface="+mj-lt"/>
                <a:cs typeface="Arial MT"/>
              </a:rPr>
              <a:t>shell</a:t>
            </a:r>
            <a:endParaRPr sz="2000" dirty="0">
              <a:latin typeface="+mj-lt"/>
              <a:cs typeface="Arial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408719"/>
          </a:xfrm>
          <a:prstGeom prst="rect">
            <a:avLst/>
          </a:prstGeom>
        </p:spPr>
        <p:txBody>
          <a:bodyPr vert="horz" wrap="square" lIns="0" tIns="160655" rIns="0" bIns="0" rtlCol="0">
            <a:spAutoFit/>
          </a:bodyPr>
          <a:lstStyle/>
          <a:p>
            <a:pPr marL="12700" marR="5080">
              <a:lnSpc>
                <a:spcPts val="4800"/>
              </a:lnSpc>
              <a:spcBef>
                <a:spcPts val="1265"/>
              </a:spcBef>
            </a:pPr>
            <a:r>
              <a:rPr dirty="0"/>
              <a:t>ATTACKS ON SOFTWARE – IMPROPER EXCEPTION HANDLING</a:t>
            </a:r>
          </a:p>
        </p:txBody>
      </p:sp>
      <p:sp>
        <p:nvSpPr>
          <p:cNvPr id="4" name="object 4"/>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30</a:t>
            </a:fld>
            <a:endParaRPr dirty="0"/>
          </a:p>
        </p:txBody>
      </p:sp>
      <p:sp>
        <p:nvSpPr>
          <p:cNvPr id="3" name="object 3"/>
          <p:cNvSpPr txBox="1"/>
          <p:nvPr/>
        </p:nvSpPr>
        <p:spPr>
          <a:xfrm>
            <a:off x="1148892" y="2270886"/>
            <a:ext cx="9453880" cy="3276600"/>
          </a:xfrm>
          <a:prstGeom prst="rect">
            <a:avLst/>
          </a:prstGeom>
        </p:spPr>
        <p:txBody>
          <a:bodyPr vert="horz" wrap="square" lIns="0" tIns="49530" rIns="0" bIns="0" rtlCol="0">
            <a:spAutoFit/>
          </a:bodyPr>
          <a:lstStyle/>
          <a:p>
            <a:pPr marL="12700" marR="212725">
              <a:lnSpc>
                <a:spcPts val="2380"/>
              </a:lnSpc>
              <a:spcBef>
                <a:spcPts val="390"/>
              </a:spcBef>
            </a:pPr>
            <a:r>
              <a:rPr sz="2200" dirty="0">
                <a:latin typeface="+mj-lt"/>
                <a:cs typeface="Arial MT"/>
              </a:rPr>
              <a:t>Many times, programs does not properly check for </a:t>
            </a:r>
            <a:r>
              <a:rPr sz="2200" dirty="0">
                <a:solidFill>
                  <a:srgbClr val="C00000"/>
                </a:solidFill>
                <a:latin typeface="+mj-lt"/>
                <a:cs typeface="Arial MT"/>
              </a:rPr>
              <a:t>exceptions </a:t>
            </a:r>
            <a:r>
              <a:rPr sz="2200" dirty="0">
                <a:latin typeface="+mj-lt"/>
                <a:cs typeface="Arial MT"/>
              </a:rPr>
              <a:t>that may occur when the program is running:</a:t>
            </a:r>
          </a:p>
          <a:p>
            <a:pPr marL="391795" indent="-342900">
              <a:lnSpc>
                <a:spcPct val="100000"/>
              </a:lnSpc>
              <a:spcBef>
                <a:spcPts val="135"/>
              </a:spcBef>
              <a:buFont typeface="Arial" panose="020B0604020202020204" pitchFamily="34" charset="0"/>
              <a:buChar char="•"/>
            </a:pPr>
            <a:r>
              <a:rPr sz="2000" dirty="0">
                <a:solidFill>
                  <a:srgbClr val="0000FF"/>
                </a:solidFill>
                <a:latin typeface="+mj-lt"/>
                <a:cs typeface="Arial MT"/>
              </a:rPr>
              <a:t>Improper input handling </a:t>
            </a:r>
            <a:r>
              <a:rPr sz="2000" dirty="0">
                <a:latin typeface="+mj-lt"/>
                <a:cs typeface="Arial MT"/>
              </a:rPr>
              <a:t>– no user input validation</a:t>
            </a:r>
            <a:endParaRPr lang="en-CA" sz="2000" dirty="0">
              <a:latin typeface="+mj-lt"/>
              <a:cs typeface="Arial MT"/>
            </a:endParaRPr>
          </a:p>
          <a:p>
            <a:pPr marL="391795" indent="-342900">
              <a:lnSpc>
                <a:spcPct val="100000"/>
              </a:lnSpc>
              <a:spcBef>
                <a:spcPts val="135"/>
              </a:spcBef>
              <a:buFont typeface="Arial" panose="020B0604020202020204" pitchFamily="34" charset="0"/>
              <a:buChar char="•"/>
            </a:pPr>
            <a:r>
              <a:rPr sz="2000" dirty="0">
                <a:solidFill>
                  <a:srgbClr val="0000FF"/>
                </a:solidFill>
                <a:latin typeface="+mj-lt"/>
                <a:cs typeface="Arial MT"/>
              </a:rPr>
              <a:t>Error handling </a:t>
            </a:r>
            <a:r>
              <a:rPr sz="2000" dirty="0">
                <a:latin typeface="+mj-lt"/>
                <a:cs typeface="Arial MT"/>
              </a:rPr>
              <a:t>– does not properly trap error conditions</a:t>
            </a:r>
            <a:endParaRPr lang="en-CA" sz="2000" dirty="0">
              <a:latin typeface="+mj-lt"/>
              <a:cs typeface="Arial MT"/>
            </a:endParaRPr>
          </a:p>
          <a:p>
            <a:pPr marL="391795" indent="-342900">
              <a:lnSpc>
                <a:spcPct val="100000"/>
              </a:lnSpc>
              <a:spcBef>
                <a:spcPts val="135"/>
              </a:spcBef>
              <a:buFont typeface="Arial" panose="020B0604020202020204" pitchFamily="34" charset="0"/>
              <a:buChar char="•"/>
            </a:pPr>
            <a:r>
              <a:rPr sz="2000" dirty="0">
                <a:solidFill>
                  <a:srgbClr val="0000FF"/>
                </a:solidFill>
                <a:latin typeface="+mj-lt"/>
                <a:cs typeface="Arial MT"/>
              </a:rPr>
              <a:t>NULL pointer/object dereferencing</a:t>
            </a:r>
            <a:endParaRPr sz="2000" dirty="0">
              <a:latin typeface="+mj-lt"/>
              <a:cs typeface="Arial MT"/>
            </a:endParaRPr>
          </a:p>
          <a:p>
            <a:pPr marL="12700" marR="5080">
              <a:lnSpc>
                <a:spcPts val="2380"/>
              </a:lnSpc>
              <a:spcBef>
                <a:spcPts val="1620"/>
              </a:spcBef>
            </a:pPr>
            <a:r>
              <a:rPr sz="2200" dirty="0">
                <a:latin typeface="+mj-lt"/>
                <a:cs typeface="Arial MT"/>
              </a:rPr>
              <a:t>Malicious actor might use the resulting exception to </a:t>
            </a:r>
            <a:r>
              <a:rPr sz="2200" dirty="0">
                <a:solidFill>
                  <a:srgbClr val="C00000"/>
                </a:solidFill>
                <a:latin typeface="+mj-lt"/>
                <a:cs typeface="Arial MT"/>
              </a:rPr>
              <a:t>bypass security </a:t>
            </a:r>
            <a:r>
              <a:rPr sz="2200" dirty="0">
                <a:latin typeface="+mj-lt"/>
                <a:cs typeface="Arial MT"/>
              </a:rPr>
              <a:t>logic or cause the application to reveal valuable </a:t>
            </a:r>
            <a:r>
              <a:rPr sz="2200" dirty="0">
                <a:solidFill>
                  <a:srgbClr val="0000FF"/>
                </a:solidFill>
                <a:latin typeface="+mj-lt"/>
                <a:cs typeface="Arial MT"/>
              </a:rPr>
              <a:t>debugging </a:t>
            </a:r>
            <a:r>
              <a:rPr sz="2200" dirty="0">
                <a:latin typeface="+mj-lt"/>
                <a:cs typeface="Arial MT"/>
              </a:rPr>
              <a:t>information.</a:t>
            </a:r>
          </a:p>
          <a:p>
            <a:pPr marL="12700">
              <a:lnSpc>
                <a:spcPts val="2510"/>
              </a:lnSpc>
              <a:spcBef>
                <a:spcPts val="1085"/>
              </a:spcBef>
            </a:pPr>
            <a:r>
              <a:rPr sz="2200" dirty="0">
                <a:latin typeface="+mj-lt"/>
                <a:cs typeface="Arial MT"/>
              </a:rPr>
              <a:t>Can result in a </a:t>
            </a:r>
            <a:r>
              <a:rPr sz="2200" dirty="0">
                <a:solidFill>
                  <a:srgbClr val="C00000"/>
                </a:solidFill>
                <a:latin typeface="+mj-lt"/>
                <a:cs typeface="Arial MT"/>
              </a:rPr>
              <a:t>race condition </a:t>
            </a:r>
            <a:r>
              <a:rPr sz="2200" dirty="0">
                <a:latin typeface="+mj-lt"/>
                <a:cs typeface="Arial MT"/>
              </a:rPr>
              <a:t>- two concurrent threads of execution (or operations)</a:t>
            </a:r>
          </a:p>
          <a:p>
            <a:pPr marL="12700">
              <a:lnSpc>
                <a:spcPts val="2510"/>
              </a:lnSpc>
            </a:pPr>
            <a:r>
              <a:rPr sz="2200" dirty="0">
                <a:latin typeface="+mj-lt"/>
                <a:cs typeface="Arial MT"/>
              </a:rPr>
              <a:t>access a shared resource simultaneously.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4479" y="212022"/>
            <a:ext cx="9348470" cy="1860125"/>
          </a:xfrm>
          <a:prstGeom prst="rect">
            <a:avLst/>
          </a:prstGeom>
        </p:spPr>
        <p:txBody>
          <a:bodyPr vert="horz" wrap="square" lIns="0" tIns="318135" rIns="0" bIns="0" rtlCol="0">
            <a:spAutoFit/>
          </a:bodyPr>
          <a:lstStyle/>
          <a:p>
            <a:pPr marL="12700">
              <a:lnSpc>
                <a:spcPct val="100000"/>
              </a:lnSpc>
              <a:spcBef>
                <a:spcPts val="105"/>
              </a:spcBef>
            </a:pPr>
            <a:r>
              <a:rPr dirty="0"/>
              <a:t>ATTACKS ON EXTERNAL SOFTWARE COMPONENTS</a:t>
            </a:r>
          </a:p>
        </p:txBody>
      </p:sp>
      <p:sp>
        <p:nvSpPr>
          <p:cNvPr id="3" name="object 3"/>
          <p:cNvSpPr txBox="1"/>
          <p:nvPr/>
        </p:nvSpPr>
        <p:spPr>
          <a:xfrm>
            <a:off x="838200" y="2072147"/>
            <a:ext cx="7711440" cy="4619854"/>
          </a:xfrm>
          <a:prstGeom prst="rect">
            <a:avLst/>
          </a:prstGeom>
        </p:spPr>
        <p:txBody>
          <a:bodyPr vert="horz" wrap="square" lIns="0" tIns="53975" rIns="0" bIns="0" rtlCol="0">
            <a:spAutoFit/>
          </a:bodyPr>
          <a:lstStyle/>
          <a:p>
            <a:pPr marL="12700" marR="325120">
              <a:lnSpc>
                <a:spcPts val="2590"/>
              </a:lnSpc>
              <a:spcBef>
                <a:spcPts val="425"/>
              </a:spcBef>
            </a:pPr>
            <a:r>
              <a:rPr sz="2400" dirty="0">
                <a:solidFill>
                  <a:srgbClr val="C00000"/>
                </a:solidFill>
                <a:latin typeface="+mj-lt"/>
                <a:cs typeface="Arial MT"/>
              </a:rPr>
              <a:t>Application program interface </a:t>
            </a:r>
            <a:r>
              <a:rPr sz="2400" dirty="0">
                <a:latin typeface="+mj-lt"/>
                <a:cs typeface="Arial MT"/>
              </a:rPr>
              <a:t>(API) are attractive targets for malicious attackers looking for vulnerabilities.</a:t>
            </a:r>
            <a:endParaRPr lang="en-CA" sz="2400" dirty="0">
              <a:latin typeface="+mj-lt"/>
              <a:cs typeface="Arial MT"/>
            </a:endParaRPr>
          </a:p>
          <a:p>
            <a:pPr marL="12700" marR="325120">
              <a:lnSpc>
                <a:spcPts val="2590"/>
              </a:lnSpc>
              <a:spcBef>
                <a:spcPts val="425"/>
              </a:spcBef>
            </a:pPr>
            <a:endParaRPr sz="2400" dirty="0">
              <a:latin typeface="+mj-lt"/>
              <a:cs typeface="Arial MT"/>
            </a:endParaRPr>
          </a:p>
          <a:p>
            <a:pPr marL="12700" marR="247015">
              <a:lnSpc>
                <a:spcPts val="2590"/>
              </a:lnSpc>
            </a:pPr>
            <a:r>
              <a:rPr sz="2400" dirty="0">
                <a:solidFill>
                  <a:srgbClr val="C00000"/>
                </a:solidFill>
                <a:latin typeface="+mj-lt"/>
                <a:cs typeface="Arial MT"/>
              </a:rPr>
              <a:t>Device driver </a:t>
            </a:r>
            <a:r>
              <a:rPr sz="2400" dirty="0">
                <a:latin typeface="+mj-lt"/>
                <a:cs typeface="Arial MT"/>
              </a:rPr>
              <a:t>– Privileged code that controls and operates an external hardware device.</a:t>
            </a:r>
          </a:p>
          <a:p>
            <a:pPr marL="391795" indent="-342900">
              <a:lnSpc>
                <a:spcPct val="100000"/>
              </a:lnSpc>
              <a:spcBef>
                <a:spcPts val="150"/>
              </a:spcBef>
              <a:buFont typeface="Arial" panose="020B0604020202020204" pitchFamily="34" charset="0"/>
              <a:buChar char="•"/>
            </a:pPr>
            <a:r>
              <a:rPr sz="2000" dirty="0">
                <a:latin typeface="+mj-lt"/>
                <a:cs typeface="Arial MT"/>
              </a:rPr>
              <a:t>Threat actors may attempt to </a:t>
            </a:r>
            <a:r>
              <a:rPr sz="2000" dirty="0">
                <a:solidFill>
                  <a:srgbClr val="0000FF"/>
                </a:solidFill>
                <a:latin typeface="+mj-lt"/>
                <a:cs typeface="Arial MT"/>
              </a:rPr>
              <a:t>alter a device driver </a:t>
            </a:r>
            <a:r>
              <a:rPr sz="2000" dirty="0">
                <a:latin typeface="+mj-lt"/>
                <a:cs typeface="Arial MT"/>
              </a:rPr>
              <a:t>for use in an attack.</a:t>
            </a:r>
            <a:endParaRPr lang="en-CA" sz="2000" dirty="0">
              <a:latin typeface="+mj-lt"/>
              <a:cs typeface="Arial MT"/>
            </a:endParaRPr>
          </a:p>
          <a:p>
            <a:pPr marL="391795" indent="-342900">
              <a:lnSpc>
                <a:spcPct val="100000"/>
              </a:lnSpc>
              <a:spcBef>
                <a:spcPts val="150"/>
              </a:spcBef>
              <a:buFont typeface="Arial" panose="020B0604020202020204" pitchFamily="34" charset="0"/>
              <a:buChar char="•"/>
            </a:pPr>
            <a:r>
              <a:rPr sz="2000" dirty="0">
                <a:latin typeface="+mj-lt"/>
                <a:cs typeface="Arial MT"/>
              </a:rPr>
              <a:t>An attacker may use </a:t>
            </a:r>
            <a:r>
              <a:rPr sz="2000" dirty="0">
                <a:solidFill>
                  <a:srgbClr val="0000FF"/>
                </a:solidFill>
                <a:latin typeface="+mj-lt"/>
                <a:cs typeface="Arial MT"/>
              </a:rPr>
              <a:t>shimming</a:t>
            </a:r>
            <a:r>
              <a:rPr sz="2000" dirty="0">
                <a:latin typeface="+mj-lt"/>
                <a:cs typeface="Arial MT"/>
              </a:rPr>
              <a:t>, or transparently adding a small coding</a:t>
            </a:r>
            <a:r>
              <a:rPr lang="en-CA" sz="2000" dirty="0">
                <a:latin typeface="+mj-lt"/>
                <a:cs typeface="Arial MT"/>
              </a:rPr>
              <a:t> </a:t>
            </a:r>
            <a:r>
              <a:rPr sz="2000" dirty="0">
                <a:latin typeface="+mj-lt"/>
                <a:cs typeface="Arial MT"/>
              </a:rPr>
              <a:t>library that intercepts calls made by the device and changing the parameters. A </a:t>
            </a:r>
            <a:r>
              <a:rPr sz="2000" dirty="0">
                <a:solidFill>
                  <a:srgbClr val="0000FF"/>
                </a:solidFill>
                <a:latin typeface="+mj-lt"/>
                <a:cs typeface="Arial MT"/>
              </a:rPr>
              <a:t>shim </a:t>
            </a:r>
            <a:r>
              <a:rPr sz="2000" dirty="0">
                <a:latin typeface="+mj-lt"/>
                <a:cs typeface="Arial MT"/>
              </a:rPr>
              <a:t>is typically something written specifically to maintain backwards compatibility.</a:t>
            </a:r>
            <a:endParaRPr lang="en-CA" sz="2000" dirty="0">
              <a:latin typeface="+mj-lt"/>
              <a:cs typeface="Arial MT"/>
            </a:endParaRPr>
          </a:p>
          <a:p>
            <a:pPr marL="391795" indent="-342900">
              <a:lnSpc>
                <a:spcPct val="100000"/>
              </a:lnSpc>
              <a:spcBef>
                <a:spcPts val="150"/>
              </a:spcBef>
              <a:buFont typeface="Arial" panose="020B0604020202020204" pitchFamily="34" charset="0"/>
              <a:buChar char="•"/>
            </a:pPr>
            <a:r>
              <a:rPr lang="en-US" sz="2000" dirty="0">
                <a:latin typeface="+mj-lt"/>
              </a:rPr>
              <a:t>When the system sends a request to the device driver, the shim intercepts the call, changes the parameters, and then passes it to the driver. This could lead to the attacker gaining control over the device or causing it to perform unintended actions.</a:t>
            </a:r>
            <a:endParaRPr sz="2000" dirty="0">
              <a:latin typeface="+mj-lt"/>
            </a:endParaRPr>
          </a:p>
        </p:txBody>
      </p:sp>
      <p:pic>
        <p:nvPicPr>
          <p:cNvPr id="4" name="object 4"/>
          <p:cNvPicPr/>
          <p:nvPr/>
        </p:nvPicPr>
        <p:blipFill>
          <a:blip r:embed="rId2" cstate="print"/>
          <a:stretch>
            <a:fillRect/>
          </a:stretch>
        </p:blipFill>
        <p:spPr>
          <a:xfrm>
            <a:off x="8552688" y="4133088"/>
            <a:ext cx="3294888" cy="2011680"/>
          </a:xfrm>
          <a:prstGeom prst="rect">
            <a:avLst/>
          </a:prstGeom>
        </p:spPr>
      </p:pic>
      <p:pic>
        <p:nvPicPr>
          <p:cNvPr id="5" name="object 5"/>
          <p:cNvPicPr/>
          <p:nvPr/>
        </p:nvPicPr>
        <p:blipFill>
          <a:blip r:embed="rId3" cstate="print"/>
          <a:stretch>
            <a:fillRect/>
          </a:stretch>
        </p:blipFill>
        <p:spPr>
          <a:xfrm>
            <a:off x="8549640" y="1793748"/>
            <a:ext cx="3297936" cy="2013203"/>
          </a:xfrm>
          <a:prstGeom prst="rect">
            <a:avLst/>
          </a:prstGeom>
        </p:spPr>
      </p:pic>
      <p:sp>
        <p:nvSpPr>
          <p:cNvPr id="6" name="object 6"/>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7" name="object 7"/>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31</a:t>
            </a:fld>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KNOWLEDGE CHECK ACTIVITY</a:t>
            </a:r>
          </a:p>
        </p:txBody>
      </p:sp>
      <p:sp>
        <p:nvSpPr>
          <p:cNvPr id="4" name="object 4"/>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32</a:t>
            </a:fld>
            <a:endParaRPr dirty="0"/>
          </a:p>
        </p:txBody>
      </p:sp>
      <p:sp>
        <p:nvSpPr>
          <p:cNvPr id="3" name="object 3"/>
          <p:cNvSpPr txBox="1"/>
          <p:nvPr/>
        </p:nvSpPr>
        <p:spPr>
          <a:xfrm>
            <a:off x="1148892" y="2122449"/>
            <a:ext cx="7282180" cy="3248325"/>
          </a:xfrm>
          <a:prstGeom prst="rect">
            <a:avLst/>
          </a:prstGeom>
        </p:spPr>
        <p:txBody>
          <a:bodyPr vert="horz" wrap="square" lIns="0" tIns="158750" rIns="0" bIns="0" rtlCol="0">
            <a:spAutoFit/>
          </a:bodyPr>
          <a:lstStyle/>
          <a:p>
            <a:pPr marL="12700">
              <a:lnSpc>
                <a:spcPct val="100000"/>
              </a:lnSpc>
              <a:spcBef>
                <a:spcPts val="1250"/>
              </a:spcBef>
            </a:pPr>
            <a:r>
              <a:rPr sz="2200" dirty="0">
                <a:latin typeface="+mj-lt"/>
                <a:cs typeface="Arial MT"/>
              </a:rPr>
              <a:t>Which type of application attack might use the following syntax</a:t>
            </a:r>
            <a:r>
              <a:rPr sz="2200" dirty="0">
                <a:latin typeface="+mj-lt"/>
                <a:cs typeface="Calibri"/>
              </a:rPr>
              <a:t>?</a:t>
            </a:r>
          </a:p>
          <a:p>
            <a:pPr marL="835025">
              <a:lnSpc>
                <a:spcPct val="100000"/>
              </a:lnSpc>
              <a:spcBef>
                <a:spcPts val="1155"/>
              </a:spcBef>
            </a:pPr>
            <a:r>
              <a:rPr sz="2200" dirty="0">
                <a:latin typeface="+mj-lt"/>
                <a:cs typeface="Arial MT"/>
              </a:rPr>
              <a:t>‘whatever’ AND email IS NULL;</a:t>
            </a:r>
          </a:p>
          <a:p>
            <a:pPr marL="305435" indent="-292735">
              <a:lnSpc>
                <a:spcPct val="100000"/>
              </a:lnSpc>
              <a:spcBef>
                <a:spcPts val="1125"/>
              </a:spcBef>
              <a:buAutoNum type="alphaLcPeriod"/>
              <a:tabLst>
                <a:tab pos="305435" algn="l"/>
              </a:tabLst>
            </a:pPr>
            <a:r>
              <a:rPr sz="2200" dirty="0">
                <a:latin typeface="+mj-lt"/>
                <a:cs typeface="Arial MT"/>
              </a:rPr>
              <a:t>Cross-site scripting</a:t>
            </a:r>
          </a:p>
          <a:p>
            <a:pPr marL="299720" indent="-287020">
              <a:lnSpc>
                <a:spcPct val="100000"/>
              </a:lnSpc>
              <a:spcBef>
                <a:spcPts val="1145"/>
              </a:spcBef>
              <a:buAutoNum type="alphaLcPeriod"/>
              <a:tabLst>
                <a:tab pos="299720" algn="l"/>
              </a:tabLst>
            </a:pPr>
            <a:r>
              <a:rPr sz="2200" dirty="0">
                <a:latin typeface="+mj-lt"/>
                <a:cs typeface="Arial MT"/>
              </a:rPr>
              <a:t>Client-side request forgery</a:t>
            </a:r>
          </a:p>
          <a:p>
            <a:pPr marL="257810" indent="-245110">
              <a:lnSpc>
                <a:spcPct val="100000"/>
              </a:lnSpc>
              <a:spcBef>
                <a:spcPts val="1140"/>
              </a:spcBef>
              <a:buAutoNum type="alphaLcPeriod"/>
              <a:tabLst>
                <a:tab pos="257810" algn="l"/>
              </a:tabLst>
            </a:pPr>
            <a:r>
              <a:rPr sz="2200" dirty="0">
                <a:latin typeface="+mj-lt"/>
                <a:cs typeface="Arial MT"/>
              </a:rPr>
              <a:t>SQL injection</a:t>
            </a:r>
          </a:p>
          <a:p>
            <a:pPr marL="305435" indent="-292735">
              <a:lnSpc>
                <a:spcPct val="100000"/>
              </a:lnSpc>
              <a:spcBef>
                <a:spcPts val="1125"/>
              </a:spcBef>
              <a:buAutoNum type="alphaLcPeriod"/>
              <a:tabLst>
                <a:tab pos="305435" algn="l"/>
              </a:tabLst>
            </a:pPr>
            <a:r>
              <a:rPr sz="2200" dirty="0">
                <a:latin typeface="+mj-lt"/>
                <a:cs typeface="Arial MT"/>
              </a:rPr>
              <a:t>Buffer overflow</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7762875" cy="1397635"/>
          </a:xfrm>
          <a:prstGeom prst="rect">
            <a:avLst/>
          </a:prstGeom>
        </p:spPr>
        <p:txBody>
          <a:bodyPr vert="horz" wrap="square" lIns="0" tIns="160655" rIns="0" bIns="0" rtlCol="0">
            <a:spAutoFit/>
          </a:bodyPr>
          <a:lstStyle/>
          <a:p>
            <a:pPr marL="12700" marR="5080">
              <a:lnSpc>
                <a:spcPts val="4800"/>
              </a:lnSpc>
              <a:spcBef>
                <a:spcPts val="1265"/>
              </a:spcBef>
            </a:pPr>
            <a:r>
              <a:rPr dirty="0"/>
              <a:t>ADVERSARIAL ARTIFICIAL INTELLIGENCE ATTACKS</a:t>
            </a:r>
          </a:p>
        </p:txBody>
      </p:sp>
      <p:sp>
        <p:nvSpPr>
          <p:cNvPr id="3" name="object 3"/>
          <p:cNvSpPr txBox="1"/>
          <p:nvPr/>
        </p:nvSpPr>
        <p:spPr>
          <a:xfrm>
            <a:off x="776731" y="2165096"/>
            <a:ext cx="10054590" cy="2162772"/>
          </a:xfrm>
          <a:prstGeom prst="rect">
            <a:avLst/>
          </a:prstGeom>
        </p:spPr>
        <p:txBody>
          <a:bodyPr vert="horz" wrap="square" lIns="0" tIns="53975" rIns="0" bIns="0" rtlCol="0">
            <a:spAutoFit/>
          </a:bodyPr>
          <a:lstStyle/>
          <a:p>
            <a:pPr marL="355600" marR="5080" indent="-342900">
              <a:lnSpc>
                <a:spcPts val="2590"/>
              </a:lnSpc>
              <a:spcBef>
                <a:spcPts val="425"/>
              </a:spcBef>
              <a:buClr>
                <a:srgbClr val="004978"/>
              </a:buClr>
              <a:buChar char="•"/>
              <a:tabLst>
                <a:tab pos="355600" algn="l"/>
              </a:tabLst>
            </a:pPr>
            <a:r>
              <a:rPr sz="2400" dirty="0">
                <a:latin typeface="+mj-lt"/>
                <a:cs typeface="Arial MT"/>
              </a:rPr>
              <a:t>Cybersecurity is using </a:t>
            </a:r>
            <a:r>
              <a:rPr sz="2400" dirty="0">
                <a:solidFill>
                  <a:srgbClr val="C00000"/>
                </a:solidFill>
                <a:latin typeface="+mj-lt"/>
                <a:cs typeface="Arial MT"/>
              </a:rPr>
              <a:t>artificial intelligence </a:t>
            </a:r>
            <a:r>
              <a:rPr sz="2400" dirty="0">
                <a:latin typeface="+mj-lt"/>
                <a:cs typeface="Arial MT"/>
              </a:rPr>
              <a:t>to enhance the detection of malicious behavior and advanced threats</a:t>
            </a:r>
          </a:p>
          <a:p>
            <a:pPr marL="697230" lvl="1" indent="-227329">
              <a:lnSpc>
                <a:spcPct val="100000"/>
              </a:lnSpc>
              <a:spcBef>
                <a:spcPts val="375"/>
              </a:spcBef>
              <a:buClr>
                <a:srgbClr val="FF6200"/>
              </a:buClr>
              <a:buChar char="•"/>
              <a:tabLst>
                <a:tab pos="697230" algn="l"/>
              </a:tabLst>
            </a:pPr>
            <a:r>
              <a:rPr sz="2400" dirty="0">
                <a:latin typeface="+mj-lt"/>
                <a:cs typeface="Arial MT"/>
              </a:rPr>
              <a:t>Significant </a:t>
            </a:r>
            <a:r>
              <a:rPr sz="2400" dirty="0">
                <a:solidFill>
                  <a:srgbClr val="0000FF"/>
                </a:solidFill>
                <a:latin typeface="+mj-lt"/>
                <a:cs typeface="Arial MT"/>
              </a:rPr>
              <a:t>vulnerabilities </a:t>
            </a:r>
            <a:r>
              <a:rPr sz="2400" dirty="0">
                <a:latin typeface="+mj-lt"/>
                <a:cs typeface="Arial MT"/>
              </a:rPr>
              <a:t>and risks with using these new tools</a:t>
            </a:r>
          </a:p>
          <a:p>
            <a:pPr lvl="1">
              <a:lnSpc>
                <a:spcPct val="100000"/>
              </a:lnSpc>
              <a:spcBef>
                <a:spcPts val="2150"/>
              </a:spcBef>
              <a:buClr>
                <a:srgbClr val="FF6200"/>
              </a:buClr>
              <a:buFont typeface="Arial MT"/>
              <a:buChar char="•"/>
            </a:pPr>
            <a:endParaRPr sz="2400" dirty="0">
              <a:latin typeface="+mj-lt"/>
              <a:cs typeface="Arial MT"/>
            </a:endParaRPr>
          </a:p>
          <a:p>
            <a:pPr marL="354965" indent="-342265">
              <a:lnSpc>
                <a:spcPct val="100000"/>
              </a:lnSpc>
              <a:buClr>
                <a:srgbClr val="004978"/>
              </a:buClr>
              <a:buChar char="•"/>
              <a:tabLst>
                <a:tab pos="354965" algn="l"/>
              </a:tabLst>
            </a:pPr>
            <a:r>
              <a:rPr sz="2400" dirty="0">
                <a:solidFill>
                  <a:srgbClr val="C00000"/>
                </a:solidFill>
                <a:latin typeface="+mj-lt"/>
                <a:cs typeface="Arial MT"/>
              </a:rPr>
              <a:t>Examples </a:t>
            </a:r>
            <a:r>
              <a:rPr sz="2400" dirty="0">
                <a:latin typeface="+mj-lt"/>
                <a:cs typeface="Arial MT"/>
              </a:rPr>
              <a:t>of the use of AI/ML in cybersecurity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183828" cy="1860125"/>
          </a:xfrm>
          <a:prstGeom prst="rect">
            <a:avLst/>
          </a:prstGeom>
        </p:spPr>
        <p:txBody>
          <a:bodyPr vert="horz" wrap="square" lIns="0" tIns="318135" rIns="0" bIns="0" rtlCol="0">
            <a:spAutoFit/>
          </a:bodyPr>
          <a:lstStyle/>
          <a:p>
            <a:pPr marL="12700">
              <a:lnSpc>
                <a:spcPct val="100000"/>
              </a:lnSpc>
              <a:spcBef>
                <a:spcPts val="105"/>
              </a:spcBef>
            </a:pPr>
            <a:r>
              <a:rPr dirty="0"/>
              <a:t>RISKS IN USING AI AND ML IN CYBERSECURITY</a:t>
            </a:r>
          </a:p>
        </p:txBody>
      </p:sp>
      <p:sp>
        <p:nvSpPr>
          <p:cNvPr id="3" name="object 3"/>
          <p:cNvSpPr txBox="1"/>
          <p:nvPr/>
        </p:nvSpPr>
        <p:spPr>
          <a:xfrm>
            <a:off x="776731" y="2101976"/>
            <a:ext cx="10208260" cy="3388748"/>
          </a:xfrm>
          <a:prstGeom prst="rect">
            <a:avLst/>
          </a:prstGeom>
        </p:spPr>
        <p:txBody>
          <a:bodyPr vert="horz" wrap="square" lIns="0" tIns="153035" rIns="0" bIns="0" rtlCol="0">
            <a:spAutoFit/>
          </a:bodyPr>
          <a:lstStyle/>
          <a:p>
            <a:pPr marL="354965" indent="-342265">
              <a:lnSpc>
                <a:spcPct val="100000"/>
              </a:lnSpc>
              <a:spcBef>
                <a:spcPts val="1205"/>
              </a:spcBef>
              <a:buClr>
                <a:srgbClr val="004978"/>
              </a:buClr>
              <a:buChar char="•"/>
              <a:tabLst>
                <a:tab pos="354965" algn="l"/>
              </a:tabLst>
            </a:pPr>
            <a:r>
              <a:rPr sz="2400" dirty="0">
                <a:solidFill>
                  <a:srgbClr val="C00000"/>
                </a:solidFill>
                <a:latin typeface="+mj-lt"/>
                <a:cs typeface="Arial MT"/>
              </a:rPr>
              <a:t>Risks </a:t>
            </a:r>
            <a:r>
              <a:rPr sz="2400" dirty="0">
                <a:latin typeface="+mj-lt"/>
                <a:cs typeface="Arial MT"/>
              </a:rPr>
              <a:t>associated with using AI and ML are called adversarial artificial intelligence</a:t>
            </a:r>
          </a:p>
          <a:p>
            <a:pPr marL="354965" indent="-342265">
              <a:lnSpc>
                <a:spcPct val="100000"/>
              </a:lnSpc>
              <a:spcBef>
                <a:spcPts val="1100"/>
              </a:spcBef>
              <a:buClr>
                <a:srgbClr val="004978"/>
              </a:buClr>
              <a:buChar char="•"/>
              <a:tabLst>
                <a:tab pos="354965" algn="l"/>
              </a:tabLst>
            </a:pPr>
            <a:r>
              <a:rPr sz="2400" dirty="0">
                <a:latin typeface="+mj-lt"/>
                <a:cs typeface="Arial MT"/>
              </a:rPr>
              <a:t>The first risk is the security of </a:t>
            </a:r>
            <a:r>
              <a:rPr sz="2400" dirty="0">
                <a:solidFill>
                  <a:srgbClr val="C00000"/>
                </a:solidFill>
                <a:latin typeface="+mj-lt"/>
                <a:cs typeface="Arial MT"/>
              </a:rPr>
              <a:t>ML algorithms</a:t>
            </a:r>
            <a:endParaRPr sz="2400" dirty="0">
              <a:latin typeface="+mj-lt"/>
              <a:cs typeface="Arial MT"/>
            </a:endParaRPr>
          </a:p>
          <a:p>
            <a:pPr marL="697230" lvl="1" indent="-227329">
              <a:lnSpc>
                <a:spcPts val="2735"/>
              </a:lnSpc>
              <a:spcBef>
                <a:spcPts val="420"/>
              </a:spcBef>
              <a:buClr>
                <a:srgbClr val="FF6200"/>
              </a:buClr>
              <a:buChar char="•"/>
              <a:tabLst>
                <a:tab pos="697230" algn="l"/>
              </a:tabLst>
            </a:pPr>
            <a:r>
              <a:rPr sz="2400" dirty="0">
                <a:latin typeface="+mj-lt"/>
                <a:cs typeface="Arial MT"/>
              </a:rPr>
              <a:t>These could be attacked and compromised, allowing threat actors to alter</a:t>
            </a:r>
          </a:p>
          <a:p>
            <a:pPr marL="698500">
              <a:lnSpc>
                <a:spcPts val="2735"/>
              </a:lnSpc>
            </a:pPr>
            <a:r>
              <a:rPr sz="2400" dirty="0">
                <a:latin typeface="+mj-lt"/>
                <a:cs typeface="Arial MT"/>
              </a:rPr>
              <a:t>algorithms to ignore attacks</a:t>
            </a:r>
          </a:p>
          <a:p>
            <a:pPr marL="354965" indent="-342265">
              <a:lnSpc>
                <a:spcPct val="100000"/>
              </a:lnSpc>
              <a:spcBef>
                <a:spcPts val="915"/>
              </a:spcBef>
              <a:buClr>
                <a:srgbClr val="004978"/>
              </a:buClr>
              <a:buChar char="•"/>
              <a:tabLst>
                <a:tab pos="354965" algn="l"/>
              </a:tabLst>
            </a:pPr>
            <a:r>
              <a:rPr sz="2400" dirty="0">
                <a:latin typeface="+mj-lt"/>
                <a:cs typeface="Arial MT"/>
              </a:rPr>
              <a:t>Another risk is </a:t>
            </a:r>
            <a:r>
              <a:rPr sz="2400" dirty="0">
                <a:solidFill>
                  <a:srgbClr val="C00000"/>
                </a:solidFill>
                <a:latin typeface="+mj-lt"/>
                <a:cs typeface="Arial MT"/>
              </a:rPr>
              <a:t>tainted training data </a:t>
            </a:r>
            <a:r>
              <a:rPr sz="2400" dirty="0">
                <a:latin typeface="+mj-lt"/>
                <a:cs typeface="Arial MT"/>
              </a:rPr>
              <a:t>for machine learning</a:t>
            </a:r>
          </a:p>
          <a:p>
            <a:pPr marL="697230" marR="114935" lvl="1" indent="-227329">
              <a:lnSpc>
                <a:spcPts val="2590"/>
              </a:lnSpc>
              <a:spcBef>
                <a:spcPts val="735"/>
              </a:spcBef>
              <a:buClr>
                <a:srgbClr val="FF6200"/>
              </a:buClr>
              <a:buChar char="•"/>
              <a:tabLst>
                <a:tab pos="698500" algn="l"/>
              </a:tabLst>
            </a:pPr>
            <a:r>
              <a:rPr sz="2400" dirty="0">
                <a:latin typeface="+mj-lt"/>
                <a:cs typeface="Arial MT"/>
              </a:rPr>
              <a:t>Attackers can attempt to alter the training data that is used by ML in order to produce false negatives to cloak themselves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3172" y="525018"/>
            <a:ext cx="9348470" cy="1090683"/>
          </a:xfrm>
          <a:prstGeom prst="rect">
            <a:avLst/>
          </a:prstGeom>
        </p:spPr>
        <p:txBody>
          <a:bodyPr vert="horz" wrap="square" lIns="0" tIns="318135" rIns="0" bIns="0" rtlCol="0">
            <a:spAutoFit/>
          </a:bodyPr>
          <a:lstStyle/>
          <a:p>
            <a:pPr marL="12700">
              <a:lnSpc>
                <a:spcPct val="100000"/>
              </a:lnSpc>
              <a:spcBef>
                <a:spcPts val="105"/>
              </a:spcBef>
            </a:pPr>
            <a:r>
              <a:rPr dirty="0"/>
              <a:t>KNOWLEDGE CHECK ACTIVITY</a:t>
            </a:r>
          </a:p>
        </p:txBody>
      </p:sp>
      <p:sp>
        <p:nvSpPr>
          <p:cNvPr id="4" name="object 4"/>
          <p:cNvSpPr txBox="1">
            <a:spLocks noGrp="1"/>
          </p:cNvSpPr>
          <p:nvPr>
            <p:ph type="ftr" sz="quarter" idx="5"/>
          </p:nvPr>
        </p:nvSpPr>
        <p:spPr>
          <a:xfrm>
            <a:off x="10198989" y="6533103"/>
            <a:ext cx="466725" cy="282129"/>
          </a:xfrm>
          <a:prstGeom prst="rect">
            <a:avLst/>
          </a:prstGeom>
        </p:spPr>
        <p:txBody>
          <a:bodyPr vert="horz" wrap="square" lIns="0" tIns="0" rIns="0" bIns="0" rtlCol="0">
            <a:spAutoFit/>
          </a:bodyPr>
          <a:lstStyle/>
          <a:p>
            <a:pPr marL="12700">
              <a:lnSpc>
                <a:spcPts val="1125"/>
              </a:lnSpc>
            </a:pPr>
            <a:r>
              <a:rPr dirty="0"/>
              <a:t>ALI HASSAN</a:t>
            </a:r>
          </a:p>
        </p:txBody>
      </p:sp>
      <p:sp>
        <p:nvSpPr>
          <p:cNvPr id="5" name="object 5"/>
          <p:cNvSpPr txBox="1">
            <a:spLocks noGrp="1"/>
          </p:cNvSpPr>
          <p:nvPr>
            <p:ph type="sldNum" sz="quarter" idx="7"/>
          </p:nvPr>
        </p:nvSpPr>
        <p:spPr>
          <a:xfrm>
            <a:off x="10892028" y="6523635"/>
            <a:ext cx="229234" cy="141064"/>
          </a:xfrm>
          <a:prstGeom prst="rect">
            <a:avLst/>
          </a:prstGeom>
        </p:spPr>
        <p:txBody>
          <a:bodyPr vert="horz" wrap="square" lIns="0" tIns="0" rIns="0" bIns="0" rtlCol="0">
            <a:spAutoFit/>
          </a:bodyPr>
          <a:lstStyle/>
          <a:p>
            <a:pPr marL="38100">
              <a:lnSpc>
                <a:spcPts val="1125"/>
              </a:lnSpc>
            </a:pPr>
            <a:fld id="{81D60167-4931-47E6-BA6A-407CBD079E47}" type="slidenum">
              <a:rPr dirty="0"/>
              <a:t>35</a:t>
            </a:fld>
            <a:endParaRPr dirty="0"/>
          </a:p>
        </p:txBody>
      </p:sp>
      <p:sp>
        <p:nvSpPr>
          <p:cNvPr id="3" name="object 3"/>
          <p:cNvSpPr txBox="1"/>
          <p:nvPr/>
        </p:nvSpPr>
        <p:spPr>
          <a:xfrm>
            <a:off x="1057147" y="2257170"/>
            <a:ext cx="8086725" cy="2435225"/>
          </a:xfrm>
          <a:prstGeom prst="rect">
            <a:avLst/>
          </a:prstGeom>
        </p:spPr>
        <p:txBody>
          <a:bodyPr vert="horz" wrap="square" lIns="0" tIns="60960" rIns="0" bIns="0" rtlCol="0">
            <a:spAutoFit/>
          </a:bodyPr>
          <a:lstStyle/>
          <a:p>
            <a:pPr marL="12700" marR="5080">
              <a:lnSpc>
                <a:spcPts val="3020"/>
              </a:lnSpc>
              <a:spcBef>
                <a:spcPts val="480"/>
              </a:spcBef>
            </a:pPr>
            <a:r>
              <a:rPr sz="2800" dirty="0">
                <a:latin typeface="+mj-lt"/>
                <a:cs typeface="Arial MT"/>
              </a:rPr>
              <a:t>Which of the following is a concern of using AI and ML in cybersecurity?</a:t>
            </a:r>
            <a:endParaRPr sz="2800">
              <a:latin typeface="+mj-lt"/>
              <a:cs typeface="Arial MT"/>
            </a:endParaRPr>
          </a:p>
          <a:p>
            <a:pPr marL="673100" indent="-317500">
              <a:lnSpc>
                <a:spcPct val="100000"/>
              </a:lnSpc>
              <a:spcBef>
                <a:spcPts val="95"/>
              </a:spcBef>
              <a:buAutoNum type="alphaLcPeriod"/>
              <a:tabLst>
                <a:tab pos="673100" algn="l"/>
              </a:tabLst>
            </a:pPr>
            <a:r>
              <a:rPr sz="2400" dirty="0">
                <a:latin typeface="+mj-lt"/>
                <a:cs typeface="Arial MT"/>
              </a:rPr>
              <a:t>Buffer overflows</a:t>
            </a:r>
            <a:endParaRPr sz="2400">
              <a:latin typeface="+mj-lt"/>
              <a:cs typeface="Arial MT"/>
            </a:endParaRPr>
          </a:p>
          <a:p>
            <a:pPr marL="666750" indent="-311150">
              <a:lnSpc>
                <a:spcPct val="100000"/>
              </a:lnSpc>
              <a:spcBef>
                <a:spcPts val="310"/>
              </a:spcBef>
              <a:buAutoNum type="alphaLcPeriod"/>
              <a:tabLst>
                <a:tab pos="666750" algn="l"/>
              </a:tabLst>
            </a:pPr>
            <a:r>
              <a:rPr sz="2400" dirty="0">
                <a:latin typeface="+mj-lt"/>
                <a:cs typeface="Arial MT"/>
              </a:rPr>
              <a:t>Improper input handling</a:t>
            </a:r>
            <a:endParaRPr sz="2400">
              <a:latin typeface="+mj-lt"/>
              <a:cs typeface="Arial MT"/>
            </a:endParaRPr>
          </a:p>
          <a:p>
            <a:pPr marL="622300" indent="-266700">
              <a:lnSpc>
                <a:spcPct val="100000"/>
              </a:lnSpc>
              <a:spcBef>
                <a:spcPts val="315"/>
              </a:spcBef>
              <a:buAutoNum type="alphaLcPeriod"/>
              <a:tabLst>
                <a:tab pos="622300" algn="l"/>
              </a:tabLst>
            </a:pPr>
            <a:r>
              <a:rPr sz="2400" dirty="0">
                <a:latin typeface="+mj-lt"/>
                <a:cs typeface="Arial MT"/>
              </a:rPr>
              <a:t>Device driver manipulation</a:t>
            </a:r>
            <a:endParaRPr sz="2400">
              <a:latin typeface="+mj-lt"/>
              <a:cs typeface="Arial MT"/>
            </a:endParaRPr>
          </a:p>
          <a:p>
            <a:pPr marL="673100" indent="-317500">
              <a:lnSpc>
                <a:spcPct val="100000"/>
              </a:lnSpc>
              <a:spcBef>
                <a:spcPts val="310"/>
              </a:spcBef>
              <a:buAutoNum type="alphaLcPeriod"/>
              <a:tabLst>
                <a:tab pos="673100" algn="l"/>
              </a:tabLst>
            </a:pPr>
            <a:r>
              <a:rPr sz="2400" dirty="0">
                <a:latin typeface="+mj-lt"/>
                <a:cs typeface="Arial MT"/>
              </a:rPr>
              <a:t>Tainted training data</a:t>
            </a:r>
            <a:endParaRPr sz="2400">
              <a:latin typeface="+mj-lt"/>
              <a:cs typeface="Arial M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6990" y="46990"/>
            <a:ext cx="12075160" cy="6747509"/>
            <a:chOff x="46990" y="46990"/>
            <a:chExt cx="12075160" cy="6747509"/>
          </a:xfrm>
        </p:grpSpPr>
        <p:sp>
          <p:nvSpPr>
            <p:cNvPr id="3" name="object 3"/>
            <p:cNvSpPr/>
            <p:nvPr/>
          </p:nvSpPr>
          <p:spPr>
            <a:xfrm>
              <a:off x="762762" y="826770"/>
              <a:ext cx="0" cy="914400"/>
            </a:xfrm>
            <a:custGeom>
              <a:avLst/>
              <a:gdLst/>
              <a:ahLst/>
              <a:cxnLst/>
              <a:rect l="l" t="t" r="r" b="b"/>
              <a:pathLst>
                <a:path h="914400">
                  <a:moveTo>
                    <a:pt x="0" y="914400"/>
                  </a:moveTo>
                  <a:lnTo>
                    <a:pt x="0" y="0"/>
                  </a:lnTo>
                </a:path>
              </a:pathLst>
            </a:custGeom>
            <a:ln w="19050">
              <a:solidFill>
                <a:srgbClr val="1CACE3"/>
              </a:solidFill>
            </a:ln>
          </p:spPr>
          <p:txBody>
            <a:bodyPr wrap="square" lIns="0" tIns="0" rIns="0" bIns="0" rtlCol="0"/>
            <a:lstStyle/>
            <a:p>
              <a:endParaRPr/>
            </a:p>
          </p:txBody>
        </p:sp>
        <p:sp>
          <p:nvSpPr>
            <p:cNvPr id="4" name="object 4"/>
            <p:cNvSpPr/>
            <p:nvPr/>
          </p:nvSpPr>
          <p:spPr>
            <a:xfrm>
              <a:off x="72390" y="72390"/>
              <a:ext cx="12024360" cy="6696709"/>
            </a:xfrm>
            <a:custGeom>
              <a:avLst/>
              <a:gdLst/>
              <a:ahLst/>
              <a:cxnLst/>
              <a:rect l="l" t="t" r="r" b="b"/>
              <a:pathLst>
                <a:path w="12024360" h="6696709">
                  <a:moveTo>
                    <a:pt x="0" y="6696456"/>
                  </a:moveTo>
                  <a:lnTo>
                    <a:pt x="12024360" y="6696456"/>
                  </a:lnTo>
                  <a:lnTo>
                    <a:pt x="12024360" y="0"/>
                  </a:lnTo>
                  <a:lnTo>
                    <a:pt x="0" y="0"/>
                  </a:lnTo>
                  <a:lnTo>
                    <a:pt x="0" y="6696456"/>
                  </a:lnTo>
                  <a:close/>
                </a:path>
              </a:pathLst>
            </a:custGeom>
            <a:ln w="50800">
              <a:solidFill>
                <a:srgbClr val="585858"/>
              </a:solidFill>
            </a:ln>
          </p:spPr>
          <p:txBody>
            <a:bodyPr wrap="square" lIns="0" tIns="0" rIns="0" bIns="0" rtlCol="0"/>
            <a:lstStyle/>
            <a:p>
              <a:endParaRPr/>
            </a:p>
          </p:txBody>
        </p:sp>
      </p:grpSp>
      <p:sp>
        <p:nvSpPr>
          <p:cNvPr id="5" name="object 5"/>
          <p:cNvSpPr txBox="1">
            <a:spLocks noGrp="1"/>
          </p:cNvSpPr>
          <p:nvPr>
            <p:ph type="title"/>
          </p:nvPr>
        </p:nvSpPr>
        <p:spPr>
          <a:xfrm>
            <a:off x="4686427" y="3683889"/>
            <a:ext cx="2394585" cy="635000"/>
          </a:xfrm>
          <a:prstGeom prst="rect">
            <a:avLst/>
          </a:prstGeom>
        </p:spPr>
        <p:txBody>
          <a:bodyPr vert="horz" wrap="square" lIns="0" tIns="12065" rIns="0" bIns="0" rtlCol="0">
            <a:spAutoFit/>
          </a:bodyPr>
          <a:lstStyle/>
          <a:p>
            <a:pPr marL="12700">
              <a:lnSpc>
                <a:spcPct val="100000"/>
              </a:lnSpc>
              <a:spcBef>
                <a:spcPts val="95"/>
              </a:spcBef>
            </a:pPr>
            <a:r>
              <a:rPr sz="4000" b="1" spc="-360" dirty="0">
                <a:solidFill>
                  <a:srgbClr val="000000"/>
                </a:solidFill>
                <a:latin typeface="Arial"/>
                <a:cs typeface="Arial"/>
              </a:rPr>
              <a:t>Questions?</a:t>
            </a:r>
            <a:endParaRPr sz="4000">
              <a:latin typeface="Arial"/>
              <a:cs typeface="Arial"/>
            </a:endParaRPr>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125"/>
              </a:lnSpc>
            </a:pPr>
            <a:r>
              <a:rPr spc="-150" dirty="0"/>
              <a:t>ALI</a:t>
            </a:r>
            <a:r>
              <a:rPr spc="-95" dirty="0"/>
              <a:t> </a:t>
            </a:r>
            <a:r>
              <a:rPr spc="-180" dirty="0"/>
              <a:t>HASSAN</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125"/>
              </a:lnSpc>
            </a:pPr>
            <a:fld id="{81D60167-4931-47E6-BA6A-407CBD079E47}" type="slidenum">
              <a:rPr spc="-25" dirty="0"/>
              <a:t>36</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CD77330-FB9B-4F74-ACB5-3AAD380547C3}">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219</TotalTime>
  <Words>2745</Words>
  <Application>Microsoft Office PowerPoint</Application>
  <PresentationFormat>Widescreen</PresentationFormat>
  <Paragraphs>371</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Arial MT</vt:lpstr>
      <vt:lpstr>Calibri</vt:lpstr>
      <vt:lpstr>Cambria</vt:lpstr>
      <vt:lpstr>Consolas</vt:lpstr>
      <vt:lpstr>Courier New</vt:lpstr>
      <vt:lpstr>Microsoft Sans Serif</vt:lpstr>
      <vt:lpstr>Times New Roman</vt:lpstr>
      <vt:lpstr>Trebuchet MS</vt:lpstr>
      <vt:lpstr>Office Theme</vt:lpstr>
      <vt:lpstr>PowerPoint Presentation</vt:lpstr>
      <vt:lpstr>REFERENCES AND ACKNOWLEDGEMENT</vt:lpstr>
      <vt:lpstr>LECTURE LAYOUT</vt:lpstr>
      <vt:lpstr>THINK, PAIR AND SHARE</vt:lpstr>
      <vt:lpstr>MALWARE ATTACKS</vt:lpstr>
      <vt:lpstr>ATTACKS USING MALWARE</vt:lpstr>
      <vt:lpstr>MALWARE CATEGORY - IMPRISON</vt:lpstr>
      <vt:lpstr>MALWARE CATEGORY - LAUNCH</vt:lpstr>
      <vt:lpstr>MALWARE CATEGORY - LAUNCH</vt:lpstr>
      <vt:lpstr>MALWARE CATEGORY - LAUNCH</vt:lpstr>
      <vt:lpstr>MALWARE CATEGORY - LAUNCH</vt:lpstr>
      <vt:lpstr>Few mitigation strategies for this category</vt:lpstr>
      <vt:lpstr>MALWARE CATEGORY - SNOOP</vt:lpstr>
      <vt:lpstr>MALWARE CATEGORY - DECEIVE</vt:lpstr>
      <vt:lpstr>MALWARE CATEGORY - EVADE</vt:lpstr>
      <vt:lpstr>THINK, PAIR AND SHARE</vt:lpstr>
      <vt:lpstr>SELF STUDY</vt:lpstr>
      <vt:lpstr>KNOWLEDGE CHECK ACTIVITY</vt:lpstr>
      <vt:lpstr>APPLICATION ATTACKS</vt:lpstr>
      <vt:lpstr>APPLICATION ATTACKS</vt:lpstr>
      <vt:lpstr>APPLICATION ATTACKS – XSS ATTACK</vt:lpstr>
      <vt:lpstr>PowerPoint Presentation</vt:lpstr>
      <vt:lpstr>APPLICATION ATTACKS – SQL INJECTION</vt:lpstr>
      <vt:lpstr>APPLICATION ATTACKS – REQUEST FORGERY</vt:lpstr>
      <vt:lpstr>APPLICATION ATTACKS – REQUEST FORGERY</vt:lpstr>
      <vt:lpstr>ATTACKS ON SOFTWARE – MEMORY VULNERABILITIES</vt:lpstr>
      <vt:lpstr>ATTACKS ON SOFTWARE – MEMORY VULNERABILITIES</vt:lpstr>
      <vt:lpstr>PowerPoint Presentation</vt:lpstr>
      <vt:lpstr>PowerPoint Presentation</vt:lpstr>
      <vt:lpstr>ATTACKS ON SOFTWARE – IMPROPER EXCEPTION HANDLING</vt:lpstr>
      <vt:lpstr>ATTACKS ON EXTERNAL SOFTWARE COMPONENTS</vt:lpstr>
      <vt:lpstr>KNOWLEDGE CHECK ACTIVITY</vt:lpstr>
      <vt:lpstr>ADVERSARIAL ARTIFICIAL INTELLIGENCE ATTACKS</vt:lpstr>
      <vt:lpstr>RISKS IN USING AI AND ML IN CYBERSECURITY</vt:lpstr>
      <vt:lpstr>KNOWLEDGE CHECK ACTIVITY</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Hassan</dc:creator>
  <cp:lastModifiedBy>Pawan Soobhri</cp:lastModifiedBy>
  <cp:revision>9</cp:revision>
  <dcterms:created xsi:type="dcterms:W3CDTF">2025-01-12T16:21:10Z</dcterms:created>
  <dcterms:modified xsi:type="dcterms:W3CDTF">2025-01-12T20:01:00Z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2024-09-11T00:00:00Z</vt:filetime>
  </property>
  <property fmtid="{D5CDD505-2E9C-101B-9397-08002B2CF9AE}" pid="3" name="Creator">
    <vt:lpwstr>Microsoft® PowerPoint® for Microsoft 365</vt:lpwstr>
  </property>
  <property fmtid="{D5CDD505-2E9C-101B-9397-08002B2CF9AE}" pid="4" name="LastSaved">
    <vt:filetime>2025-01-12T00:00:00Z</vt:filetime>
  </property>
  <property fmtid="{D5CDD505-2E9C-101B-9397-08002B2CF9AE}" pid="5" name="Producer">
    <vt:lpwstr>Microsoft® PowerPoint® for Microsoft 365</vt:lpwstr>
  </property>
</Properties>
</file>