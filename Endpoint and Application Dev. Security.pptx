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0D0D0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D0D0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125"/>
              </a:lnSpc>
            </a:pPr>
            <a:r>
              <a:rPr spc="-150" dirty="0"/>
              <a:t>ALI</a:t>
            </a:r>
            <a:r>
              <a:rPr spc="-95" dirty="0"/>
              <a:t> </a:t>
            </a:r>
            <a:r>
              <a:rPr spc="-180" dirty="0"/>
              <a:t>HASSAN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D0D0D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>
                <a:latin typeface="Cambria"/>
                <a:cs typeface="Cambria"/>
              </a:rPr>
              <a:t>‹#›</a:t>
            </a:fld>
            <a:endParaRPr spc="-50" dirty="0">
              <a:latin typeface="Cambria"/>
              <a:cs typeface="Cambri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0D0D0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D0D0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125"/>
              </a:lnSpc>
            </a:pPr>
            <a:r>
              <a:rPr spc="-150" dirty="0"/>
              <a:t>ALI</a:t>
            </a:r>
            <a:r>
              <a:rPr spc="-95" dirty="0"/>
              <a:t> </a:t>
            </a:r>
            <a:r>
              <a:rPr spc="-180" dirty="0"/>
              <a:t>HASSAN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D0D0D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>
                <a:latin typeface="Cambria"/>
                <a:cs typeface="Cambria"/>
              </a:rPr>
              <a:t>‹#›</a:t>
            </a:fld>
            <a:endParaRPr spc="-50" dirty="0">
              <a:latin typeface="Cambria"/>
              <a:cs typeface="Cambri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0D0D0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D0D0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125"/>
              </a:lnSpc>
            </a:pPr>
            <a:r>
              <a:rPr spc="-150" dirty="0"/>
              <a:t>ALI</a:t>
            </a:r>
            <a:r>
              <a:rPr spc="-95" dirty="0"/>
              <a:t> </a:t>
            </a:r>
            <a:r>
              <a:rPr spc="-180" dirty="0"/>
              <a:t>HASSAN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D0D0D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>
                <a:latin typeface="Cambria"/>
                <a:cs typeface="Cambria"/>
              </a:rPr>
              <a:t>‹#›</a:t>
            </a:fld>
            <a:endParaRPr spc="-50" dirty="0">
              <a:latin typeface="Cambria"/>
              <a:cs typeface="Cambri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0D0D0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D0D0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125"/>
              </a:lnSpc>
            </a:pPr>
            <a:r>
              <a:rPr spc="-150" dirty="0"/>
              <a:t>ALI</a:t>
            </a:r>
            <a:r>
              <a:rPr spc="-95" dirty="0"/>
              <a:t> </a:t>
            </a:r>
            <a:r>
              <a:rPr spc="-180" dirty="0"/>
              <a:t>HASSAN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D0D0D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>
                <a:latin typeface="Cambria"/>
                <a:cs typeface="Cambria"/>
              </a:rPr>
              <a:t>‹#›</a:t>
            </a:fld>
            <a:endParaRPr spc="-50" dirty="0">
              <a:latin typeface="Cambria"/>
              <a:cs typeface="Cambri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D0D0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125"/>
              </a:lnSpc>
            </a:pPr>
            <a:r>
              <a:rPr spc="-150" dirty="0"/>
              <a:t>ALI</a:t>
            </a:r>
            <a:r>
              <a:rPr spc="-95" dirty="0"/>
              <a:t> </a:t>
            </a:r>
            <a:r>
              <a:rPr spc="-180" dirty="0"/>
              <a:t>HASSAN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D0D0D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>
                <a:latin typeface="Cambria"/>
                <a:cs typeface="Cambria"/>
              </a:rPr>
              <a:t>‹#›</a:t>
            </a:fld>
            <a:endParaRPr spc="-50" dirty="0">
              <a:latin typeface="Cambria"/>
              <a:cs typeface="Cambri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62000" y="826262"/>
            <a:ext cx="0" cy="914400"/>
          </a:xfrm>
          <a:custGeom>
            <a:avLst/>
            <a:gdLst/>
            <a:ahLst/>
            <a:cxnLst/>
            <a:rect l="l" t="t" r="r" b="b"/>
            <a:pathLst>
              <a:path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ln w="19050">
            <a:solidFill>
              <a:srgbClr val="1CAC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2000" y="72052"/>
            <a:ext cx="12024360" cy="6696075"/>
          </a:xfrm>
          <a:custGeom>
            <a:avLst/>
            <a:gdLst/>
            <a:ahLst/>
            <a:cxnLst/>
            <a:rect l="l" t="t" r="r" b="b"/>
            <a:pathLst>
              <a:path w="12024360" h="6696075">
                <a:moveTo>
                  <a:pt x="0" y="6695948"/>
                </a:moveTo>
                <a:lnTo>
                  <a:pt x="12023979" y="6695948"/>
                </a:lnTo>
                <a:lnTo>
                  <a:pt x="12023979" y="0"/>
                </a:lnTo>
                <a:lnTo>
                  <a:pt x="0" y="0"/>
                </a:lnTo>
                <a:lnTo>
                  <a:pt x="0" y="6695948"/>
                </a:lnTo>
                <a:close/>
              </a:path>
            </a:pathLst>
          </a:custGeom>
          <a:ln w="5080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03172" y="829818"/>
            <a:ext cx="9723120" cy="788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0D0D0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7361" y="1855470"/>
            <a:ext cx="5290185" cy="433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198989" y="6533103"/>
            <a:ext cx="466725" cy="160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0D0D0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125"/>
              </a:lnSpc>
            </a:pPr>
            <a:r>
              <a:rPr spc="-150" dirty="0"/>
              <a:t>ALI</a:t>
            </a:r>
            <a:r>
              <a:rPr spc="-95" dirty="0"/>
              <a:t> </a:t>
            </a:r>
            <a:r>
              <a:rPr spc="-180" dirty="0"/>
              <a:t>HASSAN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892028" y="6533103"/>
            <a:ext cx="142240" cy="160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0D0D0D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>
                <a:latin typeface="Cambria"/>
                <a:cs typeface="Cambria"/>
              </a:rPr>
              <a:t>‹#›</a:t>
            </a:fld>
            <a:endParaRPr spc="-50" dirty="0">
              <a:latin typeface="Cambria"/>
              <a:cs typeface="Cambri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osintframework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pp.any.run/" TargetMode="External"/><Relationship Id="rId3" Type="http://schemas.openxmlformats.org/officeDocument/2006/relationships/hyperlink" Target="https://nvd.nist.gov/" TargetMode="External"/><Relationship Id="rId7" Type="http://schemas.openxmlformats.org/officeDocument/2006/relationships/hyperlink" Target="https://www.virustotal.com/" TargetMode="External"/><Relationship Id="rId2" Type="http://schemas.openxmlformats.org/officeDocument/2006/relationships/hyperlink" Target="https://www.cve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azaar.abuse.ch/" TargetMode="External"/><Relationship Id="rId5" Type="http://schemas.openxmlformats.org/officeDocument/2006/relationships/hyperlink" Target="https://livethreatmap.radware.com/" TargetMode="External"/><Relationship Id="rId4" Type="http://schemas.openxmlformats.org/officeDocument/2006/relationships/hyperlink" Target="https://threatmap.checkpoint.com/" TargetMode="External"/><Relationship Id="rId9" Type="http://schemas.openxmlformats.org/officeDocument/2006/relationships/hyperlink" Target="https://www.youtube.com/watch?v=H7-pJiC-N-g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vigaweb.net/2016/06/quando-e-come-si-puo-aggiornare-il-bios.html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000" y="72052"/>
            <a:ext cx="12024360" cy="6696075"/>
          </a:xfrm>
          <a:custGeom>
            <a:avLst/>
            <a:gdLst/>
            <a:ahLst/>
            <a:cxnLst/>
            <a:rect l="l" t="t" r="r" b="b"/>
            <a:pathLst>
              <a:path w="12024360" h="6696075">
                <a:moveTo>
                  <a:pt x="0" y="6695948"/>
                </a:moveTo>
                <a:lnTo>
                  <a:pt x="12023979" y="6695948"/>
                </a:lnTo>
                <a:lnTo>
                  <a:pt x="12023979" y="0"/>
                </a:lnTo>
                <a:lnTo>
                  <a:pt x="0" y="0"/>
                </a:lnTo>
                <a:lnTo>
                  <a:pt x="0" y="6695948"/>
                </a:lnTo>
                <a:close/>
              </a:path>
            </a:pathLst>
          </a:custGeom>
          <a:ln w="5080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76311" y="4207471"/>
            <a:ext cx="4255770" cy="1435649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196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706120" algn="just">
              <a:lnSpc>
                <a:spcPct val="100000"/>
              </a:lnSpc>
            </a:pPr>
            <a:r>
              <a:rPr lang="en-CA" sz="1800" b="1" dirty="0">
                <a:latin typeface="Cambria"/>
                <a:cs typeface="Cambria"/>
              </a:rPr>
              <a:t>Pawan Soobhri</a:t>
            </a:r>
          </a:p>
          <a:p>
            <a:pPr marL="706120" algn="just">
              <a:lnSpc>
                <a:spcPct val="100000"/>
              </a:lnSpc>
            </a:pPr>
            <a:r>
              <a:rPr lang="en-CA" sz="1800" dirty="0">
                <a:latin typeface="Cambria"/>
                <a:cs typeface="Cambria"/>
              </a:rPr>
              <a:t>Professor </a:t>
            </a:r>
          </a:p>
          <a:p>
            <a:pPr marL="706120" algn="just">
              <a:lnSpc>
                <a:spcPct val="100000"/>
              </a:lnSpc>
            </a:pPr>
            <a:r>
              <a:rPr lang="en-CA" sz="1800" dirty="0">
                <a:latin typeface="Cambria"/>
                <a:cs typeface="Cambria"/>
              </a:rPr>
              <a:t>MISSM, PGDBM, BTech</a:t>
            </a:r>
          </a:p>
          <a:p>
            <a:pPr marL="706120" algn="just">
              <a:lnSpc>
                <a:spcPct val="100000"/>
              </a:lnSpc>
            </a:pPr>
            <a:r>
              <a:rPr sz="1800" b="1" dirty="0">
                <a:latin typeface="Cambria"/>
                <a:cs typeface="Cambria"/>
              </a:rPr>
              <a:t>Email:</a:t>
            </a:r>
            <a:r>
              <a:rPr sz="1800" b="1" spc="-30" dirty="0">
                <a:latin typeface="Cambria"/>
                <a:cs typeface="Cambria"/>
              </a:rPr>
              <a:t> </a:t>
            </a:r>
            <a:r>
              <a:rPr lang="en-CA" sz="1800" spc="-30" dirty="0" err="1">
                <a:latin typeface="Cambria"/>
                <a:cs typeface="Cambria"/>
              </a:rPr>
              <a:t>psoobhri</a:t>
            </a:r>
            <a:r>
              <a:rPr lang="en-CA" sz="1800" b="1" spc="-30" dirty="0">
                <a:latin typeface="Cambria"/>
                <a:cs typeface="Cambria"/>
              </a:rPr>
              <a:t>@</a:t>
            </a:r>
            <a:r>
              <a:rPr sz="1800" spc="-10" dirty="0">
                <a:latin typeface="Cambria"/>
                <a:cs typeface="Cambria"/>
              </a:rPr>
              <a:t>conestogac.on.ca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4207471"/>
            <a:ext cx="4384675" cy="2038350"/>
          </a:xfrm>
          <a:prstGeom prst="rect">
            <a:avLst/>
          </a:prstGeom>
          <a:solidFill>
            <a:srgbClr val="276E8A">
              <a:alpha val="90194"/>
            </a:srgbClr>
          </a:solidFill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2800">
              <a:latin typeface="Times New Roman"/>
              <a:cs typeface="Times New Roman"/>
            </a:endParaRPr>
          </a:p>
          <a:p>
            <a:pPr marL="90805" marR="753110">
              <a:lnSpc>
                <a:spcPct val="120000"/>
              </a:lnSpc>
            </a:pPr>
            <a:r>
              <a:rPr sz="2800" b="1" spc="-10" dirty="0">
                <a:solidFill>
                  <a:srgbClr val="FFFFFF"/>
                </a:solidFill>
                <a:latin typeface="Cambria"/>
                <a:cs typeface="Cambria"/>
              </a:rPr>
              <a:t>Network</a:t>
            </a:r>
            <a:r>
              <a:rPr sz="2800" b="1" spc="-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2800" b="1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mbria"/>
                <a:cs typeface="Cambria"/>
              </a:rPr>
              <a:t>Security (INFO8965)</a:t>
            </a:r>
            <a:endParaRPr sz="28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166359" y="4233671"/>
            <a:ext cx="1985010" cy="1983739"/>
            <a:chOff x="5166359" y="4233671"/>
            <a:chExt cx="1985010" cy="1983739"/>
          </a:xfrm>
        </p:grpSpPr>
        <p:sp>
          <p:nvSpPr>
            <p:cNvPr id="6" name="object 6"/>
            <p:cNvSpPr/>
            <p:nvPr/>
          </p:nvSpPr>
          <p:spPr>
            <a:xfrm>
              <a:off x="5387403" y="4453762"/>
              <a:ext cx="1553210" cy="1553845"/>
            </a:xfrm>
            <a:custGeom>
              <a:avLst/>
              <a:gdLst/>
              <a:ahLst/>
              <a:cxnLst/>
              <a:rect l="l" t="t" r="r" b="b"/>
              <a:pathLst>
                <a:path w="1553209" h="1553845">
                  <a:moveTo>
                    <a:pt x="143002" y="1144663"/>
                  </a:moveTo>
                  <a:lnTo>
                    <a:pt x="0" y="1144663"/>
                  </a:lnTo>
                  <a:lnTo>
                    <a:pt x="0" y="1226413"/>
                  </a:lnTo>
                  <a:lnTo>
                    <a:pt x="143002" y="1226413"/>
                  </a:lnTo>
                  <a:lnTo>
                    <a:pt x="143002" y="1144663"/>
                  </a:lnTo>
                  <a:close/>
                </a:path>
                <a:path w="1553209" h="1553845">
                  <a:moveTo>
                    <a:pt x="143002" y="981138"/>
                  </a:moveTo>
                  <a:lnTo>
                    <a:pt x="0" y="981138"/>
                  </a:lnTo>
                  <a:lnTo>
                    <a:pt x="0" y="1062901"/>
                  </a:lnTo>
                  <a:lnTo>
                    <a:pt x="143002" y="1062901"/>
                  </a:lnTo>
                  <a:lnTo>
                    <a:pt x="143002" y="981138"/>
                  </a:lnTo>
                  <a:close/>
                </a:path>
                <a:path w="1553209" h="1553845">
                  <a:moveTo>
                    <a:pt x="143002" y="817613"/>
                  </a:moveTo>
                  <a:lnTo>
                    <a:pt x="0" y="817613"/>
                  </a:lnTo>
                  <a:lnTo>
                    <a:pt x="0" y="899375"/>
                  </a:lnTo>
                  <a:lnTo>
                    <a:pt x="143002" y="899375"/>
                  </a:lnTo>
                  <a:lnTo>
                    <a:pt x="143002" y="817613"/>
                  </a:lnTo>
                  <a:close/>
                </a:path>
                <a:path w="1553209" h="1553845">
                  <a:moveTo>
                    <a:pt x="143002" y="654088"/>
                  </a:moveTo>
                  <a:lnTo>
                    <a:pt x="0" y="654088"/>
                  </a:lnTo>
                  <a:lnTo>
                    <a:pt x="0" y="735850"/>
                  </a:lnTo>
                  <a:lnTo>
                    <a:pt x="143002" y="735850"/>
                  </a:lnTo>
                  <a:lnTo>
                    <a:pt x="143002" y="654088"/>
                  </a:lnTo>
                  <a:close/>
                </a:path>
                <a:path w="1553209" h="1553845">
                  <a:moveTo>
                    <a:pt x="143002" y="490562"/>
                  </a:moveTo>
                  <a:lnTo>
                    <a:pt x="0" y="490562"/>
                  </a:lnTo>
                  <a:lnTo>
                    <a:pt x="0" y="572325"/>
                  </a:lnTo>
                  <a:lnTo>
                    <a:pt x="143002" y="572325"/>
                  </a:lnTo>
                  <a:lnTo>
                    <a:pt x="143002" y="490562"/>
                  </a:lnTo>
                  <a:close/>
                </a:path>
                <a:path w="1553209" h="1553845">
                  <a:moveTo>
                    <a:pt x="143002" y="327037"/>
                  </a:moveTo>
                  <a:lnTo>
                    <a:pt x="0" y="327037"/>
                  </a:lnTo>
                  <a:lnTo>
                    <a:pt x="0" y="408800"/>
                  </a:lnTo>
                  <a:lnTo>
                    <a:pt x="143002" y="408800"/>
                  </a:lnTo>
                  <a:lnTo>
                    <a:pt x="143002" y="327037"/>
                  </a:lnTo>
                  <a:close/>
                </a:path>
                <a:path w="1553209" h="1553845">
                  <a:moveTo>
                    <a:pt x="408584" y="1410385"/>
                  </a:moveTo>
                  <a:lnTo>
                    <a:pt x="326859" y="1410385"/>
                  </a:lnTo>
                  <a:lnTo>
                    <a:pt x="326859" y="1553464"/>
                  </a:lnTo>
                  <a:lnTo>
                    <a:pt x="408584" y="1553464"/>
                  </a:lnTo>
                  <a:lnTo>
                    <a:pt x="408584" y="1410385"/>
                  </a:lnTo>
                  <a:close/>
                </a:path>
                <a:path w="1553209" h="1553845">
                  <a:moveTo>
                    <a:pt x="408584" y="0"/>
                  </a:moveTo>
                  <a:lnTo>
                    <a:pt x="326859" y="0"/>
                  </a:lnTo>
                  <a:lnTo>
                    <a:pt x="326859" y="143078"/>
                  </a:lnTo>
                  <a:lnTo>
                    <a:pt x="408584" y="143078"/>
                  </a:lnTo>
                  <a:lnTo>
                    <a:pt x="408584" y="0"/>
                  </a:lnTo>
                  <a:close/>
                </a:path>
                <a:path w="1553209" h="1553845">
                  <a:moveTo>
                    <a:pt x="572020" y="1410385"/>
                  </a:moveTo>
                  <a:lnTo>
                    <a:pt x="490296" y="1410385"/>
                  </a:lnTo>
                  <a:lnTo>
                    <a:pt x="490296" y="1553464"/>
                  </a:lnTo>
                  <a:lnTo>
                    <a:pt x="572020" y="1553464"/>
                  </a:lnTo>
                  <a:lnTo>
                    <a:pt x="572020" y="1410385"/>
                  </a:lnTo>
                  <a:close/>
                </a:path>
                <a:path w="1553209" h="1553845">
                  <a:moveTo>
                    <a:pt x="572020" y="0"/>
                  </a:moveTo>
                  <a:lnTo>
                    <a:pt x="490296" y="0"/>
                  </a:lnTo>
                  <a:lnTo>
                    <a:pt x="490296" y="143078"/>
                  </a:lnTo>
                  <a:lnTo>
                    <a:pt x="572020" y="143078"/>
                  </a:lnTo>
                  <a:lnTo>
                    <a:pt x="572020" y="0"/>
                  </a:lnTo>
                  <a:close/>
                </a:path>
                <a:path w="1553209" h="1553845">
                  <a:moveTo>
                    <a:pt x="735444" y="1410385"/>
                  </a:moveTo>
                  <a:lnTo>
                    <a:pt x="653732" y="1410385"/>
                  </a:lnTo>
                  <a:lnTo>
                    <a:pt x="653732" y="1553464"/>
                  </a:lnTo>
                  <a:lnTo>
                    <a:pt x="735444" y="1553464"/>
                  </a:lnTo>
                  <a:lnTo>
                    <a:pt x="735444" y="1410385"/>
                  </a:lnTo>
                  <a:close/>
                </a:path>
                <a:path w="1553209" h="1553845">
                  <a:moveTo>
                    <a:pt x="735444" y="0"/>
                  </a:moveTo>
                  <a:lnTo>
                    <a:pt x="653732" y="0"/>
                  </a:lnTo>
                  <a:lnTo>
                    <a:pt x="653732" y="143078"/>
                  </a:lnTo>
                  <a:lnTo>
                    <a:pt x="735444" y="143078"/>
                  </a:lnTo>
                  <a:lnTo>
                    <a:pt x="735444" y="0"/>
                  </a:lnTo>
                  <a:close/>
                </a:path>
                <a:path w="1553209" h="1553845">
                  <a:moveTo>
                    <a:pt x="898880" y="1410385"/>
                  </a:moveTo>
                  <a:lnTo>
                    <a:pt x="817168" y="1410385"/>
                  </a:lnTo>
                  <a:lnTo>
                    <a:pt x="817168" y="1553464"/>
                  </a:lnTo>
                  <a:lnTo>
                    <a:pt x="898880" y="1553464"/>
                  </a:lnTo>
                  <a:lnTo>
                    <a:pt x="898880" y="1410385"/>
                  </a:lnTo>
                  <a:close/>
                </a:path>
                <a:path w="1553209" h="1553845">
                  <a:moveTo>
                    <a:pt x="898880" y="0"/>
                  </a:moveTo>
                  <a:lnTo>
                    <a:pt x="817168" y="0"/>
                  </a:lnTo>
                  <a:lnTo>
                    <a:pt x="817168" y="143078"/>
                  </a:lnTo>
                  <a:lnTo>
                    <a:pt x="898880" y="143078"/>
                  </a:lnTo>
                  <a:lnTo>
                    <a:pt x="898880" y="0"/>
                  </a:lnTo>
                  <a:close/>
                </a:path>
                <a:path w="1553209" h="1553845">
                  <a:moveTo>
                    <a:pt x="1041882" y="511009"/>
                  </a:moveTo>
                  <a:lnTo>
                    <a:pt x="510730" y="511009"/>
                  </a:lnTo>
                  <a:lnTo>
                    <a:pt x="510730" y="1042454"/>
                  </a:lnTo>
                  <a:lnTo>
                    <a:pt x="1041882" y="1042454"/>
                  </a:lnTo>
                  <a:lnTo>
                    <a:pt x="1041882" y="511009"/>
                  </a:lnTo>
                  <a:close/>
                </a:path>
                <a:path w="1553209" h="1553845">
                  <a:moveTo>
                    <a:pt x="1062316" y="1410385"/>
                  </a:moveTo>
                  <a:lnTo>
                    <a:pt x="980605" y="1410385"/>
                  </a:lnTo>
                  <a:lnTo>
                    <a:pt x="980605" y="1553464"/>
                  </a:lnTo>
                  <a:lnTo>
                    <a:pt x="1062316" y="1553464"/>
                  </a:lnTo>
                  <a:lnTo>
                    <a:pt x="1062316" y="1410385"/>
                  </a:lnTo>
                  <a:close/>
                </a:path>
                <a:path w="1553209" h="1553845">
                  <a:moveTo>
                    <a:pt x="1062316" y="0"/>
                  </a:moveTo>
                  <a:lnTo>
                    <a:pt x="980605" y="0"/>
                  </a:lnTo>
                  <a:lnTo>
                    <a:pt x="980605" y="143078"/>
                  </a:lnTo>
                  <a:lnTo>
                    <a:pt x="1062316" y="143078"/>
                  </a:lnTo>
                  <a:lnTo>
                    <a:pt x="1062316" y="0"/>
                  </a:lnTo>
                  <a:close/>
                </a:path>
                <a:path w="1553209" h="1553845">
                  <a:moveTo>
                    <a:pt x="1225753" y="1410385"/>
                  </a:moveTo>
                  <a:lnTo>
                    <a:pt x="1144028" y="1410385"/>
                  </a:lnTo>
                  <a:lnTo>
                    <a:pt x="1144028" y="1553464"/>
                  </a:lnTo>
                  <a:lnTo>
                    <a:pt x="1225753" y="1553464"/>
                  </a:lnTo>
                  <a:lnTo>
                    <a:pt x="1225753" y="1410385"/>
                  </a:lnTo>
                  <a:close/>
                </a:path>
                <a:path w="1553209" h="1553845">
                  <a:moveTo>
                    <a:pt x="1225753" y="0"/>
                  </a:moveTo>
                  <a:lnTo>
                    <a:pt x="1144028" y="0"/>
                  </a:lnTo>
                  <a:lnTo>
                    <a:pt x="1144028" y="143078"/>
                  </a:lnTo>
                  <a:lnTo>
                    <a:pt x="1225753" y="143078"/>
                  </a:lnTo>
                  <a:lnTo>
                    <a:pt x="1225753" y="0"/>
                  </a:lnTo>
                  <a:close/>
                </a:path>
                <a:path w="1553209" h="1553845">
                  <a:moveTo>
                    <a:pt x="1327899" y="306603"/>
                  </a:moveTo>
                  <a:lnTo>
                    <a:pt x="1321473" y="274777"/>
                  </a:lnTo>
                  <a:lnTo>
                    <a:pt x="1303959" y="248780"/>
                  </a:lnTo>
                  <a:lnTo>
                    <a:pt x="1277988" y="231267"/>
                  </a:lnTo>
                  <a:lnTo>
                    <a:pt x="1246174" y="224840"/>
                  </a:lnTo>
                  <a:lnTo>
                    <a:pt x="1123607" y="224840"/>
                  </a:lnTo>
                  <a:lnTo>
                    <a:pt x="1123607" y="429247"/>
                  </a:lnTo>
                  <a:lnTo>
                    <a:pt x="1123607" y="1124216"/>
                  </a:lnTo>
                  <a:lnTo>
                    <a:pt x="429006" y="1124216"/>
                  </a:lnTo>
                  <a:lnTo>
                    <a:pt x="429006" y="429247"/>
                  </a:lnTo>
                  <a:lnTo>
                    <a:pt x="1123607" y="429247"/>
                  </a:lnTo>
                  <a:lnTo>
                    <a:pt x="1123607" y="224840"/>
                  </a:lnTo>
                  <a:lnTo>
                    <a:pt x="306438" y="224840"/>
                  </a:lnTo>
                  <a:lnTo>
                    <a:pt x="274624" y="231267"/>
                  </a:lnTo>
                  <a:lnTo>
                    <a:pt x="248653" y="248780"/>
                  </a:lnTo>
                  <a:lnTo>
                    <a:pt x="231140" y="274777"/>
                  </a:lnTo>
                  <a:lnTo>
                    <a:pt x="224713" y="306603"/>
                  </a:lnTo>
                  <a:lnTo>
                    <a:pt x="224713" y="1246860"/>
                  </a:lnTo>
                  <a:lnTo>
                    <a:pt x="231140" y="1278686"/>
                  </a:lnTo>
                  <a:lnTo>
                    <a:pt x="248653" y="1304671"/>
                  </a:lnTo>
                  <a:lnTo>
                    <a:pt x="274624" y="1322197"/>
                  </a:lnTo>
                  <a:lnTo>
                    <a:pt x="306438" y="1328623"/>
                  </a:lnTo>
                  <a:lnTo>
                    <a:pt x="1246174" y="1328623"/>
                  </a:lnTo>
                  <a:lnTo>
                    <a:pt x="1277988" y="1322197"/>
                  </a:lnTo>
                  <a:lnTo>
                    <a:pt x="1303959" y="1304671"/>
                  </a:lnTo>
                  <a:lnTo>
                    <a:pt x="1321473" y="1278686"/>
                  </a:lnTo>
                  <a:lnTo>
                    <a:pt x="1327899" y="1246860"/>
                  </a:lnTo>
                  <a:lnTo>
                    <a:pt x="1327899" y="1124216"/>
                  </a:lnTo>
                  <a:lnTo>
                    <a:pt x="1327899" y="429247"/>
                  </a:lnTo>
                  <a:lnTo>
                    <a:pt x="1327899" y="306603"/>
                  </a:lnTo>
                  <a:close/>
                </a:path>
                <a:path w="1553209" h="1553845">
                  <a:moveTo>
                    <a:pt x="1552613" y="1144663"/>
                  </a:moveTo>
                  <a:lnTo>
                    <a:pt x="1409611" y="1144663"/>
                  </a:lnTo>
                  <a:lnTo>
                    <a:pt x="1409611" y="1226413"/>
                  </a:lnTo>
                  <a:lnTo>
                    <a:pt x="1552613" y="1226413"/>
                  </a:lnTo>
                  <a:lnTo>
                    <a:pt x="1552613" y="1144663"/>
                  </a:lnTo>
                  <a:close/>
                </a:path>
                <a:path w="1553209" h="1553845">
                  <a:moveTo>
                    <a:pt x="1552613" y="981138"/>
                  </a:moveTo>
                  <a:lnTo>
                    <a:pt x="1409611" y="981138"/>
                  </a:lnTo>
                  <a:lnTo>
                    <a:pt x="1409611" y="1062901"/>
                  </a:lnTo>
                  <a:lnTo>
                    <a:pt x="1552613" y="1062901"/>
                  </a:lnTo>
                  <a:lnTo>
                    <a:pt x="1552613" y="981138"/>
                  </a:lnTo>
                  <a:close/>
                </a:path>
                <a:path w="1553209" h="1553845">
                  <a:moveTo>
                    <a:pt x="1552613" y="817613"/>
                  </a:moveTo>
                  <a:lnTo>
                    <a:pt x="1409611" y="817613"/>
                  </a:lnTo>
                  <a:lnTo>
                    <a:pt x="1409611" y="899375"/>
                  </a:lnTo>
                  <a:lnTo>
                    <a:pt x="1552613" y="899375"/>
                  </a:lnTo>
                  <a:lnTo>
                    <a:pt x="1552613" y="817613"/>
                  </a:lnTo>
                  <a:close/>
                </a:path>
                <a:path w="1553209" h="1553845">
                  <a:moveTo>
                    <a:pt x="1552613" y="654088"/>
                  </a:moveTo>
                  <a:lnTo>
                    <a:pt x="1409611" y="654088"/>
                  </a:lnTo>
                  <a:lnTo>
                    <a:pt x="1409611" y="735850"/>
                  </a:lnTo>
                  <a:lnTo>
                    <a:pt x="1552613" y="735850"/>
                  </a:lnTo>
                  <a:lnTo>
                    <a:pt x="1552613" y="654088"/>
                  </a:lnTo>
                  <a:close/>
                </a:path>
                <a:path w="1553209" h="1553845">
                  <a:moveTo>
                    <a:pt x="1552613" y="490562"/>
                  </a:moveTo>
                  <a:lnTo>
                    <a:pt x="1409611" y="490562"/>
                  </a:lnTo>
                  <a:lnTo>
                    <a:pt x="1409611" y="572325"/>
                  </a:lnTo>
                  <a:lnTo>
                    <a:pt x="1552613" y="572325"/>
                  </a:lnTo>
                  <a:lnTo>
                    <a:pt x="1552613" y="490562"/>
                  </a:lnTo>
                  <a:close/>
                </a:path>
                <a:path w="1553209" h="1553845">
                  <a:moveTo>
                    <a:pt x="1552613" y="327037"/>
                  </a:moveTo>
                  <a:lnTo>
                    <a:pt x="1409611" y="327037"/>
                  </a:lnTo>
                  <a:lnTo>
                    <a:pt x="1409611" y="408800"/>
                  </a:lnTo>
                  <a:lnTo>
                    <a:pt x="1552613" y="408800"/>
                  </a:lnTo>
                  <a:lnTo>
                    <a:pt x="1552613" y="327037"/>
                  </a:lnTo>
                  <a:close/>
                </a:path>
              </a:pathLst>
            </a:custGeom>
            <a:solidFill>
              <a:srgbClr val="395B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66359" y="4233671"/>
              <a:ext cx="1985010" cy="1983486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16001" y="216027"/>
            <a:ext cx="11736070" cy="2489143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270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30"/>
              </a:spcBef>
            </a:pPr>
            <a:r>
              <a:rPr lang="en-CA" sz="7200" dirty="0">
                <a:solidFill>
                  <a:schemeClr val="bg1"/>
                </a:solidFill>
                <a:latin typeface="+mj-lt"/>
                <a:cs typeface="Times New Roman"/>
              </a:rPr>
              <a:t>ENDPOINT &amp; APPLICATION DEVELOPMENT SECURITY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>
                <a:latin typeface="Cambria"/>
                <a:cs typeface="Cambria"/>
              </a:rPr>
              <a:t>1</a:t>
            </a:fld>
            <a:endParaRPr spc="-5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3172" y="829818"/>
            <a:ext cx="972312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CA" sz="4400" dirty="0">
                <a:latin typeface="+mj-lt"/>
              </a:rPr>
              <a:t>REFERENCES AND ACKNOWLEDGEMENT</a:t>
            </a:r>
            <a:endParaRPr sz="4400" dirty="0">
              <a:latin typeface="+mj-l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25"/>
              </a:lnSpc>
            </a:pPr>
            <a:r>
              <a:rPr spc="-150" dirty="0"/>
              <a:t>ALI</a:t>
            </a:r>
            <a:r>
              <a:rPr spc="-95" dirty="0"/>
              <a:t> </a:t>
            </a:r>
            <a:r>
              <a:rPr spc="-180" dirty="0"/>
              <a:t>HASSAN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pc="-150" dirty="0"/>
              <a:t>2</a:t>
            </a:fld>
            <a:endParaRPr spc="-150" dirty="0"/>
          </a:p>
        </p:txBody>
      </p:sp>
      <p:sp>
        <p:nvSpPr>
          <p:cNvPr id="3" name="object 3"/>
          <p:cNvSpPr txBox="1"/>
          <p:nvPr/>
        </p:nvSpPr>
        <p:spPr>
          <a:xfrm>
            <a:off x="1117920" y="1727005"/>
            <a:ext cx="9140190" cy="4301177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40"/>
              </a:spcBef>
            </a:pPr>
            <a:r>
              <a:rPr sz="2200" b="1" dirty="0">
                <a:latin typeface="Arial"/>
                <a:cs typeface="Arial"/>
              </a:rPr>
              <a:t>References</a:t>
            </a:r>
            <a:endParaRPr sz="2200" dirty="0">
              <a:latin typeface="Arial"/>
              <a:cs typeface="Arial"/>
            </a:endParaRPr>
          </a:p>
          <a:p>
            <a:pPr marL="38100">
              <a:lnSpc>
                <a:spcPts val="2510"/>
              </a:lnSpc>
              <a:spcBef>
                <a:spcPts val="1140"/>
              </a:spcBef>
            </a:pPr>
            <a:r>
              <a:rPr sz="2200" dirty="0">
                <a:latin typeface="Arial MT"/>
                <a:cs typeface="Arial MT"/>
              </a:rPr>
              <a:t>[CIAM] “CompTIA® Security+ Guide to Network Security Fundamentals” by Mark</a:t>
            </a:r>
            <a:r>
              <a:rPr lang="en-CA" sz="22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Ciampa, 7</a:t>
            </a:r>
            <a:r>
              <a:rPr sz="2175" baseline="24904" dirty="0">
                <a:latin typeface="Arial MT"/>
                <a:cs typeface="Arial MT"/>
              </a:rPr>
              <a:t>th </a:t>
            </a:r>
            <a:r>
              <a:rPr sz="2200" dirty="0">
                <a:latin typeface="Arial MT"/>
                <a:cs typeface="Arial MT"/>
              </a:rPr>
              <a:t>edition, Publisher: Cengage Learning</a:t>
            </a:r>
          </a:p>
          <a:p>
            <a:pPr marL="38100">
              <a:lnSpc>
                <a:spcPts val="2510"/>
              </a:lnSpc>
              <a:spcBef>
                <a:spcPts val="1125"/>
              </a:spcBef>
            </a:pPr>
            <a:r>
              <a:rPr sz="2200" dirty="0">
                <a:latin typeface="Arial MT"/>
                <a:cs typeface="Arial MT"/>
              </a:rPr>
              <a:t>[STAL] “Network Security Essentials,” by William Stallings, 5</a:t>
            </a:r>
            <a:r>
              <a:rPr sz="2175" baseline="24904" dirty="0">
                <a:latin typeface="Arial MT"/>
                <a:cs typeface="Arial MT"/>
              </a:rPr>
              <a:t>th </a:t>
            </a:r>
            <a:r>
              <a:rPr sz="2200" dirty="0">
                <a:latin typeface="Arial MT"/>
                <a:cs typeface="Arial MT"/>
              </a:rPr>
              <a:t>edition, Publisher:</a:t>
            </a:r>
            <a:r>
              <a:rPr lang="en-CA" sz="22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Pearson</a:t>
            </a:r>
            <a:endParaRPr lang="en-CA" sz="2200" dirty="0">
              <a:latin typeface="Arial MT"/>
              <a:cs typeface="Arial MT"/>
            </a:endParaRPr>
          </a:p>
          <a:p>
            <a:pPr marL="38100">
              <a:lnSpc>
                <a:spcPts val="2510"/>
              </a:lnSpc>
              <a:spcBef>
                <a:spcPts val="1125"/>
              </a:spcBef>
            </a:pPr>
            <a:endParaRPr sz="2200" dirty="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2200" b="1" dirty="0">
                <a:latin typeface="Arial"/>
                <a:cs typeface="Arial"/>
              </a:rPr>
              <a:t>Acknowledgement</a:t>
            </a:r>
            <a:endParaRPr sz="22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125"/>
              </a:spcBef>
            </a:pPr>
            <a:r>
              <a:rPr sz="2200" dirty="0">
                <a:latin typeface="Arial MT"/>
                <a:cs typeface="Arial MT"/>
              </a:rPr>
              <a:t>Some of the material presented here is taken from:</a:t>
            </a:r>
            <a:endParaRPr lang="en-CA" sz="2200" dirty="0">
              <a:latin typeface="Arial MT"/>
              <a:cs typeface="Arial MT"/>
            </a:endParaRPr>
          </a:p>
          <a:p>
            <a:pPr marL="381000" lvl="2" indent="-342900">
              <a:spcBef>
                <a:spcPts val="1125"/>
              </a:spcBef>
              <a:buFont typeface="Arial" panose="020B0604020202020204" pitchFamily="34" charset="0"/>
              <a:buChar char="•"/>
            </a:pPr>
            <a:r>
              <a:rPr sz="2200" dirty="0">
                <a:latin typeface="Arial MT"/>
                <a:cs typeface="Arial MT"/>
              </a:rPr>
              <a:t>The referenced textbook [CIAM] by Cengage Learning.</a:t>
            </a:r>
            <a:endParaRPr lang="en-CA" sz="2200" dirty="0">
              <a:latin typeface="Arial MT"/>
              <a:cs typeface="Arial MT"/>
            </a:endParaRPr>
          </a:p>
          <a:p>
            <a:pPr marL="381000" lvl="2" indent="-342900">
              <a:spcBef>
                <a:spcPts val="1125"/>
              </a:spcBef>
              <a:buFont typeface="Arial" panose="020B0604020202020204" pitchFamily="34" charset="0"/>
              <a:buChar char="•"/>
            </a:pPr>
            <a:r>
              <a:rPr sz="2200" dirty="0">
                <a:latin typeface="Arial MT"/>
                <a:cs typeface="Arial MT"/>
              </a:rPr>
              <a:t>Other references are cited individually.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+mj-lt"/>
              </a:rPr>
              <a:t>LECTURE LAYOUT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25"/>
              </a:lnSpc>
            </a:pPr>
            <a:r>
              <a:rPr spc="-150" dirty="0"/>
              <a:t>ALI</a:t>
            </a:r>
            <a:r>
              <a:rPr spc="-95" dirty="0"/>
              <a:t> </a:t>
            </a:r>
            <a:r>
              <a:rPr spc="-180" dirty="0"/>
              <a:t>HASSAN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pc="-150" dirty="0"/>
              <a:t>3</a:t>
            </a:fld>
            <a:endParaRPr spc="-150" dirty="0"/>
          </a:p>
        </p:txBody>
      </p:sp>
      <p:sp>
        <p:nvSpPr>
          <p:cNvPr id="3" name="object 3"/>
          <p:cNvSpPr txBox="1"/>
          <p:nvPr/>
        </p:nvSpPr>
        <p:spPr>
          <a:xfrm>
            <a:off x="1156512" y="2120925"/>
            <a:ext cx="8673288" cy="11535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20090">
              <a:lnSpc>
                <a:spcPct val="131800"/>
              </a:lnSpc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Threat Intelligence Sources Securing endpoints</a:t>
            </a: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2800" dirty="0">
                <a:latin typeface="Arial MT"/>
                <a:cs typeface="Arial MT"/>
              </a:rPr>
              <a:t>Create and deploy SecDevOps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+mj-lt"/>
              </a:rPr>
              <a:t>THREAT INTELLIGENCE SOURCES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pc="-150" dirty="0"/>
              <a:t>4</a:t>
            </a:fld>
            <a:endParaRPr spc="-150" dirty="0"/>
          </a:p>
        </p:txBody>
      </p:sp>
      <p:sp>
        <p:nvSpPr>
          <p:cNvPr id="3" name="object 3"/>
          <p:cNvSpPr txBox="1"/>
          <p:nvPr/>
        </p:nvSpPr>
        <p:spPr>
          <a:xfrm>
            <a:off x="1148892" y="2103247"/>
            <a:ext cx="9681210" cy="42800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7145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 MT"/>
                <a:cs typeface="Arial MT"/>
              </a:rPr>
              <a:t>Organizations </a:t>
            </a:r>
            <a:r>
              <a:rPr sz="2200" dirty="0">
                <a:solidFill>
                  <a:srgbClr val="C00000"/>
                </a:solidFill>
                <a:latin typeface="Arial MT"/>
                <a:cs typeface="Arial MT"/>
              </a:rPr>
              <a:t>share </a:t>
            </a:r>
            <a:r>
              <a:rPr sz="2200" dirty="0">
                <a:latin typeface="Arial MT"/>
                <a:cs typeface="Arial MT"/>
              </a:rPr>
              <a:t>resources and </a:t>
            </a:r>
            <a:r>
              <a:rPr sz="2200" dirty="0">
                <a:solidFill>
                  <a:srgbClr val="C00000"/>
                </a:solidFill>
                <a:latin typeface="Arial MT"/>
                <a:cs typeface="Arial MT"/>
              </a:rPr>
              <a:t>knowledge </a:t>
            </a:r>
            <a:r>
              <a:rPr sz="2200" dirty="0">
                <a:latin typeface="Arial MT"/>
                <a:cs typeface="Arial MT"/>
              </a:rPr>
              <a:t>about the latest cyber-attacks with the broader security community.</a:t>
            </a: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solidFill>
                  <a:srgbClr val="C00000"/>
                </a:solidFill>
                <a:latin typeface="Arial MT"/>
                <a:cs typeface="Arial MT"/>
              </a:rPr>
              <a:t>Key risk indicators </a:t>
            </a:r>
            <a:r>
              <a:rPr sz="2200" dirty="0">
                <a:latin typeface="Arial MT"/>
                <a:cs typeface="Arial MT"/>
              </a:rPr>
              <a:t>(KRIs) are metrics that define the upper and lower bounds of normal</a:t>
            </a:r>
            <a:r>
              <a:rPr lang="en-CA" sz="22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network activity.</a:t>
            </a:r>
          </a:p>
          <a:p>
            <a:pPr marL="391795" marR="664845" indent="-342900">
              <a:lnSpc>
                <a:spcPct val="1000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Example</a:t>
            </a:r>
            <a:r>
              <a:rPr sz="2000" dirty="0">
                <a:latin typeface="Arial MT"/>
                <a:cs typeface="Arial MT"/>
              </a:rPr>
              <a:t>: total network logs per second</a:t>
            </a:r>
            <a:r>
              <a:rPr lang="en-CA" sz="2000" dirty="0">
                <a:latin typeface="Arial MT"/>
                <a:cs typeface="Arial MT"/>
              </a:rPr>
              <a:t> </a:t>
            </a:r>
            <a:r>
              <a:rPr lang="en-CA" sz="1400" dirty="0">
                <a:latin typeface="Arial MT"/>
                <a:cs typeface="Arial MT"/>
              </a:rPr>
              <a:t>(</a:t>
            </a:r>
            <a:r>
              <a:rPr lang="en-US" sz="1400" dirty="0"/>
              <a:t>A sudden spike might indicate unusual activity)</a:t>
            </a:r>
            <a:r>
              <a:rPr sz="2000" dirty="0">
                <a:latin typeface="Arial MT"/>
                <a:cs typeface="Arial MT"/>
              </a:rPr>
              <a:t>, number of failed remote logins</a:t>
            </a:r>
            <a:r>
              <a:rPr lang="en-CA" sz="2000" dirty="0">
                <a:latin typeface="Arial MT"/>
                <a:cs typeface="Arial MT"/>
              </a:rPr>
              <a:t> </a:t>
            </a:r>
            <a:r>
              <a:rPr lang="en-CA" sz="1600" dirty="0">
                <a:latin typeface="Arial MT"/>
                <a:cs typeface="Arial MT"/>
              </a:rPr>
              <a:t>(</a:t>
            </a:r>
            <a:r>
              <a:rPr lang="en-CA" sz="1600" dirty="0"/>
              <a:t>Multiple login failures might suggest a brute-force attack)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lang="en-CA" sz="20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etc.</a:t>
            </a: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A KRI exceeding its normal bounds could be an </a:t>
            </a:r>
            <a:r>
              <a:rPr sz="2200" dirty="0">
                <a:solidFill>
                  <a:srgbClr val="C00000"/>
                </a:solidFill>
                <a:latin typeface="Arial MT"/>
                <a:cs typeface="Arial MT"/>
              </a:rPr>
              <a:t>indicator of compromise </a:t>
            </a:r>
            <a:r>
              <a:rPr sz="2200" dirty="0">
                <a:latin typeface="Arial MT"/>
                <a:cs typeface="Arial MT"/>
              </a:rPr>
              <a:t>(IOC)</a:t>
            </a:r>
          </a:p>
          <a:p>
            <a:pPr marL="391795" indent="-342900">
              <a:lnSpc>
                <a:spcPct val="1000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sz="2000" dirty="0">
                <a:latin typeface="Arial MT"/>
                <a:cs typeface="Arial MT"/>
              </a:rPr>
              <a:t>An IOC shows that a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malicious activity </a:t>
            </a:r>
            <a:r>
              <a:rPr sz="2000" dirty="0">
                <a:latin typeface="Arial MT"/>
                <a:cs typeface="Arial MT"/>
              </a:rPr>
              <a:t>is occurring but is still in the early stages of an attack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+mj-lt"/>
              </a:rPr>
              <a:t>THREAT INTELLIGENCE SOURCES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25"/>
              </a:lnSpc>
            </a:pPr>
            <a:r>
              <a:rPr spc="-150" dirty="0"/>
              <a:t>ALI</a:t>
            </a:r>
            <a:r>
              <a:rPr spc="-95" dirty="0"/>
              <a:t> </a:t>
            </a:r>
            <a:r>
              <a:rPr spc="-180" dirty="0"/>
              <a:t>HASSAN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pc="-150" dirty="0"/>
              <a:t>5</a:t>
            </a:fld>
            <a:endParaRPr spc="-150" dirty="0"/>
          </a:p>
        </p:txBody>
      </p:sp>
      <p:sp>
        <p:nvSpPr>
          <p:cNvPr id="3" name="object 3"/>
          <p:cNvSpPr txBox="1"/>
          <p:nvPr/>
        </p:nvSpPr>
        <p:spPr>
          <a:xfrm>
            <a:off x="1097534" y="1709240"/>
            <a:ext cx="9568180" cy="48263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C00000"/>
                </a:solidFill>
                <a:latin typeface="Arial MT"/>
                <a:cs typeface="Arial MT"/>
              </a:rPr>
              <a:t>Threat intelligence sources</a:t>
            </a:r>
            <a:r>
              <a:rPr sz="2200" dirty="0">
                <a:latin typeface="Arial MT"/>
                <a:cs typeface="Arial MT"/>
              </a:rPr>
              <a:t>: Open-source vs closed source</a:t>
            </a:r>
            <a:endParaRPr lang="en-CA" sz="2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2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Open-source threat intelligence information is often called open-source intelligence</a:t>
            </a:r>
            <a:r>
              <a:rPr lang="en-CA" sz="22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</a:t>
            </a:r>
            <a:r>
              <a:rPr sz="2200" dirty="0">
                <a:solidFill>
                  <a:srgbClr val="C00000"/>
                </a:solidFill>
                <a:latin typeface="Arial MT"/>
                <a:cs typeface="Arial MT"/>
              </a:rPr>
              <a:t>OSINT</a:t>
            </a:r>
            <a:r>
              <a:rPr sz="2200" dirty="0">
                <a:latin typeface="Arial MT"/>
                <a:cs typeface="Arial MT"/>
              </a:rPr>
              <a:t>) – </a:t>
            </a:r>
            <a:r>
              <a:rPr sz="2200" dirty="0">
                <a:solidFill>
                  <a:srgbClr val="0000FF"/>
                </a:solidFill>
                <a:latin typeface="Arial MT"/>
                <a:cs typeface="Arial MT"/>
              </a:rPr>
              <a:t>publicly </a:t>
            </a:r>
            <a:r>
              <a:rPr sz="2200" dirty="0">
                <a:latin typeface="Arial MT"/>
                <a:cs typeface="Arial MT"/>
              </a:rPr>
              <a:t>available and legally accessible</a:t>
            </a:r>
            <a:r>
              <a:rPr lang="en-CA" sz="2200" dirty="0">
                <a:latin typeface="Arial MT"/>
                <a:cs typeface="Arial MT"/>
              </a:rPr>
              <a:t> (</a:t>
            </a:r>
            <a:r>
              <a:rPr lang="en-CA" sz="2200" dirty="0">
                <a:latin typeface="Arial MT"/>
                <a:cs typeface="Arial MT"/>
                <a:hlinkClick r:id="rId2"/>
              </a:rPr>
              <a:t>https://osintframework.com/</a:t>
            </a:r>
            <a:r>
              <a:rPr lang="en-CA" sz="2200" dirty="0">
                <a:latin typeface="Arial MT"/>
                <a:cs typeface="Arial MT"/>
              </a:rPr>
              <a:t>)</a:t>
            </a:r>
          </a:p>
          <a:p>
            <a:pPr marL="12700">
              <a:lnSpc>
                <a:spcPct val="100000"/>
              </a:lnSpc>
            </a:pPr>
            <a:r>
              <a:rPr lang="en-US" sz="2200" dirty="0">
                <a:latin typeface="Arial MT"/>
              </a:rPr>
              <a:t>OSINT framework focused on gathering information from free tools or resources</a:t>
            </a:r>
            <a:endParaRPr lang="en-CA" sz="2200" dirty="0">
              <a:latin typeface="Arial MT"/>
            </a:endParaRPr>
          </a:p>
          <a:p>
            <a:pPr marL="12700">
              <a:lnSpc>
                <a:spcPct val="100000"/>
              </a:lnSpc>
            </a:pPr>
            <a:endParaRPr sz="2200" dirty="0">
              <a:latin typeface="Arial MT"/>
              <a:cs typeface="Arial MT"/>
            </a:endParaRPr>
          </a:p>
          <a:p>
            <a:pPr marL="12700" marR="378460">
              <a:lnSpc>
                <a:spcPct val="100000"/>
              </a:lnSpc>
            </a:pPr>
            <a:r>
              <a:rPr sz="2200" dirty="0">
                <a:solidFill>
                  <a:srgbClr val="C00000"/>
                </a:solidFill>
                <a:latin typeface="Arial MT"/>
                <a:cs typeface="Arial MT"/>
              </a:rPr>
              <a:t>Privacy</a:t>
            </a:r>
            <a:r>
              <a:rPr sz="2200" dirty="0">
                <a:latin typeface="Arial MT"/>
                <a:cs typeface="Arial MT"/>
              </a:rPr>
              <a:t>: an organization that is the victim of an attack must be careful not to share proprietary or </a:t>
            </a:r>
            <a:r>
              <a:rPr sz="2200" dirty="0">
                <a:solidFill>
                  <a:srgbClr val="0000FF"/>
                </a:solidFill>
                <a:latin typeface="Arial MT"/>
                <a:cs typeface="Arial MT"/>
              </a:rPr>
              <a:t>sensitive information </a:t>
            </a:r>
            <a:r>
              <a:rPr sz="2200" dirty="0">
                <a:latin typeface="Arial MT"/>
                <a:cs typeface="Arial MT"/>
              </a:rPr>
              <a:t>when providing IOCs and attack details</a:t>
            </a:r>
            <a:endParaRPr lang="en-CA" sz="2200" dirty="0">
              <a:latin typeface="Arial MT"/>
              <a:cs typeface="Arial MT"/>
            </a:endParaRPr>
          </a:p>
          <a:p>
            <a:pPr marL="12700" marR="378460">
              <a:lnSpc>
                <a:spcPct val="100000"/>
              </a:lnSpc>
            </a:pPr>
            <a:endParaRPr sz="22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200" dirty="0">
                <a:solidFill>
                  <a:srgbClr val="C00000"/>
                </a:solidFill>
                <a:latin typeface="Arial MT"/>
                <a:cs typeface="Arial MT"/>
              </a:rPr>
              <a:t>Tools</a:t>
            </a:r>
            <a:r>
              <a:rPr sz="2200" dirty="0">
                <a:latin typeface="Arial MT"/>
                <a:cs typeface="Arial MT"/>
              </a:rPr>
              <a:t>: Structured Threat Information Expression (</a:t>
            </a:r>
            <a:r>
              <a:rPr sz="2200" dirty="0">
                <a:solidFill>
                  <a:srgbClr val="0000FF"/>
                </a:solidFill>
                <a:latin typeface="Arial MT"/>
                <a:cs typeface="Arial MT"/>
              </a:rPr>
              <a:t>STIX</a:t>
            </a:r>
            <a:r>
              <a:rPr sz="2200" dirty="0">
                <a:latin typeface="Arial MT"/>
                <a:cs typeface="Arial MT"/>
              </a:rPr>
              <a:t>), Trusted Automated Exchange of Intelligence Information (</a:t>
            </a:r>
            <a:r>
              <a:rPr sz="2200" dirty="0">
                <a:solidFill>
                  <a:srgbClr val="0000FF"/>
                </a:solidFill>
                <a:latin typeface="Arial MT"/>
                <a:cs typeface="Arial MT"/>
              </a:rPr>
              <a:t>TAXII</a:t>
            </a:r>
            <a:r>
              <a:rPr sz="2200" dirty="0">
                <a:latin typeface="Arial MT"/>
                <a:cs typeface="Arial MT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+mj-lt"/>
              </a:rPr>
              <a:t>THREAT INTELLIGENCE SOURCES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25"/>
              </a:lnSpc>
            </a:pPr>
            <a:r>
              <a:rPr spc="-150" dirty="0"/>
              <a:t>ALI</a:t>
            </a:r>
            <a:r>
              <a:rPr spc="-95" dirty="0"/>
              <a:t> </a:t>
            </a:r>
            <a:r>
              <a:rPr spc="-180" dirty="0"/>
              <a:t>HASSAN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pc="-150" dirty="0"/>
              <a:t>6</a:t>
            </a:fld>
            <a:endParaRPr spc="-150" dirty="0"/>
          </a:p>
        </p:txBody>
      </p:sp>
      <p:sp>
        <p:nvSpPr>
          <p:cNvPr id="3" name="object 3"/>
          <p:cNvSpPr txBox="1"/>
          <p:nvPr/>
        </p:nvSpPr>
        <p:spPr>
          <a:xfrm>
            <a:off x="1295400" y="1799214"/>
            <a:ext cx="8823783" cy="45525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Sources </a:t>
            </a:r>
            <a:r>
              <a:rPr sz="2400" dirty="0">
                <a:latin typeface="Arial MT"/>
                <a:cs typeface="Arial MT"/>
              </a:rPr>
              <a:t>of threat intelligence that are useful:</a:t>
            </a:r>
            <a:endParaRPr lang="en-CA" sz="2400" dirty="0">
              <a:latin typeface="Arial MT"/>
              <a:cs typeface="Arial MT"/>
            </a:endParaRPr>
          </a:p>
          <a:p>
            <a:pPr marL="12700" lvl="5"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Vulnerability database</a:t>
            </a:r>
            <a:endParaRPr lang="en-CA" sz="2000" dirty="0">
              <a:latin typeface="Arial MT"/>
              <a:cs typeface="Arial MT"/>
            </a:endParaRPr>
          </a:p>
          <a:p>
            <a:pPr marL="355600" lvl="8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600" u="sng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Arial MT"/>
                <a:cs typeface="Arial MT"/>
                <a:hlinkClick r:id="rId2"/>
              </a:rPr>
              <a:t>https://www.cve.org/</a:t>
            </a:r>
            <a:endParaRPr lang="en-CA" sz="1600" dirty="0">
              <a:latin typeface="Arial MT"/>
              <a:cs typeface="Arial MT"/>
            </a:endParaRPr>
          </a:p>
          <a:p>
            <a:pPr marL="355600" lvl="8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600" u="sng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Arial MT"/>
                <a:cs typeface="Arial MT"/>
                <a:hlinkClick r:id="rId3"/>
              </a:rPr>
              <a:t>https://nvd.nist.gov/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600" dirty="0">
              <a:latin typeface="Arial MT"/>
              <a:cs typeface="Arial MT"/>
            </a:endParaRPr>
          </a:p>
          <a:p>
            <a:pPr marL="48895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Threat maps</a:t>
            </a:r>
            <a:endParaRPr lang="en-CA" sz="2000" dirty="0">
              <a:latin typeface="Arial MT"/>
              <a:cs typeface="Arial MT"/>
            </a:endParaRPr>
          </a:p>
          <a:p>
            <a:pPr marL="334645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600" u="sng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Arial MT"/>
                <a:cs typeface="Arial MT"/>
                <a:hlinkClick r:id="rId4"/>
              </a:rPr>
              <a:t>https://threatmap.checkpoint.com/</a:t>
            </a:r>
            <a:endParaRPr lang="en-CA" sz="1600" dirty="0">
              <a:latin typeface="Arial MT"/>
              <a:cs typeface="Arial MT"/>
            </a:endParaRPr>
          </a:p>
          <a:p>
            <a:pPr marL="334645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600" u="sng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Arial MT"/>
                <a:cs typeface="Arial MT"/>
                <a:hlinkClick r:id="rId5"/>
              </a:rPr>
              <a:t>https://livethreatmap.radware.com/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600" dirty="0">
              <a:latin typeface="Arial MT"/>
              <a:cs typeface="Arial MT"/>
            </a:endParaRPr>
          </a:p>
          <a:p>
            <a:pPr marL="48895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File and code repositories</a:t>
            </a:r>
            <a:endParaRPr lang="en-CA" sz="2000" dirty="0">
              <a:latin typeface="Arial MT"/>
              <a:cs typeface="Arial MT"/>
            </a:endParaRPr>
          </a:p>
          <a:p>
            <a:pPr marL="334645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600" u="sng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Arial MT"/>
                <a:cs typeface="Arial MT"/>
                <a:hlinkClick r:id="rId6"/>
              </a:rPr>
              <a:t>https://bazaar.abuse.ch/</a:t>
            </a:r>
            <a:endParaRPr lang="en-CA" sz="1600" dirty="0">
              <a:latin typeface="Arial MT"/>
              <a:cs typeface="Arial MT"/>
            </a:endParaRPr>
          </a:p>
          <a:p>
            <a:pPr marL="334645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600" u="sng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Arial MT"/>
                <a:cs typeface="Arial MT"/>
                <a:hlinkClick r:id="rId7"/>
              </a:rPr>
              <a:t>https://www.virustotal.com/</a:t>
            </a:r>
            <a:endParaRPr lang="en-CA" sz="1600" dirty="0">
              <a:latin typeface="Arial MT"/>
              <a:cs typeface="Arial MT"/>
            </a:endParaRPr>
          </a:p>
          <a:p>
            <a:pPr marL="334645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600" u="sng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Arial MT"/>
                <a:cs typeface="Arial MT"/>
                <a:hlinkClick r:id="rId8"/>
              </a:rPr>
              <a:t>https://app.any.run/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600" dirty="0">
              <a:latin typeface="Arial MT"/>
              <a:cs typeface="Arial MT"/>
            </a:endParaRPr>
          </a:p>
          <a:p>
            <a:pPr marL="48895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Dark web</a:t>
            </a:r>
            <a:endParaRPr lang="en-CA" sz="2000" dirty="0">
              <a:latin typeface="Arial MT"/>
              <a:cs typeface="Arial MT"/>
            </a:endParaRPr>
          </a:p>
          <a:p>
            <a:pPr marL="334645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600" u="sng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Arial MT"/>
                <a:cs typeface="Arial MT"/>
                <a:hlinkClick r:id="rId9"/>
              </a:rPr>
              <a:t>https://www.youtube.com/watch?v=H7-pJiC-N-g</a:t>
            </a:r>
            <a:endParaRPr sz="1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+mj-lt"/>
              </a:rPr>
              <a:t>KNOWLEDGE CHECK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25"/>
              </a:lnSpc>
            </a:pPr>
            <a:r>
              <a:rPr spc="-150" dirty="0"/>
              <a:t>ALI</a:t>
            </a:r>
            <a:r>
              <a:rPr spc="-95" dirty="0"/>
              <a:t> </a:t>
            </a:r>
            <a:r>
              <a:rPr spc="-180" dirty="0"/>
              <a:t>HASSAN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pc="-150" dirty="0"/>
              <a:t>7</a:t>
            </a:fld>
            <a:endParaRPr spc="-150" dirty="0"/>
          </a:p>
        </p:txBody>
      </p:sp>
      <p:sp>
        <p:nvSpPr>
          <p:cNvPr id="3" name="object 3"/>
          <p:cNvSpPr txBox="1"/>
          <p:nvPr/>
        </p:nvSpPr>
        <p:spPr>
          <a:xfrm>
            <a:off x="1057147" y="2266315"/>
            <a:ext cx="8953500" cy="220789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latin typeface="Arial MT"/>
                <a:cs typeface="Arial MT"/>
              </a:rPr>
              <a:t>What is the significance of a KRI (Key Risk Indicator) exceeding its normal bounds.</a:t>
            </a:r>
          </a:p>
          <a:p>
            <a:pPr marL="648335" indent="-292735">
              <a:lnSpc>
                <a:spcPct val="100000"/>
              </a:lnSpc>
              <a:spcBef>
                <a:spcPts val="105"/>
              </a:spcBef>
              <a:buAutoNum type="alphaLcPeriod"/>
              <a:tabLst>
                <a:tab pos="648335" algn="l"/>
              </a:tabLst>
            </a:pPr>
            <a:r>
              <a:rPr sz="2200" dirty="0">
                <a:latin typeface="Arial MT"/>
                <a:cs typeface="Arial MT"/>
              </a:rPr>
              <a:t>It must be referred to the DHS (Department of Homeland Security).</a:t>
            </a:r>
          </a:p>
          <a:p>
            <a:pPr marL="642620" indent="-287020">
              <a:lnSpc>
                <a:spcPct val="100000"/>
              </a:lnSpc>
              <a:spcBef>
                <a:spcPts val="335"/>
              </a:spcBef>
              <a:buAutoNum type="alphaLcPeriod"/>
              <a:tabLst>
                <a:tab pos="642620" algn="l"/>
              </a:tabLst>
            </a:pPr>
            <a:r>
              <a:rPr sz="2200" dirty="0">
                <a:latin typeface="Arial MT"/>
                <a:cs typeface="Arial MT"/>
              </a:rPr>
              <a:t>It could be an IOC (Indicator of Compromise).</a:t>
            </a:r>
          </a:p>
          <a:p>
            <a:pPr marL="600710" indent="-245110">
              <a:lnSpc>
                <a:spcPct val="100000"/>
              </a:lnSpc>
              <a:spcBef>
                <a:spcPts val="340"/>
              </a:spcBef>
              <a:buAutoNum type="alphaLcPeriod"/>
              <a:tabLst>
                <a:tab pos="600710" algn="l"/>
              </a:tabLst>
            </a:pPr>
            <a:r>
              <a:rPr sz="2200" dirty="0">
                <a:latin typeface="Arial MT"/>
                <a:cs typeface="Arial MT"/>
              </a:rPr>
              <a:t>It probably contains a TTP (Tactics, Techniques, and Procedures).</a:t>
            </a:r>
          </a:p>
          <a:p>
            <a:pPr marL="648335" indent="-292735">
              <a:lnSpc>
                <a:spcPct val="100000"/>
              </a:lnSpc>
              <a:spcBef>
                <a:spcPts val="335"/>
              </a:spcBef>
              <a:buAutoNum type="alphaLcPeriod"/>
              <a:tabLst>
                <a:tab pos="648335" algn="l"/>
              </a:tabLst>
            </a:pPr>
            <a:r>
              <a:rPr sz="2200" dirty="0">
                <a:latin typeface="Arial MT"/>
                <a:cs typeface="Arial MT"/>
              </a:rPr>
              <a:t>An AIS (Automated Indicator Sharing) should be generated.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+mj-lt"/>
              </a:rPr>
              <a:t>KNOWLEDGE CHECK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25"/>
              </a:lnSpc>
            </a:pPr>
            <a:r>
              <a:rPr spc="-150" dirty="0"/>
              <a:t>ALI</a:t>
            </a:r>
            <a:r>
              <a:rPr spc="-95" dirty="0"/>
              <a:t> </a:t>
            </a:r>
            <a:r>
              <a:rPr spc="-180" dirty="0"/>
              <a:t>HASSAN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pc="-150" dirty="0"/>
              <a:t>8</a:t>
            </a:fld>
            <a:endParaRPr spc="-150" dirty="0"/>
          </a:p>
        </p:txBody>
      </p:sp>
      <p:sp>
        <p:nvSpPr>
          <p:cNvPr id="3" name="object 3"/>
          <p:cNvSpPr txBox="1"/>
          <p:nvPr/>
        </p:nvSpPr>
        <p:spPr>
          <a:xfrm>
            <a:off x="1057146" y="2246328"/>
            <a:ext cx="8696453" cy="1884489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2400" dirty="0">
                <a:latin typeface="Arial MT"/>
                <a:cs typeface="Arial MT"/>
              </a:rPr>
              <a:t>What does an Indicator of Compromise (IOC) signify.</a:t>
            </a:r>
          </a:p>
          <a:p>
            <a:pPr marL="479425" indent="-292735">
              <a:lnSpc>
                <a:spcPct val="100000"/>
              </a:lnSpc>
              <a:spcBef>
                <a:spcPts val="140"/>
              </a:spcBef>
              <a:buAutoNum type="alphaLcPeriod"/>
              <a:tabLst>
                <a:tab pos="479425" algn="l"/>
              </a:tabLst>
            </a:pPr>
            <a:r>
              <a:rPr sz="2200" dirty="0">
                <a:latin typeface="Arial MT"/>
                <a:cs typeface="Arial MT"/>
              </a:rPr>
              <a:t>A successful software update</a:t>
            </a:r>
          </a:p>
          <a:p>
            <a:pPr marL="473709" indent="-287020">
              <a:lnSpc>
                <a:spcPct val="100000"/>
              </a:lnSpc>
              <a:spcBef>
                <a:spcPts val="335"/>
              </a:spcBef>
              <a:buAutoNum type="alphaLcPeriod"/>
              <a:tabLst>
                <a:tab pos="473709" algn="l"/>
              </a:tabLst>
            </a:pPr>
            <a:r>
              <a:rPr sz="2200" dirty="0">
                <a:latin typeface="Arial MT"/>
                <a:cs typeface="Arial MT"/>
              </a:rPr>
              <a:t>Evidence that a system or network has been breached</a:t>
            </a:r>
          </a:p>
          <a:p>
            <a:pPr marL="432434" indent="-245745">
              <a:lnSpc>
                <a:spcPct val="100000"/>
              </a:lnSpc>
              <a:spcBef>
                <a:spcPts val="340"/>
              </a:spcBef>
              <a:buAutoNum type="alphaLcPeriod"/>
              <a:tabLst>
                <a:tab pos="432434" algn="l"/>
              </a:tabLst>
            </a:pPr>
            <a:r>
              <a:rPr sz="2200" dirty="0">
                <a:latin typeface="Arial MT"/>
                <a:cs typeface="Arial MT"/>
              </a:rPr>
              <a:t>A routine network maintenance activity</a:t>
            </a:r>
          </a:p>
          <a:p>
            <a:pPr marL="479425" indent="-292735">
              <a:lnSpc>
                <a:spcPct val="100000"/>
              </a:lnSpc>
              <a:spcBef>
                <a:spcPts val="335"/>
              </a:spcBef>
              <a:buAutoNum type="alphaLcPeriod"/>
              <a:tabLst>
                <a:tab pos="479425" algn="l"/>
              </a:tabLst>
            </a:pPr>
            <a:r>
              <a:rPr sz="2200" dirty="0">
                <a:latin typeface="Arial MT"/>
                <a:cs typeface="Arial MT"/>
              </a:rPr>
              <a:t>A type of encryption algorithm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+mj-lt"/>
              </a:rPr>
              <a:t>SECURING ENDPOINTS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25"/>
              </a:lnSpc>
            </a:pPr>
            <a:r>
              <a:rPr spc="-150" dirty="0"/>
              <a:t>ALI</a:t>
            </a:r>
            <a:r>
              <a:rPr spc="-95" dirty="0"/>
              <a:t> </a:t>
            </a:r>
            <a:r>
              <a:rPr spc="-180" dirty="0"/>
              <a:t>HASSAN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pc="-150" dirty="0"/>
              <a:t>9</a:t>
            </a:fld>
            <a:endParaRPr spc="-150" dirty="0"/>
          </a:p>
        </p:txBody>
      </p:sp>
      <p:sp>
        <p:nvSpPr>
          <p:cNvPr id="3" name="object 3"/>
          <p:cNvSpPr txBox="1"/>
          <p:nvPr/>
        </p:nvSpPr>
        <p:spPr>
          <a:xfrm>
            <a:off x="1148892" y="2246838"/>
            <a:ext cx="8376108" cy="1375377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2200" dirty="0">
                <a:latin typeface="Arial MT"/>
                <a:cs typeface="Arial MT"/>
              </a:rPr>
              <a:t>Securing endpoint computers primarily involves three major tasks:</a:t>
            </a:r>
          </a:p>
          <a:p>
            <a:pPr marL="391795" indent="-342900">
              <a:lnSpc>
                <a:spcPct val="100000"/>
              </a:lnSpc>
              <a:spcBef>
                <a:spcPts val="175"/>
              </a:spcBef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Confirming </a:t>
            </a:r>
            <a:r>
              <a:rPr sz="2000" dirty="0">
                <a:latin typeface="Arial MT"/>
                <a:cs typeface="Arial MT"/>
              </a:rPr>
              <a:t>that the computer has started securely</a:t>
            </a:r>
            <a:endParaRPr lang="en-CA" sz="2000" dirty="0">
              <a:latin typeface="Arial MT"/>
              <a:cs typeface="Arial MT"/>
            </a:endParaRPr>
          </a:p>
          <a:p>
            <a:pPr marL="391795" indent="-342900">
              <a:lnSpc>
                <a:spcPct val="100000"/>
              </a:lnSpc>
              <a:spcBef>
                <a:spcPts val="175"/>
              </a:spcBef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Protecting </a:t>
            </a:r>
            <a:r>
              <a:rPr sz="2000" dirty="0">
                <a:latin typeface="Arial MT"/>
                <a:cs typeface="Arial MT"/>
              </a:rPr>
              <a:t>the computer from attacks</a:t>
            </a:r>
            <a:endParaRPr lang="en-CA" sz="2000" dirty="0">
              <a:latin typeface="Arial MT"/>
              <a:cs typeface="Arial MT"/>
            </a:endParaRPr>
          </a:p>
          <a:p>
            <a:pPr marL="391795" indent="-342900">
              <a:lnSpc>
                <a:spcPct val="100000"/>
              </a:lnSpc>
              <a:spcBef>
                <a:spcPts val="175"/>
              </a:spcBef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Hardening </a:t>
            </a:r>
            <a:r>
              <a:rPr sz="2000" dirty="0">
                <a:latin typeface="Arial MT"/>
                <a:cs typeface="Arial MT"/>
              </a:rPr>
              <a:t>it for even greater protection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3171" y="829818"/>
            <a:ext cx="1082581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latin typeface="+mj-lt"/>
              </a:rPr>
              <a:t>SECURING ENDPOINTS (CONFIRM BOOT INTEGRITY)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1084" y="1584835"/>
            <a:ext cx="6236335" cy="239681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107950">
              <a:lnSpc>
                <a:spcPts val="2380"/>
              </a:lnSpc>
              <a:spcBef>
                <a:spcPts val="390"/>
              </a:spcBef>
            </a:pPr>
            <a:r>
              <a:rPr sz="2200" dirty="0">
                <a:latin typeface="Arial MT"/>
                <a:cs typeface="Arial MT"/>
              </a:rPr>
              <a:t>Ensuring secure startup involves the </a:t>
            </a:r>
            <a:r>
              <a:rPr sz="2200" dirty="0">
                <a:solidFill>
                  <a:srgbClr val="C00000"/>
                </a:solidFill>
                <a:latin typeface="Arial MT"/>
                <a:cs typeface="Arial MT"/>
              </a:rPr>
              <a:t>Unified Extensible Firmware Interface </a:t>
            </a:r>
            <a:r>
              <a:rPr sz="2200" dirty="0">
                <a:latin typeface="Arial MT"/>
                <a:cs typeface="Arial MT"/>
              </a:rPr>
              <a:t>(UEFI) and its boot security features</a:t>
            </a:r>
          </a:p>
          <a:p>
            <a:pPr marL="391795" indent="-342900">
              <a:lnSpc>
                <a:spcPts val="228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sz="2000" dirty="0">
                <a:latin typeface="Arial MT"/>
                <a:cs typeface="Arial MT"/>
              </a:rPr>
              <a:t>UEFI replaced the older BIOS (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Basic Input/Output</a:t>
            </a:r>
            <a:r>
              <a:rPr sz="2000" dirty="0">
                <a:latin typeface="Arial MT"/>
                <a:cs typeface="Arial MT"/>
              </a:rPr>
              <a:t>) firmware</a:t>
            </a:r>
            <a:r>
              <a:rPr lang="en-CA" sz="20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interface and offers many advantages</a:t>
            </a:r>
          </a:p>
          <a:p>
            <a:pPr marL="12700" marR="328930">
              <a:lnSpc>
                <a:spcPts val="2380"/>
              </a:lnSpc>
              <a:spcBef>
                <a:spcPts val="1625"/>
              </a:spcBef>
            </a:pPr>
            <a:r>
              <a:rPr sz="2200" dirty="0">
                <a:latin typeface="Arial MT"/>
                <a:cs typeface="Arial MT"/>
              </a:rPr>
              <a:t>The ability to update the BIOS introduce risk of </a:t>
            </a:r>
            <a:r>
              <a:rPr sz="2200" dirty="0">
                <a:solidFill>
                  <a:srgbClr val="C00000"/>
                </a:solidFill>
                <a:latin typeface="Arial MT"/>
                <a:cs typeface="Arial MT"/>
              </a:rPr>
              <a:t>BIOS attacks</a:t>
            </a:r>
            <a:r>
              <a:rPr sz="2200" dirty="0">
                <a:latin typeface="Arial MT"/>
                <a:cs typeface="Arial MT"/>
              </a:rPr>
              <a:t>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32878" y="1727200"/>
            <a:ext cx="4396105" cy="230797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738107" y="4114038"/>
            <a:ext cx="24066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u="sng" spc="-114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3"/>
              </a:rPr>
              <a:t>This</a:t>
            </a:r>
            <a:r>
              <a:rPr sz="900" u="sng" spc="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spc="-7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3"/>
              </a:rPr>
              <a:t>Photo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by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65" dirty="0">
                <a:latin typeface="Arial MT"/>
                <a:cs typeface="Arial MT"/>
              </a:rPr>
              <a:t>Author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spc="-85" dirty="0">
                <a:latin typeface="Arial MT"/>
                <a:cs typeface="Arial MT"/>
              </a:rPr>
              <a:t>is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70" dirty="0">
                <a:latin typeface="Arial MT"/>
                <a:cs typeface="Arial MT"/>
              </a:rPr>
              <a:t>licensed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under</a:t>
            </a:r>
            <a:r>
              <a:rPr sz="900" spc="50" dirty="0">
                <a:latin typeface="Arial MT"/>
                <a:cs typeface="Arial MT"/>
              </a:rPr>
              <a:t> </a:t>
            </a:r>
            <a:r>
              <a:rPr sz="900" u="sng" spc="-1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4"/>
              </a:rPr>
              <a:t>CC</a:t>
            </a:r>
            <a:r>
              <a:rPr sz="900" u="sng" spc="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900" u="sng" spc="-9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4"/>
              </a:rPr>
              <a:t>BY-</a:t>
            </a:r>
            <a:r>
              <a:rPr sz="900" u="sng" spc="-8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4"/>
              </a:rPr>
              <a:t>SA-</a:t>
            </a:r>
            <a:r>
              <a:rPr sz="900" u="sng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4"/>
              </a:rPr>
              <a:t>NC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pc="-150" dirty="0"/>
              <a:t>10</a:t>
            </a:fld>
            <a:endParaRPr spc="-150" dirty="0"/>
          </a:p>
        </p:txBody>
      </p:sp>
      <p:sp>
        <p:nvSpPr>
          <p:cNvPr id="6" name="object 6"/>
          <p:cNvSpPr txBox="1"/>
          <p:nvPr/>
        </p:nvSpPr>
        <p:spPr>
          <a:xfrm>
            <a:off x="1161084" y="4389247"/>
            <a:ext cx="9935845" cy="187102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103505">
              <a:lnSpc>
                <a:spcPts val="2380"/>
              </a:lnSpc>
              <a:spcBef>
                <a:spcPts val="390"/>
              </a:spcBef>
            </a:pPr>
            <a:r>
              <a:rPr sz="2200" dirty="0">
                <a:solidFill>
                  <a:srgbClr val="C00000"/>
                </a:solidFill>
                <a:latin typeface="Arial MT"/>
                <a:cs typeface="Arial MT"/>
              </a:rPr>
              <a:t>Boot security </a:t>
            </a:r>
            <a:r>
              <a:rPr sz="2200" dirty="0">
                <a:latin typeface="Arial MT"/>
                <a:cs typeface="Arial MT"/>
              </a:rPr>
              <a:t>focuses on </a:t>
            </a:r>
            <a:r>
              <a:rPr sz="2200" dirty="0">
                <a:solidFill>
                  <a:srgbClr val="0000FF"/>
                </a:solidFill>
                <a:latin typeface="Arial MT"/>
                <a:cs typeface="Arial MT"/>
              </a:rPr>
              <a:t>validating </a:t>
            </a:r>
            <a:r>
              <a:rPr sz="2200" dirty="0">
                <a:latin typeface="Arial MT"/>
                <a:cs typeface="Arial MT"/>
              </a:rPr>
              <a:t>each step of the boot process to </a:t>
            </a:r>
            <a:r>
              <a:rPr sz="2200" dirty="0">
                <a:solidFill>
                  <a:srgbClr val="0000FF"/>
                </a:solidFill>
                <a:latin typeface="Arial MT"/>
                <a:cs typeface="Arial MT"/>
              </a:rPr>
              <a:t>ensure no modifications </a:t>
            </a:r>
            <a:r>
              <a:rPr sz="2200" dirty="0">
                <a:latin typeface="Arial MT"/>
                <a:cs typeface="Arial MT"/>
              </a:rPr>
              <a:t>have been made, starting with the boot software and continuing through to the operating system.</a:t>
            </a:r>
          </a:p>
          <a:p>
            <a:pPr marL="391795" indent="-342900">
              <a:lnSpc>
                <a:spcPts val="2280"/>
              </a:lnSpc>
              <a:spcBef>
                <a:spcPts val="130"/>
              </a:spcBef>
              <a:buFont typeface="Arial" panose="020B0604020202020204" pitchFamily="34" charset="0"/>
              <a:buChar char="•"/>
            </a:pPr>
            <a:r>
              <a:rPr sz="2000" dirty="0">
                <a:latin typeface="Arial MT"/>
                <a:cs typeface="Arial MT"/>
              </a:rPr>
              <a:t>This process, known as the “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chain of trust</a:t>
            </a:r>
            <a:r>
              <a:rPr sz="2000" dirty="0">
                <a:latin typeface="Arial MT"/>
                <a:cs typeface="Arial MT"/>
              </a:rPr>
              <a:t>,” relies on hardware as the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strongest starting point</a:t>
            </a:r>
            <a:r>
              <a:rPr sz="2000" dirty="0">
                <a:latin typeface="Arial MT"/>
                <a:cs typeface="Arial MT"/>
              </a:rPr>
              <a:t>, as </a:t>
            </a:r>
            <a:r>
              <a:rPr sz="2000" dirty="0" err="1">
                <a:latin typeface="Arial MT"/>
                <a:cs typeface="Arial MT"/>
              </a:rPr>
              <a:t>i</a:t>
            </a:r>
            <a:r>
              <a:rPr lang="en-CA" sz="2000" dirty="0">
                <a:latin typeface="Arial MT"/>
                <a:cs typeface="Arial MT"/>
              </a:rPr>
              <a:t>t </a:t>
            </a:r>
            <a:r>
              <a:rPr sz="2000" dirty="0">
                <a:latin typeface="Arial MT"/>
                <a:cs typeface="Arial MT"/>
              </a:rPr>
              <a:t>cannot be modified like software (referred to as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hardware root of trust</a:t>
            </a:r>
            <a:r>
              <a:rPr sz="2000" dirty="0">
                <a:latin typeface="Arial MT"/>
                <a:cs typeface="Arial MT"/>
              </a:rPr>
              <a:t>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3172" y="829818"/>
            <a:ext cx="10631628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latin typeface="+mj-lt"/>
              </a:rPr>
              <a:t>SECURING ENDPOINTS (PROTECTING ENDPOINT)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25"/>
              </a:lnSpc>
            </a:pPr>
            <a:r>
              <a:rPr spc="-150" dirty="0"/>
              <a:t>ALI</a:t>
            </a:r>
            <a:r>
              <a:rPr spc="-95" dirty="0"/>
              <a:t> </a:t>
            </a:r>
            <a:r>
              <a:rPr spc="-180" dirty="0"/>
              <a:t>HASSAN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pc="-150" dirty="0"/>
              <a:t>11</a:t>
            </a:fld>
            <a:endParaRPr spc="-150" dirty="0"/>
          </a:p>
        </p:txBody>
      </p:sp>
      <p:sp>
        <p:nvSpPr>
          <p:cNvPr id="3" name="object 3"/>
          <p:cNvSpPr txBox="1"/>
          <p:nvPr/>
        </p:nvSpPr>
        <p:spPr>
          <a:xfrm>
            <a:off x="1148892" y="2046858"/>
            <a:ext cx="9493250" cy="4001737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 marR="889000">
              <a:lnSpc>
                <a:spcPts val="1920"/>
              </a:lnSpc>
              <a:spcBef>
                <a:spcPts val="565"/>
              </a:spcBef>
            </a:pPr>
            <a:r>
              <a:rPr sz="1700" dirty="0">
                <a:solidFill>
                  <a:srgbClr val="C00000"/>
                </a:solidFill>
                <a:latin typeface="Arial MT"/>
                <a:cs typeface="Arial MT"/>
              </a:rPr>
              <a:t>Antivirus software </a:t>
            </a:r>
            <a:r>
              <a:rPr sz="1700" dirty="0">
                <a:latin typeface="Arial MT"/>
                <a:cs typeface="Arial MT"/>
              </a:rPr>
              <a:t>can examine a computer for file-based virus infections and monitor computer activity</a:t>
            </a:r>
          </a:p>
          <a:p>
            <a:pPr marL="12700" marR="266065">
              <a:lnSpc>
                <a:spcPts val="1920"/>
              </a:lnSpc>
              <a:spcBef>
                <a:spcPts val="1405"/>
              </a:spcBef>
            </a:pPr>
            <a:r>
              <a:rPr sz="1700" dirty="0">
                <a:solidFill>
                  <a:srgbClr val="C00000"/>
                </a:solidFill>
                <a:latin typeface="Arial MT"/>
                <a:cs typeface="Arial MT"/>
              </a:rPr>
              <a:t>Antimalware </a:t>
            </a:r>
            <a:r>
              <a:rPr sz="1700" dirty="0">
                <a:latin typeface="Arial MT"/>
                <a:cs typeface="Arial MT"/>
              </a:rPr>
              <a:t>is a suite of software intended to provide protections against multiple types of malware</a:t>
            </a:r>
          </a:p>
          <a:p>
            <a:pPr marL="12700">
              <a:lnSpc>
                <a:spcPts val="2160"/>
              </a:lnSpc>
              <a:spcBef>
                <a:spcPts val="930"/>
              </a:spcBef>
            </a:pPr>
            <a:r>
              <a:rPr sz="1700" dirty="0">
                <a:solidFill>
                  <a:srgbClr val="C00000"/>
                </a:solidFill>
                <a:latin typeface="Arial MT"/>
                <a:cs typeface="Arial MT"/>
              </a:rPr>
              <a:t>Web browser protections </a:t>
            </a:r>
            <a:r>
              <a:rPr sz="1700" dirty="0">
                <a:latin typeface="Arial MT"/>
                <a:cs typeface="Arial MT"/>
              </a:rPr>
              <a:t>offer security features like secure cookies are sent to a web server</a:t>
            </a:r>
            <a:r>
              <a:rPr lang="en-CA" sz="170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with an encrypted request over the secure HTTPS protocol</a:t>
            </a:r>
          </a:p>
          <a:p>
            <a:pPr marL="334645" indent="-285750">
              <a:lnSpc>
                <a:spcPct val="1000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sz="1700" dirty="0">
                <a:latin typeface="Arial MT"/>
                <a:cs typeface="Arial MT"/>
              </a:rPr>
              <a:t>Prevents unauthorized interception of a cookie being transmitted</a:t>
            </a: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700" dirty="0">
                <a:solidFill>
                  <a:srgbClr val="C00000"/>
                </a:solidFill>
                <a:latin typeface="Arial MT"/>
                <a:cs typeface="Arial MT"/>
              </a:rPr>
              <a:t>Monitoring and response systems</a:t>
            </a:r>
            <a:endParaRPr sz="1700" dirty="0">
              <a:latin typeface="Arial MT"/>
              <a:cs typeface="Arial MT"/>
            </a:endParaRPr>
          </a:p>
          <a:p>
            <a:pPr marL="334645" marR="211454" indent="-285750">
              <a:lnSpc>
                <a:spcPts val="1630"/>
              </a:lnSpc>
              <a:spcBef>
                <a:spcPts val="395"/>
              </a:spcBef>
              <a:buFont typeface="Arial" panose="020B0604020202020204" pitchFamily="34" charset="0"/>
              <a:buChar char="•"/>
            </a:pPr>
            <a:r>
              <a:rPr sz="1700" dirty="0">
                <a:latin typeface="Arial MT"/>
                <a:cs typeface="Arial MT"/>
              </a:rPr>
              <a:t>Host Intrusion Detection Systems (</a:t>
            </a:r>
            <a:r>
              <a:rPr sz="1700" dirty="0">
                <a:solidFill>
                  <a:srgbClr val="0000FF"/>
                </a:solidFill>
                <a:latin typeface="Arial MT"/>
                <a:cs typeface="Arial MT"/>
              </a:rPr>
              <a:t>HIDS</a:t>
            </a:r>
            <a:r>
              <a:rPr sz="1700" dirty="0">
                <a:latin typeface="Arial MT"/>
                <a:cs typeface="Arial MT"/>
              </a:rPr>
              <a:t>) is a software-based application that runs on an endpoint computer and can detect an attack has occurred</a:t>
            </a:r>
            <a:endParaRPr lang="en-CA" sz="1700" dirty="0">
              <a:latin typeface="Arial MT"/>
              <a:cs typeface="Arial MT"/>
            </a:endParaRPr>
          </a:p>
          <a:p>
            <a:pPr marL="334645" marR="211454" indent="-285750">
              <a:lnSpc>
                <a:spcPts val="1630"/>
              </a:lnSpc>
              <a:spcBef>
                <a:spcPts val="395"/>
              </a:spcBef>
              <a:buFont typeface="Arial" panose="020B0604020202020204" pitchFamily="34" charset="0"/>
              <a:buChar char="•"/>
            </a:pPr>
            <a:r>
              <a:rPr sz="1700" dirty="0">
                <a:latin typeface="Arial MT"/>
                <a:cs typeface="Arial MT"/>
              </a:rPr>
              <a:t>Host Intrusion Prevention Systems (</a:t>
            </a:r>
            <a:r>
              <a:rPr sz="1700" dirty="0">
                <a:solidFill>
                  <a:srgbClr val="0000FF"/>
                </a:solidFill>
                <a:latin typeface="Arial MT"/>
                <a:cs typeface="Arial MT"/>
              </a:rPr>
              <a:t>HIPS</a:t>
            </a:r>
            <a:r>
              <a:rPr sz="1700" dirty="0">
                <a:latin typeface="Arial MT"/>
                <a:cs typeface="Arial MT"/>
              </a:rPr>
              <a:t>) monitor endpoint activity to immediately block a malicious attack by</a:t>
            </a:r>
            <a:r>
              <a:rPr lang="en-CA" sz="170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following specific rules</a:t>
            </a:r>
            <a:endParaRPr lang="en-CA" sz="1700" dirty="0">
              <a:latin typeface="Arial MT"/>
              <a:cs typeface="Arial MT"/>
            </a:endParaRPr>
          </a:p>
          <a:p>
            <a:pPr marL="334645" marR="211454" indent="-285750">
              <a:lnSpc>
                <a:spcPts val="1630"/>
              </a:lnSpc>
              <a:spcBef>
                <a:spcPts val="395"/>
              </a:spcBef>
              <a:buFont typeface="Arial" panose="020B0604020202020204" pitchFamily="34" charset="0"/>
              <a:buChar char="•"/>
            </a:pPr>
            <a:r>
              <a:rPr sz="1700" dirty="0">
                <a:latin typeface="Arial MT"/>
                <a:cs typeface="Arial MT"/>
              </a:rPr>
              <a:t>Endpoint Detection and Response (</a:t>
            </a:r>
            <a:r>
              <a:rPr sz="1700" dirty="0">
                <a:solidFill>
                  <a:srgbClr val="0000FF"/>
                </a:solidFill>
                <a:latin typeface="Arial MT"/>
                <a:cs typeface="Arial MT"/>
              </a:rPr>
              <a:t>EDR</a:t>
            </a:r>
            <a:r>
              <a:rPr sz="1700" dirty="0">
                <a:latin typeface="Arial MT"/>
                <a:cs typeface="Arial MT"/>
              </a:rPr>
              <a:t>) tools are considered more robust than HIDS and HIPS. Aggregate data from multiple endpoints.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3172" y="829818"/>
            <a:ext cx="972312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dirty="0">
                <a:latin typeface="+mj-lt"/>
              </a:rPr>
              <a:t>SECURING ENDPOINTS (HARDENING ENDPOINT)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37361" y="1855470"/>
            <a:ext cx="6149239" cy="4250523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323215">
              <a:lnSpc>
                <a:spcPct val="80000"/>
              </a:lnSpc>
              <a:spcBef>
                <a:spcPts val="585"/>
              </a:spcBef>
            </a:pPr>
            <a:r>
              <a:rPr sz="1700" dirty="0"/>
              <a:t>Hardening endpoints involves patch management and OS protections</a:t>
            </a:r>
          </a:p>
          <a:p>
            <a:pPr marL="12700" marR="5080">
              <a:lnSpc>
                <a:spcPts val="1920"/>
              </a:lnSpc>
              <a:spcBef>
                <a:spcPts val="1385"/>
              </a:spcBef>
            </a:pPr>
            <a:r>
              <a:rPr sz="1700" dirty="0">
                <a:solidFill>
                  <a:srgbClr val="C00000"/>
                </a:solidFill>
              </a:rPr>
              <a:t>Patch management </a:t>
            </a:r>
            <a:r>
              <a:rPr sz="1700" dirty="0"/>
              <a:t>is the process of identifying, acquiring, testing, deploying, and verifying software updates, known as patches, to </a:t>
            </a:r>
            <a:r>
              <a:rPr sz="1700" dirty="0">
                <a:solidFill>
                  <a:srgbClr val="0000FF"/>
                </a:solidFill>
              </a:rPr>
              <a:t>fix vulnerabilities</a:t>
            </a: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700" dirty="0">
                <a:solidFill>
                  <a:srgbClr val="C00000"/>
                </a:solidFill>
              </a:rPr>
              <a:t>OS protections</a:t>
            </a:r>
            <a:r>
              <a:rPr sz="1700" dirty="0"/>
              <a:t>:</a:t>
            </a:r>
          </a:p>
          <a:p>
            <a:pPr marL="334645" marR="327025" indent="-285750">
              <a:lnSpc>
                <a:spcPct val="8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sz="1700" dirty="0"/>
              <a:t>Disable unnecessary </a:t>
            </a:r>
            <a:r>
              <a:rPr sz="1700" dirty="0">
                <a:solidFill>
                  <a:srgbClr val="0000FF"/>
                </a:solidFill>
              </a:rPr>
              <a:t>ports </a:t>
            </a:r>
            <a:r>
              <a:rPr sz="1700" dirty="0"/>
              <a:t>and </a:t>
            </a:r>
            <a:r>
              <a:rPr sz="1700" dirty="0">
                <a:solidFill>
                  <a:srgbClr val="0000FF"/>
                </a:solidFill>
              </a:rPr>
              <a:t>services</a:t>
            </a:r>
            <a:r>
              <a:rPr sz="1700" dirty="0"/>
              <a:t>. Disable </a:t>
            </a:r>
            <a:r>
              <a:rPr sz="1700" dirty="0">
                <a:solidFill>
                  <a:srgbClr val="0000FF"/>
                </a:solidFill>
              </a:rPr>
              <a:t>default </a:t>
            </a:r>
            <a:r>
              <a:rPr sz="1700" dirty="0"/>
              <a:t>accounts/passwords</a:t>
            </a:r>
            <a:endParaRPr lang="en-CA" sz="1700" dirty="0">
              <a:cs typeface="Microsoft Sans Serif"/>
            </a:endParaRPr>
          </a:p>
          <a:p>
            <a:pPr marL="334645" marR="327025" indent="-285750">
              <a:lnSpc>
                <a:spcPct val="8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sz="1700" dirty="0"/>
              <a:t>Windows 11 </a:t>
            </a:r>
            <a:r>
              <a:rPr sz="1700" dirty="0">
                <a:solidFill>
                  <a:srgbClr val="0000FF"/>
                </a:solidFill>
              </a:rPr>
              <a:t>Tamper Protection </a:t>
            </a:r>
            <a:r>
              <a:rPr sz="1700" dirty="0"/>
              <a:t>security feature prevents Windows security settings from being changed or disabled by a threat actor who modifies the registry</a:t>
            </a:r>
            <a:endParaRPr lang="en-CA" sz="1700" dirty="0">
              <a:cs typeface="Microsoft Sans Serif"/>
            </a:endParaRPr>
          </a:p>
          <a:p>
            <a:pPr marL="334645" marR="327025" indent="-285750">
              <a:lnSpc>
                <a:spcPct val="8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sz="1700" dirty="0">
                <a:solidFill>
                  <a:srgbClr val="0000FF"/>
                </a:solidFill>
              </a:rPr>
              <a:t>Application whitelisting/blacklisting</a:t>
            </a:r>
            <a:r>
              <a:rPr sz="1700" dirty="0"/>
              <a:t>: Pre-approve or block</a:t>
            </a:r>
            <a:r>
              <a:rPr lang="en-CA" sz="1700" dirty="0">
                <a:cs typeface="Microsoft Sans Serif"/>
              </a:rPr>
              <a:t> </a:t>
            </a:r>
            <a:r>
              <a:rPr sz="1700" dirty="0"/>
              <a:t>specific applications</a:t>
            </a:r>
            <a:endParaRPr lang="en-CA" sz="1700" dirty="0"/>
          </a:p>
          <a:p>
            <a:pPr marL="334645" marR="327025" indent="-285750">
              <a:lnSpc>
                <a:spcPct val="8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sz="1700" dirty="0">
                <a:solidFill>
                  <a:srgbClr val="0000FF"/>
                </a:solidFill>
              </a:rPr>
              <a:t>Sandboxing</a:t>
            </a:r>
            <a:r>
              <a:rPr sz="1700" dirty="0"/>
              <a:t>: Isolate applications in a controlled environment</a:t>
            </a:r>
            <a:endParaRPr lang="en-CA" sz="1700" dirty="0">
              <a:cs typeface="Microsoft Sans Serif"/>
            </a:endParaRPr>
          </a:p>
          <a:p>
            <a:pPr marL="334645" marR="327025" indent="-285750">
              <a:lnSpc>
                <a:spcPct val="8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sz="1700" dirty="0">
                <a:solidFill>
                  <a:srgbClr val="0000FF"/>
                </a:solidFill>
              </a:rPr>
              <a:t>Quarantine</a:t>
            </a:r>
            <a:r>
              <a:rPr sz="1700" dirty="0"/>
              <a:t>: Move malware to a quarantine area</a:t>
            </a:r>
            <a:endParaRPr sz="1700" dirty="0">
              <a:cs typeface="Microsoft Sans Serif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pc="-150" dirty="0"/>
              <a:t>12</a:t>
            </a:fld>
            <a:endParaRPr spc="-150" dirty="0"/>
          </a:p>
        </p:txBody>
      </p:sp>
      <p:pic>
        <p:nvPicPr>
          <p:cNvPr id="9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0400" y="1600200"/>
            <a:ext cx="50292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+mj-lt"/>
              </a:rPr>
              <a:t>KNOWLEDGE CHECK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25"/>
              </a:lnSpc>
            </a:pPr>
            <a:r>
              <a:rPr spc="-150" dirty="0"/>
              <a:t>ALI</a:t>
            </a:r>
            <a:r>
              <a:rPr spc="-95" dirty="0"/>
              <a:t> </a:t>
            </a:r>
            <a:r>
              <a:rPr spc="-180" dirty="0"/>
              <a:t>HASSAN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pc="-150" dirty="0"/>
              <a:t>13</a:t>
            </a:fld>
            <a:endParaRPr spc="-150" dirty="0"/>
          </a:p>
        </p:txBody>
      </p:sp>
      <p:sp>
        <p:nvSpPr>
          <p:cNvPr id="3" name="object 3"/>
          <p:cNvSpPr txBox="1"/>
          <p:nvPr/>
        </p:nvSpPr>
        <p:spPr>
          <a:xfrm>
            <a:off x="1057147" y="2125497"/>
            <a:ext cx="9559925" cy="2754600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240"/>
              </a:spcBef>
            </a:pPr>
            <a:r>
              <a:rPr sz="2200" dirty="0">
                <a:latin typeface="Arial MT"/>
                <a:cs typeface="Arial MT"/>
              </a:rPr>
              <a:t>Which of the following is NOT a tool that can be used to confine or restrict malware?</a:t>
            </a:r>
          </a:p>
          <a:p>
            <a:pPr marL="469900" indent="-457200">
              <a:lnSpc>
                <a:spcPct val="100000"/>
              </a:lnSpc>
              <a:spcBef>
                <a:spcPts val="1140"/>
              </a:spcBef>
              <a:buClr>
                <a:srgbClr val="1CACE3"/>
              </a:buClr>
              <a:buAutoNum type="alphaLcParenR"/>
              <a:tabLst>
                <a:tab pos="469900" algn="l"/>
              </a:tabLst>
            </a:pPr>
            <a:r>
              <a:rPr sz="2200" dirty="0">
                <a:latin typeface="Arial MT"/>
                <a:cs typeface="Arial MT"/>
              </a:rPr>
              <a:t>a. Whitelisting</a:t>
            </a:r>
          </a:p>
          <a:p>
            <a:pPr marL="469900" indent="-457200">
              <a:lnSpc>
                <a:spcPct val="100000"/>
              </a:lnSpc>
              <a:spcBef>
                <a:spcPts val="1125"/>
              </a:spcBef>
              <a:buClr>
                <a:srgbClr val="1CACE3"/>
              </a:buClr>
              <a:buAutoNum type="alphaLcParenR"/>
              <a:tabLst>
                <a:tab pos="469900" algn="l"/>
              </a:tabLst>
            </a:pPr>
            <a:r>
              <a:rPr sz="2200" dirty="0">
                <a:latin typeface="Arial MT"/>
                <a:cs typeface="Arial MT"/>
              </a:rPr>
              <a:t>b. Quarantine</a:t>
            </a:r>
          </a:p>
          <a:p>
            <a:pPr marL="469900" indent="-457200">
              <a:lnSpc>
                <a:spcPct val="100000"/>
              </a:lnSpc>
              <a:spcBef>
                <a:spcPts val="1145"/>
              </a:spcBef>
              <a:buClr>
                <a:srgbClr val="1CACE3"/>
              </a:buClr>
              <a:buAutoNum type="alphaLcParenR"/>
              <a:tabLst>
                <a:tab pos="469900" algn="l"/>
              </a:tabLst>
            </a:pPr>
            <a:r>
              <a:rPr sz="2200" dirty="0">
                <a:latin typeface="Arial MT"/>
                <a:cs typeface="Arial MT"/>
              </a:rPr>
              <a:t>c. Sandbox</a:t>
            </a:r>
          </a:p>
          <a:p>
            <a:pPr marL="469900" indent="-457200">
              <a:lnSpc>
                <a:spcPct val="100000"/>
              </a:lnSpc>
              <a:spcBef>
                <a:spcPts val="1140"/>
              </a:spcBef>
              <a:buClr>
                <a:srgbClr val="1CACE3"/>
              </a:buClr>
              <a:buAutoNum type="alphaLcParenR"/>
              <a:tabLst>
                <a:tab pos="469900" algn="l"/>
              </a:tabLst>
            </a:pPr>
            <a:r>
              <a:rPr sz="2200" dirty="0">
                <a:latin typeface="Arial MT"/>
                <a:cs typeface="Arial MT"/>
              </a:rPr>
              <a:t>d. Legacy boot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3172" y="829818"/>
            <a:ext cx="9723120" cy="15523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+mj-lt"/>
              </a:rPr>
              <a:t>CREATING AND DEPLOYING SECDEVOPS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25"/>
              </a:lnSpc>
            </a:pPr>
            <a:r>
              <a:rPr spc="-150" dirty="0"/>
              <a:t>ALI</a:t>
            </a:r>
            <a:r>
              <a:rPr spc="-95" dirty="0"/>
              <a:t> </a:t>
            </a:r>
            <a:r>
              <a:rPr spc="-180" dirty="0"/>
              <a:t>HASSAN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pc="-150" dirty="0"/>
              <a:t>14</a:t>
            </a:fld>
            <a:endParaRPr spc="-150" dirty="0"/>
          </a:p>
        </p:txBody>
      </p:sp>
      <p:sp>
        <p:nvSpPr>
          <p:cNvPr id="3" name="object 3"/>
          <p:cNvSpPr txBox="1"/>
          <p:nvPr/>
        </p:nvSpPr>
        <p:spPr>
          <a:xfrm>
            <a:off x="1108088" y="2544783"/>
            <a:ext cx="9206865" cy="1768433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>
              <a:lnSpc>
                <a:spcPts val="2380"/>
              </a:lnSpc>
              <a:spcBef>
                <a:spcPts val="390"/>
              </a:spcBef>
            </a:pPr>
            <a:r>
              <a:rPr sz="2200" dirty="0">
                <a:latin typeface="Arial MT"/>
                <a:cs typeface="Arial MT"/>
              </a:rPr>
              <a:t>An </a:t>
            </a:r>
            <a:r>
              <a:rPr sz="2200" dirty="0">
                <a:solidFill>
                  <a:srgbClr val="C00000"/>
                </a:solidFill>
                <a:latin typeface="Arial MT"/>
                <a:cs typeface="Arial MT"/>
              </a:rPr>
              <a:t>unsecure </a:t>
            </a:r>
            <a:r>
              <a:rPr sz="2200" dirty="0">
                <a:latin typeface="Arial MT"/>
                <a:cs typeface="Arial MT"/>
              </a:rPr>
              <a:t>application can open the door for attackers to </a:t>
            </a:r>
            <a:r>
              <a:rPr sz="2200" dirty="0">
                <a:solidFill>
                  <a:srgbClr val="0000FF"/>
                </a:solidFill>
                <a:latin typeface="Arial MT"/>
                <a:cs typeface="Arial MT"/>
              </a:rPr>
              <a:t>exploit </a:t>
            </a:r>
            <a:r>
              <a:rPr sz="2200" dirty="0">
                <a:latin typeface="Arial MT"/>
                <a:cs typeface="Arial MT"/>
              </a:rPr>
              <a:t>the application, the data that it uses, and even the underlying OS</a:t>
            </a:r>
          </a:p>
          <a:p>
            <a:pPr marL="12700" marR="155575">
              <a:lnSpc>
                <a:spcPts val="2380"/>
              </a:lnSpc>
              <a:spcBef>
                <a:spcPts val="1395"/>
              </a:spcBef>
            </a:pPr>
            <a:r>
              <a:rPr sz="2200" dirty="0">
                <a:solidFill>
                  <a:srgbClr val="C00000"/>
                </a:solidFill>
                <a:latin typeface="Arial MT"/>
                <a:cs typeface="Arial MT"/>
              </a:rPr>
              <a:t>SecDevOps </a:t>
            </a:r>
            <a:r>
              <a:rPr sz="2200" dirty="0">
                <a:latin typeface="Arial MT"/>
                <a:cs typeface="Arial MT"/>
              </a:rPr>
              <a:t>is the process of </a:t>
            </a:r>
            <a:r>
              <a:rPr sz="2200" dirty="0">
                <a:solidFill>
                  <a:srgbClr val="0000FF"/>
                </a:solidFill>
                <a:latin typeface="Arial MT"/>
                <a:cs typeface="Arial MT"/>
              </a:rPr>
              <a:t>integrating secure development </a:t>
            </a:r>
            <a:r>
              <a:rPr sz="2200" dirty="0">
                <a:latin typeface="Arial MT"/>
                <a:cs typeface="Arial MT"/>
              </a:rPr>
              <a:t>best practices and methodologies into application software development and deployment processes, such as agile 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3172" y="829818"/>
            <a:ext cx="9723120" cy="15523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+mj-lt"/>
              </a:rPr>
              <a:t>CREATING AND DEPLOYING SECDEVOPS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25"/>
              </a:lnSpc>
            </a:pPr>
            <a:r>
              <a:rPr spc="-150" dirty="0"/>
              <a:t>ALI</a:t>
            </a:r>
            <a:r>
              <a:rPr spc="-95" dirty="0"/>
              <a:t> </a:t>
            </a:r>
            <a:r>
              <a:rPr spc="-180" dirty="0"/>
              <a:t>HASSAN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pc="-150" dirty="0"/>
              <a:t>15</a:t>
            </a:fld>
            <a:endParaRPr spc="-150" dirty="0"/>
          </a:p>
        </p:txBody>
      </p:sp>
      <p:sp>
        <p:nvSpPr>
          <p:cNvPr id="3" name="object 3"/>
          <p:cNvSpPr txBox="1"/>
          <p:nvPr/>
        </p:nvSpPr>
        <p:spPr>
          <a:xfrm>
            <a:off x="1120378" y="2590800"/>
            <a:ext cx="9142095" cy="3491981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19405" indent="-306705">
              <a:lnSpc>
                <a:spcPct val="100000"/>
              </a:lnSpc>
              <a:spcBef>
                <a:spcPts val="229"/>
              </a:spcBef>
              <a:buAutoNum type="arabicParenR"/>
              <a:tabLst>
                <a:tab pos="319405" algn="l"/>
              </a:tabLst>
            </a:pPr>
            <a:r>
              <a:rPr sz="2200" dirty="0">
                <a:solidFill>
                  <a:srgbClr val="C00000"/>
                </a:solidFill>
                <a:latin typeface="Arial MT"/>
                <a:cs typeface="Arial MT"/>
              </a:rPr>
              <a:t>Secure development practices</a:t>
            </a:r>
            <a:endParaRPr sz="2200" dirty="0">
              <a:latin typeface="Arial MT"/>
              <a:cs typeface="Arial MT"/>
            </a:endParaRPr>
          </a:p>
          <a:p>
            <a:pPr marL="391795" indent="-342900">
              <a:lnSpc>
                <a:spcPct val="1000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sz="2200" dirty="0">
                <a:latin typeface="Arial MT"/>
                <a:cs typeface="Arial MT"/>
              </a:rPr>
              <a:t>Regular code reviews</a:t>
            </a:r>
            <a:endParaRPr lang="en-CA" sz="2200" dirty="0">
              <a:latin typeface="Arial MT"/>
              <a:cs typeface="Arial MT"/>
            </a:endParaRPr>
          </a:p>
          <a:p>
            <a:pPr marL="391795" indent="-342900">
              <a:lnSpc>
                <a:spcPct val="1000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sz="2200" dirty="0">
                <a:latin typeface="Arial MT"/>
                <a:cs typeface="Arial MT"/>
              </a:rPr>
              <a:t>Static application security testing (SAST) – Tools: SonarQube, Checkmarx, Fortify</a:t>
            </a:r>
            <a:endParaRPr lang="en-CA" sz="2200" dirty="0">
              <a:latin typeface="Arial MT"/>
              <a:cs typeface="Arial MT"/>
            </a:endParaRPr>
          </a:p>
          <a:p>
            <a:pPr marL="391795" indent="-342900">
              <a:lnSpc>
                <a:spcPct val="1000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sz="2200" dirty="0">
                <a:latin typeface="Arial MT"/>
                <a:cs typeface="Arial MT"/>
              </a:rPr>
              <a:t>Dynamic application security testing (DAST) – Tools: OWASP ZAP, Burp Suite</a:t>
            </a:r>
            <a:endParaRPr lang="en-CA" sz="2200" dirty="0">
              <a:latin typeface="Arial MT"/>
              <a:cs typeface="Arial MT"/>
            </a:endParaRPr>
          </a:p>
          <a:p>
            <a:pPr marL="391795" indent="-342900">
              <a:lnSpc>
                <a:spcPct val="1000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endParaRPr sz="2200" dirty="0">
              <a:latin typeface="Arial MT"/>
              <a:cs typeface="Arial MT"/>
            </a:endParaRPr>
          </a:p>
          <a:p>
            <a:pPr marL="319405" indent="-306705">
              <a:lnSpc>
                <a:spcPct val="100000"/>
              </a:lnSpc>
              <a:spcBef>
                <a:spcPts val="5"/>
              </a:spcBef>
              <a:buAutoNum type="arabicParenR" startAt="2"/>
              <a:tabLst>
                <a:tab pos="319405" algn="l"/>
              </a:tabLst>
            </a:pPr>
            <a:r>
              <a:rPr sz="2200" dirty="0">
                <a:solidFill>
                  <a:srgbClr val="C00000"/>
                </a:solidFill>
                <a:latin typeface="Arial MT"/>
                <a:cs typeface="Arial MT"/>
              </a:rPr>
              <a:t>Continuous Integration and Continuous Deployment (CI/CD)</a:t>
            </a:r>
            <a:endParaRPr sz="2200" dirty="0">
              <a:latin typeface="Arial MT"/>
              <a:cs typeface="Arial MT"/>
            </a:endParaRPr>
          </a:p>
          <a:p>
            <a:pPr marL="391795" indent="-342900">
              <a:lnSpc>
                <a:spcPct val="100000"/>
              </a:lnSpc>
              <a:spcBef>
                <a:spcPts val="130"/>
              </a:spcBef>
              <a:buFont typeface="Arial" panose="020B0604020202020204" pitchFamily="34" charset="0"/>
              <a:buChar char="•"/>
            </a:pPr>
            <a:r>
              <a:rPr sz="2200" dirty="0">
                <a:latin typeface="Arial MT"/>
                <a:cs typeface="Arial MT"/>
              </a:rPr>
              <a:t>Automated testing – Tools: Jenkins, GitLab CI</a:t>
            </a:r>
            <a:endParaRPr lang="en-CA" sz="2200" dirty="0">
              <a:latin typeface="Arial MT"/>
              <a:cs typeface="Arial MT"/>
            </a:endParaRPr>
          </a:p>
          <a:p>
            <a:pPr marL="391795" indent="-342900">
              <a:lnSpc>
                <a:spcPct val="100000"/>
              </a:lnSpc>
              <a:spcBef>
                <a:spcPts val="130"/>
              </a:spcBef>
              <a:buFont typeface="Arial" panose="020B0604020202020204" pitchFamily="34" charset="0"/>
              <a:buChar char="•"/>
            </a:pPr>
            <a:r>
              <a:rPr sz="2200" dirty="0">
                <a:latin typeface="Arial MT"/>
                <a:cs typeface="Arial MT"/>
              </a:rPr>
              <a:t>Infrastructure as Code (IaC) – Tools: Terraform, Ansible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3172" y="829818"/>
            <a:ext cx="10555428" cy="78290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+mj-lt"/>
              </a:rPr>
              <a:t>CREATING AND DEPLOYING SECDEVOPS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25"/>
              </a:lnSpc>
            </a:pPr>
            <a:r>
              <a:rPr spc="-150" dirty="0"/>
              <a:t>ALI</a:t>
            </a:r>
            <a:r>
              <a:rPr spc="-95" dirty="0"/>
              <a:t> </a:t>
            </a:r>
            <a:r>
              <a:rPr spc="-180" dirty="0"/>
              <a:t>HASSAN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pc="-150" dirty="0"/>
              <a:t>16</a:t>
            </a:fld>
            <a:endParaRPr spc="-150" dirty="0"/>
          </a:p>
        </p:txBody>
      </p:sp>
      <p:sp>
        <p:nvSpPr>
          <p:cNvPr id="3" name="object 3"/>
          <p:cNvSpPr txBox="1"/>
          <p:nvPr/>
        </p:nvSpPr>
        <p:spPr>
          <a:xfrm>
            <a:off x="1148892" y="2133117"/>
            <a:ext cx="7816215" cy="3071353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19405" indent="-306705">
              <a:lnSpc>
                <a:spcPct val="100000"/>
              </a:lnSpc>
              <a:spcBef>
                <a:spcPts val="229"/>
              </a:spcBef>
              <a:buAutoNum type="arabicParenR" startAt="3"/>
              <a:tabLst>
                <a:tab pos="319405" algn="l"/>
              </a:tabLst>
            </a:pPr>
            <a:r>
              <a:rPr sz="2200" dirty="0">
                <a:solidFill>
                  <a:srgbClr val="C00000"/>
                </a:solidFill>
                <a:latin typeface="Arial MT"/>
                <a:cs typeface="Arial MT"/>
              </a:rPr>
              <a:t>Monitoring and Logging</a:t>
            </a:r>
            <a:endParaRPr sz="2200" dirty="0">
              <a:latin typeface="Arial MT"/>
              <a:cs typeface="Arial MT"/>
            </a:endParaRPr>
          </a:p>
          <a:p>
            <a:pPr marL="391795" indent="-342900">
              <a:lnSpc>
                <a:spcPct val="1000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sz="2200" dirty="0">
                <a:latin typeface="Arial MT"/>
                <a:cs typeface="Arial MT"/>
              </a:rPr>
              <a:t>Real-time monitoring – Tools: Prometheus, Grafana</a:t>
            </a:r>
            <a:endParaRPr lang="en-CA" sz="2200" dirty="0">
              <a:latin typeface="Arial MT"/>
              <a:cs typeface="Arial MT"/>
            </a:endParaRPr>
          </a:p>
          <a:p>
            <a:pPr marL="391795" indent="-342900">
              <a:lnSpc>
                <a:spcPct val="1000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sz="2200" dirty="0">
                <a:latin typeface="Arial MT"/>
                <a:cs typeface="Arial MT"/>
              </a:rPr>
              <a:t>Log management – Identify suspicious activities and potential threats</a:t>
            </a:r>
          </a:p>
          <a:p>
            <a:pPr>
              <a:lnSpc>
                <a:spcPct val="100000"/>
              </a:lnSpc>
              <a:spcBef>
                <a:spcPts val="1789"/>
              </a:spcBef>
            </a:pPr>
            <a:endParaRPr sz="2200" dirty="0">
              <a:latin typeface="Arial MT"/>
              <a:cs typeface="Arial MT"/>
            </a:endParaRPr>
          </a:p>
          <a:p>
            <a:pPr marL="318770" indent="-306070">
              <a:lnSpc>
                <a:spcPct val="100000"/>
              </a:lnSpc>
              <a:buAutoNum type="arabicParenR" startAt="4"/>
              <a:tabLst>
                <a:tab pos="318770" algn="l"/>
              </a:tabLst>
            </a:pPr>
            <a:r>
              <a:rPr sz="2200" dirty="0">
                <a:solidFill>
                  <a:srgbClr val="C00000"/>
                </a:solidFill>
                <a:latin typeface="Arial MT"/>
                <a:cs typeface="Arial MT"/>
              </a:rPr>
              <a:t>Security Training and Awareness</a:t>
            </a:r>
            <a:endParaRPr sz="2200" dirty="0">
              <a:latin typeface="Arial MT"/>
              <a:cs typeface="Arial MT"/>
            </a:endParaRPr>
          </a:p>
          <a:p>
            <a:pPr marL="391795" indent="-342900">
              <a:lnSpc>
                <a:spcPct val="1000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sz="2200" dirty="0">
                <a:latin typeface="Arial MT"/>
                <a:cs typeface="Arial MT"/>
              </a:rPr>
              <a:t>Training Programs for developers and operations teams.</a:t>
            </a:r>
            <a:endParaRPr lang="en-CA" sz="2200" dirty="0">
              <a:latin typeface="Arial MT"/>
              <a:cs typeface="Arial MT"/>
            </a:endParaRPr>
          </a:p>
          <a:p>
            <a:pPr marL="391795" indent="-342900">
              <a:lnSpc>
                <a:spcPct val="1000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sz="2200" dirty="0">
                <a:latin typeface="Arial MT"/>
                <a:cs typeface="Arial MT"/>
              </a:rPr>
              <a:t>Designate Security Champions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+mj-lt"/>
              </a:rPr>
              <a:t>KNOWLEDGE CHECK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25"/>
              </a:lnSpc>
            </a:pPr>
            <a:r>
              <a:rPr spc="-150" dirty="0"/>
              <a:t>ALI</a:t>
            </a:r>
            <a:r>
              <a:rPr spc="-95" dirty="0"/>
              <a:t> </a:t>
            </a:r>
            <a:r>
              <a:rPr spc="-180" dirty="0"/>
              <a:t>HASSAN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pc="-150" dirty="0"/>
              <a:t>17</a:t>
            </a:fld>
            <a:endParaRPr spc="-150" dirty="0"/>
          </a:p>
        </p:txBody>
      </p:sp>
      <p:sp>
        <p:nvSpPr>
          <p:cNvPr id="3" name="object 3"/>
          <p:cNvSpPr txBox="1"/>
          <p:nvPr/>
        </p:nvSpPr>
        <p:spPr>
          <a:xfrm>
            <a:off x="1057146" y="2253513"/>
            <a:ext cx="8925053" cy="1850506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200" dirty="0">
                <a:latin typeface="Arial MT"/>
                <a:cs typeface="Arial MT"/>
              </a:rPr>
              <a:t>Which of the following best describes static code analysis?</a:t>
            </a:r>
          </a:p>
          <a:p>
            <a:pPr marL="648335" indent="-292735">
              <a:lnSpc>
                <a:spcPct val="100000"/>
              </a:lnSpc>
              <a:spcBef>
                <a:spcPts val="135"/>
              </a:spcBef>
              <a:buAutoNum type="alphaLcPeriod"/>
              <a:tabLst>
                <a:tab pos="648335" algn="l"/>
              </a:tabLst>
            </a:pPr>
            <a:r>
              <a:rPr sz="2200" dirty="0">
                <a:latin typeface="Arial MT"/>
                <a:cs typeface="Arial MT"/>
              </a:rPr>
              <a:t>Testing uses a suite of pre-built attacks</a:t>
            </a:r>
            <a:r>
              <a:rPr sz="2200" dirty="0">
                <a:latin typeface="Segoe UI Symbol"/>
                <a:cs typeface="Segoe UI Symbol"/>
              </a:rPr>
              <a:t>.</a:t>
            </a:r>
          </a:p>
          <a:p>
            <a:pPr marL="642620" indent="-287020">
              <a:lnSpc>
                <a:spcPct val="100000"/>
              </a:lnSpc>
              <a:spcBef>
                <a:spcPts val="335"/>
              </a:spcBef>
              <a:buAutoNum type="alphaLcPeriod"/>
              <a:tabLst>
                <a:tab pos="642620" algn="l"/>
              </a:tabLst>
            </a:pPr>
            <a:r>
              <a:rPr sz="2200" dirty="0">
                <a:latin typeface="Arial MT"/>
                <a:cs typeface="Arial MT"/>
              </a:rPr>
              <a:t>Tests are run before the source code is compiled.</a:t>
            </a:r>
          </a:p>
          <a:p>
            <a:pPr marL="601345" indent="-245745">
              <a:lnSpc>
                <a:spcPct val="100000"/>
              </a:lnSpc>
              <a:spcBef>
                <a:spcPts val="335"/>
              </a:spcBef>
              <a:buAutoNum type="alphaLcPeriod"/>
              <a:tabLst>
                <a:tab pos="601345" algn="l"/>
              </a:tabLst>
            </a:pPr>
            <a:r>
              <a:rPr sz="2200" dirty="0">
                <a:latin typeface="Arial MT"/>
                <a:cs typeface="Arial MT"/>
              </a:rPr>
              <a:t>Random input is used to trigger exceptions.</a:t>
            </a:r>
          </a:p>
          <a:p>
            <a:pPr marL="648335" indent="-292735">
              <a:lnSpc>
                <a:spcPct val="100000"/>
              </a:lnSpc>
              <a:spcBef>
                <a:spcPts val="340"/>
              </a:spcBef>
              <a:buAutoNum type="alphaLcPeriod"/>
              <a:tabLst>
                <a:tab pos="648335" algn="l"/>
              </a:tabLst>
            </a:pPr>
            <a:r>
              <a:rPr sz="2200" dirty="0">
                <a:latin typeface="Arial MT"/>
                <a:cs typeface="Arial MT"/>
              </a:rPr>
              <a:t>Used after all components are integrated.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86427" y="3683889"/>
            <a:ext cx="3314573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Questions?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25"/>
              </a:lnSpc>
            </a:pPr>
            <a:r>
              <a:rPr spc="-150" dirty="0"/>
              <a:t>ALI</a:t>
            </a:r>
            <a:r>
              <a:rPr spc="-95" dirty="0"/>
              <a:t> </a:t>
            </a:r>
            <a:r>
              <a:rPr spc="-180" dirty="0"/>
              <a:t>HASSAN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pc="-150" dirty="0"/>
              <a:t>18</a:t>
            </a:fld>
            <a:endParaRPr spc="-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467</TotalTime>
  <Words>1194</Words>
  <Application>Microsoft Office PowerPoint</Application>
  <PresentationFormat>Widescreen</PresentationFormat>
  <Paragraphs>161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 MT</vt:lpstr>
      <vt:lpstr>Cambria</vt:lpstr>
      <vt:lpstr>Microsoft Sans Serif</vt:lpstr>
      <vt:lpstr>Segoe UI Symbol</vt:lpstr>
      <vt:lpstr>Times New Roman</vt:lpstr>
      <vt:lpstr>Trebuchet MS</vt:lpstr>
      <vt:lpstr>Office Theme</vt:lpstr>
      <vt:lpstr>ENDPOINT &amp; APPLICATION DEVELOPMENT SECURITY</vt:lpstr>
      <vt:lpstr>REFERENCES AND ACKNOWLEDGEMENT</vt:lpstr>
      <vt:lpstr>LECTURE LAYOUT</vt:lpstr>
      <vt:lpstr>THREAT INTELLIGENCE SOURCES</vt:lpstr>
      <vt:lpstr>THREAT INTELLIGENCE SOURCES</vt:lpstr>
      <vt:lpstr>THREAT INTELLIGENCE SOURCES</vt:lpstr>
      <vt:lpstr>KNOWLEDGE CHECK</vt:lpstr>
      <vt:lpstr>KNOWLEDGE CHECK</vt:lpstr>
      <vt:lpstr>SECURING ENDPOINTS</vt:lpstr>
      <vt:lpstr>SECURING ENDPOINTS (CONFIRM BOOT INTEGRITY)</vt:lpstr>
      <vt:lpstr>SECURING ENDPOINTS (PROTECTING ENDPOINT)</vt:lpstr>
      <vt:lpstr>SECURING ENDPOINTS (HARDENING ENDPOINT)</vt:lpstr>
      <vt:lpstr>KNOWLEDGE CHECK</vt:lpstr>
      <vt:lpstr>CREATING AND DEPLOYING SECDEVOPS</vt:lpstr>
      <vt:lpstr>CREATING AND DEPLOYING SECDEVOPS</vt:lpstr>
      <vt:lpstr>CREATING AND DEPLOYING SECDEVOPS</vt:lpstr>
      <vt:lpstr>KNOWLEDGE CHECK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 Hassan</dc:creator>
  <cp:lastModifiedBy>Pawan Soobhri</cp:lastModifiedBy>
  <cp:revision>13</cp:revision>
  <dcterms:created xsi:type="dcterms:W3CDTF">2025-01-20T04:01:48Z</dcterms:created>
  <dcterms:modified xsi:type="dcterms:W3CDTF">2025-01-21T05:25:09Z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2025-01-20T00:00:00Z</vt:filetime>
  </property>
  <property fmtid="{D5CDD505-2E9C-101B-9397-08002B2CF9AE}" pid="5" name="Producer">
    <vt:lpwstr>Microsoft® PowerPoint® for Microsoft 365</vt:lpwstr>
  </property>
</Properties>
</file>